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06B800B-5989-ACD7-D367-F9C6773C12A9}">
          <p14:sldIdLst>
            <p14:sldId id="256"/>
            <p14:sldId id="257"/>
            <p14:sldId id="258"/>
          </p14:sldIdLst>
        </p14:section>
        <p14:section name="Plan" id="{FAD40A69-392A-F514-12CB-B83E2705E1AD}">
          <p14:sldIdLst>
            <p14:sldId id="259"/>
            <p14:sldId id="260"/>
            <p14:sldId id="261"/>
            <p14:sldId id="262"/>
            <p14:sldId id="263"/>
          </p14:sldIdLst>
        </p14:section>
        <p14:section name="Measurement" id="{DA775FB3-C729-8E00-21D7-FCA9A08E8267}">
          <p14:sldIdLst>
            <p14:sldId id="264"/>
            <p14:sldId id="265"/>
            <p14:sldId id="266"/>
            <p14:sldId id="267"/>
          </p14:sldIdLst>
        </p14:section>
        <p14:section name="Automation &amp; AI" id="{7D3AACF3-7618-658A-4BDA-AEB5E8AA50F7}">
          <p14:sldIdLst>
            <p14:sldId id="268"/>
          </p14:sldIdLst>
        </p14:section>
        <p14:section name="Results" id="{20D29959-6C14-9B10-3C51-4A393E612FF5}">
          <p14:sldIdLst>
            <p14:sldId id="269"/>
            <p14:sldId id="270"/>
            <p14:sldId id="271"/>
          </p14:sldIdLst>
        </p14:section>
        <p14:section name="Next month" id="{DDC22288-DE1E-62E7-7124-122070886090}">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52" autoAdjust="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7"/>
                </a:solidFill>
                <a:latin typeface="+mn-lt"/>
              </a:defRPr>
            </a:pPr>
            <a:r>
              <a:rPr lang="en-US" sz="1400" b="0" i="0" u="none" strike="noStrike">
                <a:solidFill>
                  <a:srgbClr val="1F2937"/>
                </a:solidFill>
                <a:latin typeface="+mn-lt"/>
              </a:rPr>
              <a:t>Budget by funnel stage (EGP / month)</a:t>
            </a:r>
          </a:p>
        </c:rich>
      </c:tx>
      <c:overlay val="0"/>
    </c:title>
    <c:autoTitleDeleted val="0"/>
    <c:plotArea>
      <c:layout/>
      <c:barChart>
        <c:barDir val="bar"/>
        <c:grouping val="clustered"/>
        <c:varyColors val="0"/>
        <c:ser>
          <c:idx val="0"/>
          <c:order val="0"/>
          <c:tx>
            <c:strRef>
              <c:f>Sheet1!$B$1</c:f>
              <c:strCache>
                <c:ptCount val="1"/>
                <c:pt idx="0">
                  <c:v>Budget (EGP)</c:v>
                </c:pt>
              </c:strCache>
            </c:strRef>
          </c:tx>
          <c:spPr>
            <a:solidFill>
              <a:srgbClr val="0058A3"/>
            </a:solidFill>
            <a:effectLst/>
          </c:spPr>
          <c:invertIfNegative val="0"/>
          <c:dLbls>
            <c:numFmt formatCode="#,##0" sourceLinked="0"/>
            <c:spPr>
              <a:noFill/>
              <a:ln>
                <a:noFill/>
              </a:ln>
              <a:effectLst/>
            </c:spPr>
            <c:txPr>
              <a:bodyPr/>
              <a:lstStyle/>
              <a:p>
                <a:pPr>
                  <a:defRPr sz="11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TOFU</c:v>
                </c:pt>
                <c:pt idx="1">
                  <c:v>MOFU</c:v>
                </c:pt>
                <c:pt idx="2">
                  <c:v>BOFU</c:v>
                </c:pt>
                <c:pt idx="3">
                  <c:v>CARE</c:v>
                </c:pt>
              </c:strCache>
            </c:strRef>
          </c:cat>
          <c:val>
            <c:numRef>
              <c:f>Sheet1!$B$2:$B$5</c:f>
              <c:numCache>
                <c:formatCode>General</c:formatCode>
                <c:ptCount val="4"/>
                <c:pt idx="0">
                  <c:v>50000</c:v>
                </c:pt>
                <c:pt idx="1">
                  <c:v>62500</c:v>
                </c:pt>
                <c:pt idx="2">
                  <c:v>125000</c:v>
                </c:pt>
                <c:pt idx="3">
                  <c:v>12500</c:v>
                </c:pt>
              </c:numCache>
            </c:numRef>
          </c:val>
          <c:extLst>
            <c:ext xmlns:c16="http://schemas.microsoft.com/office/drawing/2014/chart" uri="{C3380CC4-5D6E-409C-BE32-E72D297353CC}">
              <c16:uniqueId val="{00000000-5096-4A97-934A-B2F9B154267F}"/>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7"/>
                </a:solidFill>
                <a:latin typeface="+mn-lt"/>
              </a:defRPr>
            </a:pPr>
            <a:r>
              <a:rPr lang="en-US" sz="1400" b="0" i="0" u="none" strike="noStrike">
                <a:solidFill>
                  <a:srgbClr val="1F2937"/>
                </a:solidFill>
                <a:latin typeface="+mn-lt"/>
              </a:rPr>
              <a:t>Revenue credit by channel, 12 sample journeys (EGP)</a:t>
            </a:r>
          </a:p>
        </c:rich>
      </c:tx>
      <c:overlay val="0"/>
    </c:title>
    <c:autoTitleDeleted val="0"/>
    <c:plotArea>
      <c:layout/>
      <c:barChart>
        <c:barDir val="bar"/>
        <c:grouping val="clustered"/>
        <c:varyColors val="0"/>
        <c:ser>
          <c:idx val="0"/>
          <c:order val="0"/>
          <c:tx>
            <c:strRef>
              <c:f>Sheet1!$B$1</c:f>
              <c:strCache>
                <c:ptCount val="1"/>
                <c:pt idx="0">
                  <c:v>Last click</c:v>
                </c:pt>
              </c:strCache>
            </c:strRef>
          </c:tx>
          <c:spPr>
            <a:solidFill>
              <a:srgbClr val="6B7280"/>
            </a:solidFill>
            <a:effectLst/>
          </c:spPr>
          <c:invertIfNegative val="0"/>
          <c:cat>
            <c:strRef>
              <c:f>Sheet1!$A$2:$A$9</c:f>
              <c:strCache>
                <c:ptCount val="8"/>
                <c:pt idx="0">
                  <c:v>TikTok</c:v>
                </c:pt>
                <c:pt idx="1">
                  <c:v>YouTube</c:v>
                </c:pt>
                <c:pt idx="2">
                  <c:v>Snapchat</c:v>
                </c:pt>
                <c:pt idx="3">
                  <c:v>Meta Prospecting</c:v>
                </c:pt>
                <c:pt idx="4">
                  <c:v>Meta Retargeting</c:v>
                </c:pt>
                <c:pt idx="5">
                  <c:v>Google Search</c:v>
                </c:pt>
                <c:pt idx="6">
                  <c:v>Google PMax</c:v>
                </c:pt>
                <c:pt idx="7">
                  <c:v>Email/WhatsApp</c:v>
                </c:pt>
              </c:strCache>
            </c:strRef>
          </c:cat>
          <c:val>
            <c:numRef>
              <c:f>Sheet1!$B$2:$B$9</c:f>
              <c:numCache>
                <c:formatCode>General</c:formatCode>
                <c:ptCount val="8"/>
                <c:pt idx="0">
                  <c:v>0</c:v>
                </c:pt>
                <c:pt idx="1">
                  <c:v>0</c:v>
                </c:pt>
                <c:pt idx="2">
                  <c:v>0</c:v>
                </c:pt>
                <c:pt idx="3">
                  <c:v>0</c:v>
                </c:pt>
                <c:pt idx="4">
                  <c:v>7900</c:v>
                </c:pt>
                <c:pt idx="5">
                  <c:v>23400</c:v>
                </c:pt>
                <c:pt idx="6">
                  <c:v>8500</c:v>
                </c:pt>
                <c:pt idx="7">
                  <c:v>15300</c:v>
                </c:pt>
              </c:numCache>
            </c:numRef>
          </c:val>
          <c:extLst>
            <c:ext xmlns:c16="http://schemas.microsoft.com/office/drawing/2014/chart" uri="{C3380CC4-5D6E-409C-BE32-E72D297353CC}">
              <c16:uniqueId val="{00000000-2E2F-45AD-BC23-4372D3D7D6AB}"/>
            </c:ext>
          </c:extLst>
        </c:ser>
        <c:ser>
          <c:idx val="1"/>
          <c:order val="1"/>
          <c:tx>
            <c:strRef>
              <c:f>Sheet1!$C$1</c:f>
              <c:strCache>
                <c:ptCount val="1"/>
                <c:pt idx="0">
                  <c:v>Position-based 40/20/40</c:v>
                </c:pt>
              </c:strCache>
            </c:strRef>
          </c:tx>
          <c:spPr>
            <a:solidFill>
              <a:srgbClr val="0058A3"/>
            </a:solidFill>
            <a:effectLst/>
          </c:spPr>
          <c:invertIfNegative val="0"/>
          <c:cat>
            <c:strRef>
              <c:f>Sheet1!$A$2:$A$9</c:f>
              <c:strCache>
                <c:ptCount val="8"/>
                <c:pt idx="0">
                  <c:v>TikTok</c:v>
                </c:pt>
                <c:pt idx="1">
                  <c:v>YouTube</c:v>
                </c:pt>
                <c:pt idx="2">
                  <c:v>Snapchat</c:v>
                </c:pt>
                <c:pt idx="3">
                  <c:v>Meta Prospecting</c:v>
                </c:pt>
                <c:pt idx="4">
                  <c:v>Meta Retargeting</c:v>
                </c:pt>
                <c:pt idx="5">
                  <c:v>Google Search</c:v>
                </c:pt>
                <c:pt idx="6">
                  <c:v>Google PMax</c:v>
                </c:pt>
                <c:pt idx="7">
                  <c:v>Email/WhatsApp</c:v>
                </c:pt>
              </c:strCache>
            </c:strRef>
          </c:cat>
          <c:val>
            <c:numRef>
              <c:f>Sheet1!$C$2:$C$9</c:f>
              <c:numCache>
                <c:formatCode>General</c:formatCode>
                <c:ptCount val="8"/>
                <c:pt idx="0">
                  <c:v>10780</c:v>
                </c:pt>
                <c:pt idx="1">
                  <c:v>2050</c:v>
                </c:pt>
                <c:pt idx="2">
                  <c:v>1850</c:v>
                </c:pt>
                <c:pt idx="3">
                  <c:v>5380</c:v>
                </c:pt>
                <c:pt idx="4">
                  <c:v>5470</c:v>
                </c:pt>
                <c:pt idx="5">
                  <c:v>13220</c:v>
                </c:pt>
                <c:pt idx="6">
                  <c:v>7470</c:v>
                </c:pt>
                <c:pt idx="7">
                  <c:v>8880</c:v>
                </c:pt>
              </c:numCache>
            </c:numRef>
          </c:val>
          <c:extLst>
            <c:ext xmlns:c16="http://schemas.microsoft.com/office/drawing/2014/chart" uri="{C3380CC4-5D6E-409C-BE32-E72D297353CC}">
              <c16:uniqueId val="{00000001-2E2F-45AD-BC23-4372D3D7D6AB}"/>
            </c:ext>
          </c:extLst>
        </c:ser>
        <c:dLbls>
          <c:showLegendKey val="0"/>
          <c:showVal val="0"/>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6350" cap="flat">
              <a:solidFill>
                <a:srgbClr val="E5E7E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7"/>
                </a:solidFill>
                <a:latin typeface="+mn-lt"/>
              </a:defRPr>
            </a:pPr>
            <a:r>
              <a:rPr sz="1400" b="0" i="0" u="none" strike="noStrike">
                <a:solidFill>
                  <a:srgbClr val="1F2937"/>
                </a:solidFill>
                <a:latin typeface="+mn-lt"/>
              </a:rPr>
              <a:t>Last-click ROAS by campaign (target 3.5x, break-even 2.9x)</a:t>
            </a:r>
          </a:p>
        </c:rich>
      </c:tx>
      <c:overlay val="0"/>
    </c:title>
    <c:autoTitleDeleted val="0"/>
    <c:plotArea>
      <c:layout/>
      <c:barChart>
        <c:barDir val="bar"/>
        <c:grouping val="clustered"/>
        <c:varyColors val="0"/>
        <c:ser>
          <c:idx val="0"/>
          <c:order val="0"/>
          <c:tx>
            <c:strRef>
              <c:f>Sheet1!$B$1</c:f>
              <c:strCache>
                <c:ptCount val="1"/>
                <c:pt idx="0">
                  <c:v>ROAS</c:v>
                </c:pt>
              </c:strCache>
            </c:strRef>
          </c:tx>
          <c:spPr>
            <a:solidFill>
              <a:srgbClr val="0058A3"/>
            </a:solidFill>
            <a:effectLst/>
          </c:spPr>
          <c:invertIfNegative val="0"/>
          <c:dLbls>
            <c:numFmt formatCode="0.0&quot;x&quot;" sourceLinked="0"/>
            <c:spPr>
              <a:noFill/>
              <a:ln>
                <a:noFill/>
              </a:ln>
              <a:effectLst/>
            </c:spPr>
            <c:txPr>
              <a:bodyPr/>
              <a:lstStyle/>
              <a:p>
                <a:pPr>
                  <a:defRPr sz="11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C01 TikTok</c:v>
                </c:pt>
                <c:pt idx="1">
                  <c:v>C02 YouTube</c:v>
                </c:pt>
                <c:pt idx="2">
                  <c:v>C03 Snapchat</c:v>
                </c:pt>
                <c:pt idx="3">
                  <c:v>C04 Meta prosp.</c:v>
                </c:pt>
                <c:pt idx="4">
                  <c:v>C05 Google Search</c:v>
                </c:pt>
                <c:pt idx="5">
                  <c:v>C06 Google PMax</c:v>
                </c:pt>
                <c:pt idx="6">
                  <c:v>C07 Meta retarget</c:v>
                </c:pt>
                <c:pt idx="7">
                  <c:v>C08 Email + WhatsApp</c:v>
                </c:pt>
              </c:strCache>
            </c:strRef>
          </c:cat>
          <c:val>
            <c:numRef>
              <c:f>Sheet1!$B$2:$B$9</c:f>
              <c:numCache>
                <c:formatCode>General</c:formatCode>
                <c:ptCount val="8"/>
                <c:pt idx="0">
                  <c:v>0.36</c:v>
                </c:pt>
                <c:pt idx="1">
                  <c:v>0.88</c:v>
                </c:pt>
                <c:pt idx="2">
                  <c:v>0.73</c:v>
                </c:pt>
                <c:pt idx="3">
                  <c:v>3.14</c:v>
                </c:pt>
                <c:pt idx="4">
                  <c:v>7.26</c:v>
                </c:pt>
                <c:pt idx="5">
                  <c:v>4.05</c:v>
                </c:pt>
                <c:pt idx="6">
                  <c:v>5.29</c:v>
                </c:pt>
                <c:pt idx="7">
                  <c:v>9.17</c:v>
                </c:pt>
              </c:numCache>
            </c:numRef>
          </c:val>
          <c:extLst>
            <c:ext xmlns:c16="http://schemas.microsoft.com/office/drawing/2014/chart" uri="{C3380CC4-5D6E-409C-BE32-E72D297353CC}">
              <c16:uniqueId val="{00000000-3777-4204-9552-ACBEE7E92B0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7"/>
                </a:solidFill>
                <a:latin typeface="+mn-lt"/>
              </a:defRPr>
            </a:pPr>
            <a:r>
              <a:rPr sz="1400" b="0" i="0" u="none" strike="noStrike">
                <a:solidFill>
                  <a:srgbClr val="1F2937"/>
                </a:solidFill>
                <a:latin typeface="+mn-lt"/>
              </a:rPr>
              <a:t>Budget per campaign (EGP)</a:t>
            </a:r>
          </a:p>
        </c:rich>
      </c:tx>
      <c:overlay val="0"/>
    </c:title>
    <c:autoTitleDeleted val="0"/>
    <c:plotArea>
      <c:layout/>
      <c:barChart>
        <c:barDir val="bar"/>
        <c:grouping val="clustered"/>
        <c:varyColors val="0"/>
        <c:ser>
          <c:idx val="0"/>
          <c:order val="0"/>
          <c:tx>
            <c:strRef>
              <c:f>Sheet1!$B$1</c:f>
              <c:strCache>
                <c:ptCount val="1"/>
                <c:pt idx="0">
                  <c:v>Test month</c:v>
                </c:pt>
              </c:strCache>
            </c:strRef>
          </c:tx>
          <c:spPr>
            <a:solidFill>
              <a:srgbClr val="6B7280"/>
            </a:solidFill>
            <a:effectLst/>
          </c:spPr>
          <c:invertIfNegative val="0"/>
          <c:dLbls>
            <c:numFmt formatCode="#,##0" sourceLinked="0"/>
            <c:spPr>
              <a:noFill/>
              <a:ln>
                <a:noFill/>
              </a:ln>
              <a:effectLst/>
            </c:spPr>
            <c:txPr>
              <a:bodyPr/>
              <a:lstStyle/>
              <a:p>
                <a:pPr>
                  <a:defRPr sz="10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C01 TikTok</c:v>
                </c:pt>
                <c:pt idx="1">
                  <c:v>C02 YouTube</c:v>
                </c:pt>
                <c:pt idx="2">
                  <c:v>C03 Snapchat</c:v>
                </c:pt>
                <c:pt idx="3">
                  <c:v>C04 Meta prosp.</c:v>
                </c:pt>
                <c:pt idx="4">
                  <c:v>C05 Google Search</c:v>
                </c:pt>
                <c:pt idx="5">
                  <c:v>C06 Google PMax</c:v>
                </c:pt>
                <c:pt idx="6">
                  <c:v>C07 Meta retarget</c:v>
                </c:pt>
                <c:pt idx="7">
                  <c:v>C08 Email + WhatsApp</c:v>
                </c:pt>
              </c:strCache>
            </c:strRef>
          </c:cat>
          <c:val>
            <c:numRef>
              <c:f>Sheet1!$B$2:$B$9</c:f>
              <c:numCache>
                <c:formatCode>General</c:formatCode>
                <c:ptCount val="8"/>
                <c:pt idx="0">
                  <c:v>37500</c:v>
                </c:pt>
                <c:pt idx="1">
                  <c:v>12500</c:v>
                </c:pt>
                <c:pt idx="2">
                  <c:v>12500</c:v>
                </c:pt>
                <c:pt idx="3">
                  <c:v>50000</c:v>
                </c:pt>
                <c:pt idx="4">
                  <c:v>55000</c:v>
                </c:pt>
                <c:pt idx="5">
                  <c:v>32500</c:v>
                </c:pt>
                <c:pt idx="6">
                  <c:v>37500</c:v>
                </c:pt>
                <c:pt idx="7">
                  <c:v>12500</c:v>
                </c:pt>
              </c:numCache>
            </c:numRef>
          </c:val>
          <c:extLst>
            <c:ext xmlns:c16="http://schemas.microsoft.com/office/drawing/2014/chart" uri="{C3380CC4-5D6E-409C-BE32-E72D297353CC}">
              <c16:uniqueId val="{00000000-8068-4A1D-B600-D46588C32FA3}"/>
            </c:ext>
          </c:extLst>
        </c:ser>
        <c:ser>
          <c:idx val="1"/>
          <c:order val="1"/>
          <c:tx>
            <c:strRef>
              <c:f>Sheet1!$C$1</c:f>
              <c:strCache>
                <c:ptCount val="1"/>
                <c:pt idx="0">
                  <c:v>Next month</c:v>
                </c:pt>
              </c:strCache>
            </c:strRef>
          </c:tx>
          <c:spPr>
            <a:solidFill>
              <a:srgbClr val="0058A3"/>
            </a:solidFill>
            <a:effectLst/>
          </c:spPr>
          <c:invertIfNegative val="0"/>
          <c:dLbls>
            <c:numFmt formatCode="#,##0" sourceLinked="0"/>
            <c:spPr>
              <a:noFill/>
              <a:ln>
                <a:noFill/>
              </a:ln>
              <a:effectLst/>
            </c:spPr>
            <c:txPr>
              <a:bodyPr/>
              <a:lstStyle/>
              <a:p>
                <a:pPr>
                  <a:defRPr sz="10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C01 TikTok</c:v>
                </c:pt>
                <c:pt idx="1">
                  <c:v>C02 YouTube</c:v>
                </c:pt>
                <c:pt idx="2">
                  <c:v>C03 Snapchat</c:v>
                </c:pt>
                <c:pt idx="3">
                  <c:v>C04 Meta prosp.</c:v>
                </c:pt>
                <c:pt idx="4">
                  <c:v>C05 Google Search</c:v>
                </c:pt>
                <c:pt idx="5">
                  <c:v>C06 Google PMax</c:v>
                </c:pt>
                <c:pt idx="6">
                  <c:v>C07 Meta retarget</c:v>
                </c:pt>
                <c:pt idx="7">
                  <c:v>C08 Email + WhatsApp</c:v>
                </c:pt>
              </c:strCache>
            </c:strRef>
          </c:cat>
          <c:val>
            <c:numRef>
              <c:f>Sheet1!$C$2:$C$9</c:f>
              <c:numCache>
                <c:formatCode>General</c:formatCode>
                <c:ptCount val="8"/>
                <c:pt idx="0">
                  <c:v>37500</c:v>
                </c:pt>
                <c:pt idx="1">
                  <c:v>0</c:v>
                </c:pt>
                <c:pt idx="2">
                  <c:v>0</c:v>
                </c:pt>
                <c:pt idx="3">
                  <c:v>42500</c:v>
                </c:pt>
                <c:pt idx="4">
                  <c:v>70000</c:v>
                </c:pt>
                <c:pt idx="5">
                  <c:v>37500</c:v>
                </c:pt>
                <c:pt idx="6">
                  <c:v>37500</c:v>
                </c:pt>
                <c:pt idx="7">
                  <c:v>25000</c:v>
                </c:pt>
              </c:numCache>
            </c:numRef>
          </c:val>
          <c:extLst>
            <c:ext xmlns:c16="http://schemas.microsoft.com/office/drawing/2014/chart" uri="{C3380CC4-5D6E-409C-BE32-E72D297353CC}">
              <c16:uniqueId val="{00000001-8068-4A1D-B600-D46588C32FA3}"/>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389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5 from the DEPI list: a multi-source paid media plan with UTM, attribution and optimization on sample data. It continues the IKEA Egypt thread from Sessions 1 to 18 and the New Home Starter Bundle offer from Sessions 13, 14, 16 and 18. All performance data is simulated and labelled as such.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sum up the project: scale the closers, protect the opener, cut the channels that neither open nor close. The projected ROAS assumes an 85% efficiency haircut on added budget.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 and the gehaz exclusion come from Sessions 1 to 4. Delivery reliability is IKEA's ownable claim, so it carries the BOFU message. The north star follows Session 21: ROAS without margin is theatre, so we report profit after ads.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16 and 19 rule: match the platform's strength to the stage. Half the budget sits in BOFU because that is where intent is; TOFU exists to fill the warm pools that BOFU retargets. The percentages are the share of the 250K monthly budget.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20 logic: each temperature has its own window, exclusions and frequency cap, so the same person is never hit with a cold message after they added to cart. Hot pools are capped by how many people the cold and warm lines warm up, which is why TikTok is protected.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logic per row: budget / CPM gives impressions, x CTR gives clicks, x CVR gives purchases, x AOV 4,500 EGP gives revenue. All inputs are editable in the workbook, so the forecast updates when real account history replaces the benchmarks.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lenses on the same 250K. By stage, half goes to BOFU. By certainty, 70% goes to proven channels, 20% to growth bets and 10% to tests. YouTube and Snapchat are the tests, which is why the month-end cut is expected, not a surprise.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Creative testing follows one rule: change one variable, hold audience and budget fixed, and decide only after the minimum sample. Each media line also carries a learning objective in the workbook, so the budget split is tied to what we need to learn, not only to what we expect to sell.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convention follows Session 16: goal first, audience second, date last, plus the offer code. cpc with a social source lands in GA4 Paid Social; cpc with google lands in Paid Search. WhatsApp needs a custom channel group so it does not fall into Unassigned. Google Ads keeps auto-tagging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link with any UTM link from the workbook and the debug card shows exactly what GA4 would receive. The form is demo-only: nothing is sent or stored, and the page states it is a concept, not affiliated with IKEA.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Purchase is the source of truth for ROAS. The retargeting pools used by C07 and the WhatsApp flows are built directly from view_item, add_to_cart and begin_checkout, so this map is what makes the BOFU and CARE stages possible.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models were run on the same 12 journeys in the workbook: last click, first click, linear, time decay and position-based. Position-based is used for decisions because it credits both the opener and the closer, and the volume is too low for data-driven.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part of the rubric, built with Lovable Cloud and Lovable AI instead of Make or n8n, so there is nothing extra to run. Demo it live: open a UTM link, submit a test lead, then open /leads with the code depi2026 and show the lead with its source, score and AI draft.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simulated month generated from the plan's benchmarks with realistic noise and built-in patterns: a fatiguing Meta prospecting ad set, a budget-capped Search campaign, and two weak test channels. Every number is a SUMIFS in the workbook, so the dashboard updates if real exports are pasted 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column is a formula, not an opinion: thresholds sit on the Inputs sheet. Meta retargeting shows SCALE but is pool-limited, so it is held at 15% with a frequency cap. Meta prospecting is above break-even but fatigued, so it gets new creative and a small trim.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test table with expected vs actual for every scenario is in section 6.1 of the documentation. TC-W2: Campaign formula did not replace spaces, and the check on spare builder rows only looked for missing tags Fix: Campaign formula now TRIMs and SUBSTITUTEs spaces with '_'; spare rows use the same case/space check as the main rows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 = each campaign's test-month ROAS times its new budget, with an 85% efficiency haircut on any added budget. It ignores the assist value lost from YouTube and Snapchat, so treat it as directional and confirm with a two-week holdout.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test has one hypothesis, one success metric and a minimum duration, so a winner is called on data and not on a feeling. The TikTok geo holdout is the real proof of its assist value.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pair: this deck and the workbook IKEA_Egypt_Paid_Media_UTM_Plan.xlsx with 11 sheets: Cover, Inputs, Funnel and Audiences, Media Plan, Budget Split, UTM Builder, Tracking Plan, Attribution, Sample Data, Dashboard, Optimization.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11914632" cy="6583680"/>
          </a:xfrm>
          <a:prstGeom prst="rect">
            <a:avLst/>
          </a:prstGeom>
          <a:ln w="12700">
            <a:solidFill>
              <a:srgbClr val="D9DEE3"/>
            </a:solidFill>
            <a:prstDash val="solid"/>
          </a:ln>
        </p:spPr>
      </p:sp>
      <p:sp>
        <p:nvSpPr>
          <p:cNvPr id="3" name="Shape 1"/>
          <p:cNvSpPr/>
          <p:nvPr/>
        </p:nvSpPr>
        <p:spPr>
          <a:xfrm>
            <a:off x="365760" y="137160"/>
            <a:ext cx="11457432" cy="32004"/>
          </a:xfrm>
          <a:prstGeom prst="rect">
            <a:avLst/>
          </a:prstGeom>
          <a:solidFill>
            <a:srgbClr val="1F9D65"/>
          </a:solidFill>
          <a:ln/>
        </p:spPr>
      </p:sp>
      <p:pic>
        <p:nvPicPr>
          <p:cNvPr id="4" name="Image 0" descr="/tmp/claude-0/-home-claude/395faa2f-3e10-5a8f-be94-de768d6c48f0/scratchpad/logo_right.jpg"/>
          <p:cNvPicPr>
            <a:picLocks noChangeAspect="1"/>
          </p:cNvPicPr>
          <p:nvPr/>
        </p:nvPicPr>
        <p:blipFill>
          <a:blip r:embed="rId2"/>
          <a:stretch>
            <a:fillRect/>
          </a:stretch>
        </p:blipFill>
        <p:spPr>
          <a:xfrm>
            <a:off x="10431475" y="91440"/>
            <a:ext cx="1757477" cy="948233"/>
          </a:xfrm>
          <a:prstGeom prst="rect">
            <a:avLst/>
          </a:prstGeom>
        </p:spPr>
      </p:pic>
      <p:pic>
        <p:nvPicPr>
          <p:cNvPr id="5" name="Image 1" descr="/tmp/claude-0/-home-claude/395faa2f-3e10-5a8f-be94-de768d6c48f0/scratchpad/logo_left.jpg"/>
          <p:cNvPicPr>
            <a:picLocks noChangeAspect="1"/>
          </p:cNvPicPr>
          <p:nvPr/>
        </p:nvPicPr>
        <p:blipFill>
          <a:blip r:embed="rId3"/>
          <a:stretch>
            <a:fillRect/>
          </a:stretch>
        </p:blipFill>
        <p:spPr>
          <a:xfrm>
            <a:off x="0" y="153162"/>
            <a:ext cx="1127730" cy="912937"/>
          </a:xfrm>
          <a:prstGeom prst="rect">
            <a:avLst/>
          </a:prstGeom>
        </p:spPr>
      </p:pic>
      <p:sp>
        <p:nvSpPr>
          <p:cNvPr id="6" name="Text 2"/>
          <p:cNvSpPr/>
          <p:nvPr/>
        </p:nvSpPr>
        <p:spPr>
          <a:xfrm>
            <a:off x="457200" y="6464808"/>
            <a:ext cx="7315200" cy="256032"/>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DEPI 2026 · Graduation Project #5 · IKEA Egypt Paid Media &amp; UTM System</a:t>
            </a:r>
            <a:endParaRPr lang="en-US" sz="9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11914632" cy="6583680"/>
          </a:xfrm>
          <a:prstGeom prst="rect">
            <a:avLst/>
          </a:prstGeom>
          <a:ln w="12700">
            <a:solidFill>
              <a:srgbClr val="D9DEE3"/>
            </a:solidFill>
            <a:prstDash val="solid"/>
          </a:ln>
        </p:spPr>
      </p:sp>
      <p:sp>
        <p:nvSpPr>
          <p:cNvPr id="3" name="Shape 1"/>
          <p:cNvSpPr/>
          <p:nvPr/>
        </p:nvSpPr>
        <p:spPr>
          <a:xfrm>
            <a:off x="365760" y="137160"/>
            <a:ext cx="11457432" cy="32004"/>
          </a:xfrm>
          <a:prstGeom prst="rect">
            <a:avLst/>
          </a:prstGeom>
          <a:solidFill>
            <a:srgbClr val="1F9D65"/>
          </a:solidFill>
          <a:ln/>
        </p:spPr>
      </p:sp>
      <p:pic>
        <p:nvPicPr>
          <p:cNvPr id="4" name="Image 0" descr="/tmp/claude-0/-home-claude/395faa2f-3e10-5a8f-be94-de768d6c48f0/scratchpad/logo_right.jpg"/>
          <p:cNvPicPr>
            <a:picLocks noChangeAspect="1"/>
          </p:cNvPicPr>
          <p:nvPr/>
        </p:nvPicPr>
        <p:blipFill>
          <a:blip r:embed="rId2"/>
          <a:stretch>
            <a:fillRect/>
          </a:stretch>
        </p:blipFill>
        <p:spPr>
          <a:xfrm>
            <a:off x="10431475" y="91440"/>
            <a:ext cx="1757477" cy="948233"/>
          </a:xfrm>
          <a:prstGeom prst="rect">
            <a:avLst/>
          </a:prstGeom>
        </p:spPr>
      </p:pic>
      <p:pic>
        <p:nvPicPr>
          <p:cNvPr id="5" name="Image 1" descr="/tmp/claude-0/-home-claude/395faa2f-3e10-5a8f-be94-de768d6c48f0/scratchpad/logo_left.jpg"/>
          <p:cNvPicPr>
            <a:picLocks noChangeAspect="1"/>
          </p:cNvPicPr>
          <p:nvPr/>
        </p:nvPicPr>
        <p:blipFill>
          <a:blip r:embed="rId3"/>
          <a:stretch>
            <a:fillRect/>
          </a:stretch>
        </p:blipFill>
        <p:spPr>
          <a:xfrm>
            <a:off x="0" y="153162"/>
            <a:ext cx="1127730" cy="912937"/>
          </a:xfrm>
          <a:prstGeom prst="rect">
            <a:avLst/>
          </a:prstGeom>
        </p:spPr>
      </p:pic>
      <p:sp>
        <p:nvSpPr>
          <p:cNvPr id="6" name="Text 2"/>
          <p:cNvSpPr/>
          <p:nvPr/>
        </p:nvSpPr>
        <p:spPr>
          <a:xfrm>
            <a:off x="457200" y="6464808"/>
            <a:ext cx="7315200" cy="256032"/>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DEPI 2026 · Graduation Project #5 · IKEA Egypt Paid Media &amp; UTM System</a:t>
            </a:r>
            <a:endParaRPr lang="en-US" sz="900" dirty="0"/>
          </a:p>
        </p:txBody>
      </p:sp>
      <p:sp>
        <p:nvSpPr>
          <p:cNvPr id="7" name="Text 3"/>
          <p:cNvSpPr>
            <a:spLocks noGrp="1"/>
          </p:cNvSpPr>
          <p:nvPr>
            <p:ph type="body" idx="105" hasCustomPrompt="1"/>
          </p:nvPr>
        </p:nvSpPr>
        <p:spPr>
          <a:xfrm>
            <a:off x="1325880" y="274320"/>
            <a:ext cx="8961120" cy="292608"/>
          </a:xfrm>
          <a:prstGeom prst="rect">
            <a:avLst/>
          </a:prstGeom>
          <a:noFill/>
          <a:ln/>
        </p:spPr>
        <p:txBody>
          <a:bodyPr wrap="square" rtlCol="0"/>
          <a:lstStyle>
            <a:lvl1pPr marL="0" indent="0">
              <a:buNone/>
              <a:defRPr lang="en-US" sz="1100" b="1" kern="0" spc="100" dirty="0">
                <a:solidFill>
                  <a:schemeClr val="accent1"/>
                </a:solidFill>
              </a:defRPr>
            </a:lvl1pPr>
          </a:lstStyle>
          <a:p>
            <a:pPr marL="0" indent="0">
              <a:buNone/>
            </a:pPr>
            <a:endParaRPr lang="en-US" sz="1100" dirty="0"/>
          </a:p>
        </p:txBody>
      </p:sp>
      <p:sp>
        <p:nvSpPr>
          <p:cNvPr id="8" name="Text 3"/>
          <p:cNvSpPr>
            <a:spLocks noGrp="1"/>
          </p:cNvSpPr>
          <p:nvPr>
            <p:ph type="title" idx="106" hasCustomPrompt="1"/>
          </p:nvPr>
        </p:nvSpPr>
        <p:spPr>
          <a:xfrm>
            <a:off x="1325880" y="566928"/>
            <a:ext cx="8961120" cy="56692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new-home-starter-bundle.lovable.app/?utm_source=google&amp;utm_medium=cpc&amp;utm_campaign=purchase_intent_nhsb_202611&amp;utm_content=rsa_bundle_price_v1&amp;utm_term=furniture_new_cairo"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6400800" cy="365760"/>
          </a:xfrm>
          <a:prstGeom prst="rect">
            <a:avLst/>
          </a:prstGeom>
          <a:noFill/>
          <a:ln/>
        </p:spPr>
        <p:txBody>
          <a:bodyPr wrap="square" lIns="0" tIns="0" rIns="0" bIns="0" rtlCol="0" anchor="ctr"/>
          <a:lstStyle/>
          <a:p>
            <a:pPr marL="0" indent="0">
              <a:buNone/>
            </a:pPr>
            <a:r>
              <a:rPr lang="en-US" sz="1400" b="1" kern="0" spc="200" dirty="0">
                <a:solidFill>
                  <a:schemeClr val="accent1"/>
                </a:solidFill>
              </a:rPr>
              <a:t>DEPI 2026 · GRADUATION PROJECT #5</a:t>
            </a:r>
            <a:endParaRPr lang="en-US" sz="1400" dirty="0"/>
          </a:p>
        </p:txBody>
      </p:sp>
      <p:sp>
        <p:nvSpPr>
          <p:cNvPr id="3" name="Text 1"/>
          <p:cNvSpPr txBox="1"/>
          <p:nvPr/>
        </p:nvSpPr>
        <p:spPr>
          <a:xfrm>
            <a:off x="731520" y="1965960"/>
            <a:ext cx="6400800" cy="1737360"/>
          </a:xfrm>
          <a:prstGeom prst="rect">
            <a:avLst/>
          </a:prstGeom>
          <a:noFill/>
          <a:ln/>
        </p:spPr>
        <p:txBody>
          <a:bodyPr wrap="square" lIns="0" tIns="0" rIns="0" bIns="0" rtlCol="0" anchor="t"/>
          <a:lstStyle/>
          <a:p>
            <a:pPr marL="0" indent="0">
              <a:buNone/>
            </a:pPr>
            <a:r>
              <a:rPr lang="en-US" sz="4000" b="1" dirty="0">
                <a:solidFill>
                  <a:schemeClr val="tx1"/>
                </a:solidFill>
              </a:rPr>
              <a:t>Multi-Source Paid Media &amp; UTM Planning System</a:t>
            </a:r>
            <a:endParaRPr lang="en-US" sz="4000" dirty="0"/>
          </a:p>
        </p:txBody>
      </p:sp>
      <p:sp>
        <p:nvSpPr>
          <p:cNvPr id="4" name="Text 2"/>
          <p:cNvSpPr txBox="1"/>
          <p:nvPr/>
        </p:nvSpPr>
        <p:spPr>
          <a:xfrm>
            <a:off x="731520" y="3794760"/>
            <a:ext cx="6400800" cy="822960"/>
          </a:xfrm>
          <a:prstGeom prst="rect">
            <a:avLst/>
          </a:prstGeom>
          <a:noFill/>
          <a:ln/>
        </p:spPr>
        <p:txBody>
          <a:bodyPr wrap="square" lIns="0" tIns="0" rIns="0" bIns="0" rtlCol="0" anchor="t"/>
          <a:lstStyle/>
          <a:p>
            <a:pPr marL="0" indent="0">
              <a:buNone/>
            </a:pPr>
            <a:r>
              <a:rPr lang="en-US" sz="1600" dirty="0">
                <a:solidFill>
                  <a:schemeClr val="accent5"/>
                </a:solidFill>
              </a:rPr>
              <a:t>IKEA Egypt · New Home Starter Bundle</a:t>
            </a:r>
            <a:endParaRPr lang="en-US" sz="1600" dirty="0"/>
          </a:p>
          <a:p>
            <a:pPr marL="0" indent="0">
              <a:buNone/>
            </a:pPr>
            <a:r>
              <a:rPr lang="en-US" sz="1600" dirty="0">
                <a:solidFill>
                  <a:schemeClr val="accent5"/>
                </a:solidFill>
              </a:rPr>
              <a:t>30-day plan, simulated test month, and data-driven budget reallocation</a:t>
            </a:r>
            <a:endParaRPr lang="en-US" sz="1600" dirty="0"/>
          </a:p>
        </p:txBody>
      </p:sp>
      <p:sp>
        <p:nvSpPr>
          <p:cNvPr id="5" name="Text 3"/>
          <p:cNvSpPr txBox="1"/>
          <p:nvPr/>
        </p:nvSpPr>
        <p:spPr>
          <a:xfrm>
            <a:off x="731520" y="5074920"/>
            <a:ext cx="5486400" cy="685800"/>
          </a:xfrm>
          <a:prstGeom prst="rect">
            <a:avLst/>
          </a:prstGeom>
          <a:noFill/>
          <a:ln/>
        </p:spPr>
        <p:txBody>
          <a:bodyPr wrap="square" lIns="0" tIns="0" rIns="0" bIns="0" rtlCol="0" anchor="ctr"/>
          <a:lstStyle/>
          <a:p>
            <a:pPr marL="0" marR="0">
              <a:spcBef>
                <a:spcPts val="0"/>
              </a:spcBef>
              <a:spcAft>
                <a:spcPts val="0"/>
              </a:spcAft>
            </a:pPr>
            <a:r>
              <a:rPr lang="en-US" sz="1600" b="1" dirty="0">
                <a:solidFill>
                  <a:schemeClr val="tx1"/>
                </a:solidFill>
              </a:rPr>
              <a:t>TEAM 1 “</a:t>
            </a:r>
            <a:r>
              <a:rPr lang="en-US" sz="1800" dirty="0">
                <a:solidFill>
                  <a:srgbClr val="1F2937"/>
                </a:solidFill>
                <a:effectLst/>
                <a:latin typeface="Calibri" panose="020F0502020204030204" pitchFamily="34" charset="0"/>
                <a:ea typeface="Calibri" panose="020F0502020204030204" pitchFamily="34" charset="0"/>
              </a:rPr>
              <a:t>Ahmed </a:t>
            </a:r>
            <a:r>
              <a:rPr lang="en-US" sz="1800" dirty="0" err="1">
                <a:solidFill>
                  <a:srgbClr val="1F2937"/>
                </a:solidFill>
                <a:effectLst/>
                <a:latin typeface="Calibri" panose="020F0502020204030204" pitchFamily="34" charset="0"/>
                <a:ea typeface="Calibri" panose="020F0502020204030204" pitchFamily="34" charset="0"/>
              </a:rPr>
              <a:t>ElMaghraby</a:t>
            </a:r>
            <a:r>
              <a:rPr lang="en-US" sz="1800" dirty="0">
                <a:solidFill>
                  <a:srgbClr val="1F2937"/>
                </a:solidFill>
                <a:effectLst/>
                <a:latin typeface="Calibri" panose="020F0502020204030204" pitchFamily="34" charset="0"/>
                <a:ea typeface="Calibri" panose="020F0502020204030204" pitchFamily="34" charset="0"/>
              </a:rPr>
              <a:t>, </a:t>
            </a:r>
          </a:p>
          <a:p>
            <a:pPr marL="0" marR="0">
              <a:spcBef>
                <a:spcPts val="0"/>
              </a:spcBef>
              <a:spcAft>
                <a:spcPts val="0"/>
              </a:spcAft>
            </a:pPr>
            <a:r>
              <a:rPr lang="en-US" sz="1800" dirty="0">
                <a:solidFill>
                  <a:srgbClr val="1F2937"/>
                </a:solidFill>
                <a:effectLst/>
                <a:latin typeface="Calibri" panose="020F0502020204030204" pitchFamily="34" charset="0"/>
                <a:ea typeface="Calibri" panose="020F0502020204030204" pitchFamily="34" charset="0"/>
              </a:rPr>
              <a:t>Ahmed </a:t>
            </a:r>
            <a:r>
              <a:rPr lang="en-US" sz="1800" dirty="0" err="1">
                <a:solidFill>
                  <a:srgbClr val="1F2937"/>
                </a:solidFill>
                <a:effectLst/>
                <a:latin typeface="Calibri" panose="020F0502020204030204" pitchFamily="34" charset="0"/>
                <a:ea typeface="Calibri" panose="020F0502020204030204" pitchFamily="34" charset="0"/>
              </a:rPr>
              <a:t>EmadEldin</a:t>
            </a:r>
            <a:r>
              <a:rPr lang="en-US" sz="1800" dirty="0">
                <a:solidFill>
                  <a:srgbClr val="1F2937"/>
                </a:solidFill>
                <a:effectLst/>
                <a:latin typeface="Calibri" panose="020F0502020204030204" pitchFamily="34" charset="0"/>
                <a:ea typeface="Calibri" panose="020F0502020204030204" pitchFamily="34" charset="0"/>
              </a:rPr>
              <a:t>, </a:t>
            </a:r>
          </a:p>
          <a:p>
            <a:pPr marL="0" marR="0">
              <a:spcBef>
                <a:spcPts val="0"/>
              </a:spcBef>
              <a:spcAft>
                <a:spcPts val="0"/>
              </a:spcAft>
            </a:pPr>
            <a:r>
              <a:rPr lang="en-US" sz="1800" dirty="0" err="1">
                <a:solidFill>
                  <a:srgbClr val="1F2937"/>
                </a:solidFill>
                <a:effectLst/>
                <a:latin typeface="Calibri" panose="020F0502020204030204" pitchFamily="34" charset="0"/>
                <a:ea typeface="Calibri" panose="020F0502020204030204" pitchFamily="34" charset="0"/>
              </a:rPr>
              <a:t>Esraa</a:t>
            </a:r>
            <a:r>
              <a:rPr lang="en-US" sz="1800" dirty="0">
                <a:solidFill>
                  <a:srgbClr val="1F2937"/>
                </a:solidFill>
                <a:effectLst/>
                <a:latin typeface="Calibri" panose="020F0502020204030204" pitchFamily="34" charset="0"/>
                <a:ea typeface="Calibri" panose="020F0502020204030204" pitchFamily="34" charset="0"/>
              </a:rPr>
              <a:t> </a:t>
            </a:r>
            <a:r>
              <a:rPr lang="en-US" sz="1800" dirty="0" err="1">
                <a:solidFill>
                  <a:srgbClr val="1F2937"/>
                </a:solidFill>
                <a:effectLst/>
                <a:latin typeface="Calibri" panose="020F0502020204030204" pitchFamily="34" charset="0"/>
                <a:ea typeface="Calibri" panose="020F0502020204030204" pitchFamily="34" charset="0"/>
              </a:rPr>
              <a:t>Elshahat</a:t>
            </a:r>
            <a:r>
              <a:rPr lang="en-US" sz="1800" dirty="0">
                <a:solidFill>
                  <a:srgbClr val="1F2937"/>
                </a:solidFill>
                <a:effectLst/>
                <a:latin typeface="Calibri" panose="020F0502020204030204" pitchFamily="34" charset="0"/>
                <a:ea typeface="Calibri" panose="020F0502020204030204" pitchFamily="34" charset="0"/>
              </a:rPr>
              <a:t>, </a:t>
            </a:r>
          </a:p>
          <a:p>
            <a:pPr marL="0" marR="0">
              <a:spcBef>
                <a:spcPts val="0"/>
              </a:spcBef>
              <a:spcAft>
                <a:spcPts val="0"/>
              </a:spcAft>
            </a:pPr>
            <a:r>
              <a:rPr lang="en-US" sz="1800" dirty="0">
                <a:solidFill>
                  <a:srgbClr val="1F2937"/>
                </a:solidFill>
                <a:effectLst/>
                <a:latin typeface="Calibri" panose="020F0502020204030204" pitchFamily="34" charset="0"/>
                <a:ea typeface="Calibri" panose="020F0502020204030204" pitchFamily="34" charset="0"/>
              </a:rPr>
              <a:t>Christena  Nabil, </a:t>
            </a:r>
          </a:p>
          <a:p>
            <a:r>
              <a:rPr lang="en-US" sz="1800" dirty="0">
                <a:effectLst/>
                <a:latin typeface="Calibri" panose="020F0502020204030204" pitchFamily="34" charset="0"/>
                <a:ea typeface="Calibri" panose="020F0502020204030204" pitchFamily="34" charset="0"/>
              </a:rPr>
              <a:t>Samar Ibrahim”</a:t>
            </a:r>
            <a:endParaRPr lang="en-US" sz="1600" dirty="0"/>
          </a:p>
        </p:txBody>
      </p:sp>
      <p:sp>
        <p:nvSpPr>
          <p:cNvPr id="6" name="cover-panel"/>
          <p:cNvSpPr/>
          <p:nvPr/>
        </p:nvSpPr>
        <p:spPr>
          <a:xfrm>
            <a:off x="7680960" y="1417320"/>
            <a:ext cx="3840480" cy="4572000"/>
          </a:xfrm>
          <a:prstGeom prst="roundRect">
            <a:avLst>
              <a:gd name="adj" fmla="val 2857"/>
            </a:avLst>
          </a:prstGeom>
          <a:solidFill>
            <a:schemeClr val="accent1"/>
          </a:solidFill>
          <a:ln/>
        </p:spPr>
      </p:sp>
      <p:sp>
        <p:nvSpPr>
          <p:cNvPr id="7" name="cover-stat-1"/>
          <p:cNvSpPr txBox="1"/>
          <p:nvPr/>
        </p:nvSpPr>
        <p:spPr>
          <a:xfrm>
            <a:off x="8001000" y="1691640"/>
            <a:ext cx="3291840" cy="685800"/>
          </a:xfrm>
          <a:prstGeom prst="rect">
            <a:avLst/>
          </a:prstGeom>
          <a:noFill/>
          <a:ln/>
        </p:spPr>
        <p:txBody>
          <a:bodyPr wrap="square" lIns="0" tIns="0" rIns="0" bIns="0" rtlCol="0" anchor="ctr"/>
          <a:lstStyle/>
          <a:p>
            <a:pPr marL="0" indent="0">
              <a:buNone/>
            </a:pPr>
            <a:r>
              <a:rPr lang="en-US" sz="3600" b="1" dirty="0">
                <a:solidFill>
                  <a:schemeClr val="accent2"/>
                </a:solidFill>
              </a:rPr>
              <a:t>8</a:t>
            </a:r>
            <a:endParaRPr lang="en-US" sz="3600" dirty="0"/>
          </a:p>
        </p:txBody>
      </p:sp>
      <p:sp>
        <p:nvSpPr>
          <p:cNvPr id="8" name="cover-lbl-2"/>
          <p:cNvSpPr txBox="1"/>
          <p:nvPr/>
        </p:nvSpPr>
        <p:spPr>
          <a:xfrm>
            <a:off x="8001000" y="2377440"/>
            <a:ext cx="3291840" cy="411480"/>
          </a:xfrm>
          <a:prstGeom prst="rect">
            <a:avLst/>
          </a:prstGeom>
          <a:noFill/>
          <a:ln/>
        </p:spPr>
        <p:txBody>
          <a:bodyPr wrap="square" lIns="0" tIns="0" rIns="0" bIns="0" rtlCol="0" anchor="ctr"/>
          <a:lstStyle/>
          <a:p>
            <a:pPr marL="0" indent="0">
              <a:buNone/>
            </a:pPr>
            <a:r>
              <a:rPr lang="en-US" sz="1400" dirty="0">
                <a:solidFill>
                  <a:schemeClr val="bg1"/>
                </a:solidFill>
              </a:rPr>
              <a:t>campaigns on 7 platforms + CRM</a:t>
            </a:r>
            <a:endParaRPr lang="en-US" sz="1400" dirty="0"/>
          </a:p>
        </p:txBody>
      </p:sp>
      <p:sp>
        <p:nvSpPr>
          <p:cNvPr id="9" name="cover-stat-3"/>
          <p:cNvSpPr txBox="1"/>
          <p:nvPr/>
        </p:nvSpPr>
        <p:spPr>
          <a:xfrm>
            <a:off x="8001000" y="3108960"/>
            <a:ext cx="3291840" cy="685800"/>
          </a:xfrm>
          <a:prstGeom prst="rect">
            <a:avLst/>
          </a:prstGeom>
          <a:noFill/>
          <a:ln/>
        </p:spPr>
        <p:txBody>
          <a:bodyPr wrap="square" lIns="0" tIns="0" rIns="0" bIns="0" rtlCol="0" anchor="ctr"/>
          <a:lstStyle/>
          <a:p>
            <a:pPr marL="0" indent="0">
              <a:buNone/>
            </a:pPr>
            <a:r>
              <a:rPr lang="en-US" sz="3600" b="1" dirty="0">
                <a:solidFill>
                  <a:schemeClr val="accent2"/>
                </a:solidFill>
              </a:rPr>
              <a:t>250K</a:t>
            </a:r>
            <a:endParaRPr lang="en-US" sz="3600" dirty="0"/>
          </a:p>
        </p:txBody>
      </p:sp>
      <p:sp>
        <p:nvSpPr>
          <p:cNvPr id="10" name="cover-lbl-4"/>
          <p:cNvSpPr txBox="1"/>
          <p:nvPr/>
        </p:nvSpPr>
        <p:spPr>
          <a:xfrm>
            <a:off x="8001000" y="3794760"/>
            <a:ext cx="3291840" cy="411480"/>
          </a:xfrm>
          <a:prstGeom prst="rect">
            <a:avLst/>
          </a:prstGeom>
          <a:noFill/>
          <a:ln/>
        </p:spPr>
        <p:txBody>
          <a:bodyPr wrap="square" lIns="0" tIns="0" rIns="0" bIns="0" rtlCol="0" anchor="ctr"/>
          <a:lstStyle/>
          <a:p>
            <a:pPr marL="0" indent="0">
              <a:buNone/>
            </a:pPr>
            <a:r>
              <a:rPr lang="en-US" sz="1400" dirty="0">
                <a:solidFill>
                  <a:schemeClr val="bg1"/>
                </a:solidFill>
              </a:rPr>
              <a:t>EGP monthly budget</a:t>
            </a:r>
            <a:endParaRPr lang="en-US" sz="1400" dirty="0"/>
          </a:p>
        </p:txBody>
      </p:sp>
      <p:sp>
        <p:nvSpPr>
          <p:cNvPr id="11" name="cover-stat-5"/>
          <p:cNvSpPr txBox="1"/>
          <p:nvPr/>
        </p:nvSpPr>
        <p:spPr>
          <a:xfrm>
            <a:off x="8001000" y="4526280"/>
            <a:ext cx="3291840" cy="685800"/>
          </a:xfrm>
          <a:prstGeom prst="rect">
            <a:avLst/>
          </a:prstGeom>
          <a:noFill/>
          <a:ln/>
        </p:spPr>
        <p:txBody>
          <a:bodyPr wrap="square" lIns="0" tIns="0" rIns="0" bIns="0" rtlCol="0" anchor="ctr"/>
          <a:lstStyle/>
          <a:p>
            <a:pPr marL="0" indent="0">
              <a:buNone/>
            </a:pPr>
            <a:r>
              <a:rPr lang="en-US" sz="3600" b="1" dirty="0">
                <a:solidFill>
                  <a:schemeClr val="accent2"/>
                </a:solidFill>
              </a:rPr>
              <a:t>4.1x → 4.8x</a:t>
            </a:r>
            <a:endParaRPr lang="en-US" sz="3600" dirty="0"/>
          </a:p>
        </p:txBody>
      </p:sp>
      <p:sp>
        <p:nvSpPr>
          <p:cNvPr id="12" name="cover-lbl-6"/>
          <p:cNvSpPr txBox="1"/>
          <p:nvPr/>
        </p:nvSpPr>
        <p:spPr>
          <a:xfrm>
            <a:off x="8001000" y="5212080"/>
            <a:ext cx="3291840" cy="411480"/>
          </a:xfrm>
          <a:prstGeom prst="rect">
            <a:avLst/>
          </a:prstGeom>
          <a:noFill/>
          <a:ln/>
        </p:spPr>
        <p:txBody>
          <a:bodyPr wrap="square" lIns="0" tIns="0" rIns="0" bIns="0" rtlCol="0" anchor="ctr"/>
          <a:lstStyle/>
          <a:p>
            <a:pPr marL="0" indent="0">
              <a:buNone/>
            </a:pPr>
            <a:r>
              <a:rPr lang="en-US" sz="1400" dirty="0">
                <a:solidFill>
                  <a:schemeClr val="bg1"/>
                </a:solidFill>
              </a:rPr>
              <a:t>ROAS: test month to next month</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EXECUTIVE SUMMARY</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One budget, seven platforms, every shift backed by data</a:t>
            </a:r>
            <a:endParaRPr lang="en-US" sz="2800" dirty="0"/>
          </a:p>
        </p:txBody>
      </p:sp>
      <p:sp>
        <p:nvSpPr>
          <p:cNvPr id="4" name="card-7"/>
          <p:cNvSpPr/>
          <p:nvPr/>
        </p:nvSpPr>
        <p:spPr>
          <a:xfrm>
            <a:off x="457200" y="1371600"/>
            <a:ext cx="2670048" cy="1554480"/>
          </a:xfrm>
          <a:prstGeom prst="roundRect">
            <a:avLst>
              <a:gd name="adj" fmla="val 4706"/>
            </a:avLst>
          </a:prstGeom>
          <a:solidFill>
            <a:schemeClr val="bg2"/>
          </a:solidFill>
          <a:ln/>
        </p:spPr>
      </p:sp>
      <p:sp>
        <p:nvSpPr>
          <p:cNvPr id="5" name="stat-8"/>
          <p:cNvSpPr txBox="1"/>
          <p:nvPr/>
        </p:nvSpPr>
        <p:spPr>
          <a:xfrm>
            <a:off x="640080" y="1481328"/>
            <a:ext cx="2304288" cy="746150"/>
          </a:xfrm>
          <a:prstGeom prst="rect">
            <a:avLst/>
          </a:prstGeom>
          <a:noFill/>
          <a:ln/>
        </p:spPr>
        <p:txBody>
          <a:bodyPr wrap="square" lIns="0" tIns="0" rIns="0" bIns="0" rtlCol="0" anchor="b"/>
          <a:lstStyle/>
          <a:p>
            <a:pPr marL="0" indent="0">
              <a:buNone/>
            </a:pPr>
            <a:r>
              <a:rPr lang="en-US" sz="3600" b="1" dirty="0">
                <a:solidFill>
                  <a:schemeClr val="accent1"/>
                </a:solidFill>
              </a:rPr>
              <a:t>250K EGP</a:t>
            </a:r>
            <a:endParaRPr lang="en-US" sz="3600" dirty="0"/>
          </a:p>
        </p:txBody>
      </p:sp>
      <p:sp>
        <p:nvSpPr>
          <p:cNvPr id="6" name="statlbl-9"/>
          <p:cNvSpPr txBox="1"/>
          <p:nvPr/>
        </p:nvSpPr>
        <p:spPr>
          <a:xfrm>
            <a:off x="640080" y="2179930"/>
            <a:ext cx="2304288" cy="683971"/>
          </a:xfrm>
          <a:prstGeom prst="rect">
            <a:avLst/>
          </a:prstGeom>
          <a:noFill/>
          <a:ln/>
        </p:spPr>
        <p:txBody>
          <a:bodyPr wrap="square" lIns="0" tIns="0" rIns="0" bIns="0" rtlCol="0" anchor="t"/>
          <a:lstStyle/>
          <a:p>
            <a:pPr marL="0" indent="0">
              <a:buNone/>
            </a:pPr>
            <a:r>
              <a:rPr lang="en-US" sz="1500" b="1" dirty="0">
                <a:solidFill>
                  <a:schemeClr val="tx1"/>
                </a:solidFill>
              </a:rPr>
              <a:t>Monthly budget</a:t>
            </a:r>
            <a:endParaRPr lang="en-US" sz="1500" dirty="0"/>
          </a:p>
          <a:p>
            <a:pPr marL="0" indent="0">
              <a:buNone/>
            </a:pPr>
            <a:r>
              <a:rPr lang="en-US" sz="1300" dirty="0">
                <a:solidFill>
                  <a:schemeClr val="accent5"/>
                </a:solidFill>
              </a:rPr>
              <a:t>8 campaigns across the full funnel</a:t>
            </a:r>
            <a:endParaRPr lang="en-US" sz="1500" dirty="0"/>
          </a:p>
        </p:txBody>
      </p:sp>
      <p:sp>
        <p:nvSpPr>
          <p:cNvPr id="7" name="card-10"/>
          <p:cNvSpPr/>
          <p:nvPr/>
        </p:nvSpPr>
        <p:spPr>
          <a:xfrm>
            <a:off x="3319272" y="1371600"/>
            <a:ext cx="2670048" cy="1554480"/>
          </a:xfrm>
          <a:prstGeom prst="roundRect">
            <a:avLst>
              <a:gd name="adj" fmla="val 4706"/>
            </a:avLst>
          </a:prstGeom>
          <a:solidFill>
            <a:schemeClr val="bg2"/>
          </a:solidFill>
          <a:ln/>
        </p:spPr>
      </p:sp>
      <p:sp>
        <p:nvSpPr>
          <p:cNvPr id="8" name="stat-11"/>
          <p:cNvSpPr txBox="1"/>
          <p:nvPr/>
        </p:nvSpPr>
        <p:spPr>
          <a:xfrm>
            <a:off x="3502152" y="1481328"/>
            <a:ext cx="2304288" cy="746150"/>
          </a:xfrm>
          <a:prstGeom prst="rect">
            <a:avLst/>
          </a:prstGeom>
          <a:noFill/>
          <a:ln/>
        </p:spPr>
        <p:txBody>
          <a:bodyPr wrap="square" lIns="0" tIns="0" rIns="0" bIns="0" rtlCol="0" anchor="b"/>
          <a:lstStyle/>
          <a:p>
            <a:pPr marL="0" indent="0">
              <a:buNone/>
            </a:pPr>
            <a:r>
              <a:rPr lang="en-US" sz="3600" b="1" dirty="0">
                <a:solidFill>
                  <a:schemeClr val="accent1"/>
                </a:solidFill>
              </a:rPr>
              <a:t>4.11x</a:t>
            </a:r>
            <a:endParaRPr lang="en-US" sz="3600" dirty="0"/>
          </a:p>
        </p:txBody>
      </p:sp>
      <p:sp>
        <p:nvSpPr>
          <p:cNvPr id="9" name="statlbl-12"/>
          <p:cNvSpPr txBox="1"/>
          <p:nvPr/>
        </p:nvSpPr>
        <p:spPr>
          <a:xfrm>
            <a:off x="3502152" y="2179930"/>
            <a:ext cx="2304288" cy="683971"/>
          </a:xfrm>
          <a:prstGeom prst="rect">
            <a:avLst/>
          </a:prstGeom>
          <a:noFill/>
          <a:ln/>
        </p:spPr>
        <p:txBody>
          <a:bodyPr wrap="square" lIns="0" tIns="0" rIns="0" bIns="0" rtlCol="0" anchor="t"/>
          <a:lstStyle/>
          <a:p>
            <a:pPr marL="0" indent="0">
              <a:buNone/>
            </a:pPr>
            <a:r>
              <a:rPr lang="en-US" sz="1500" b="1" dirty="0">
                <a:solidFill>
                  <a:schemeClr val="tx1"/>
                </a:solidFill>
              </a:rPr>
              <a:t>Blended ROAS</a:t>
            </a:r>
            <a:endParaRPr lang="en-US" sz="1500" dirty="0"/>
          </a:p>
          <a:p>
            <a:pPr marL="0" indent="0">
              <a:buNone/>
            </a:pPr>
            <a:r>
              <a:rPr lang="en-US" sz="1300" dirty="0">
                <a:solidFill>
                  <a:schemeClr val="accent5"/>
                </a:solidFill>
              </a:rPr>
              <a:t>Test month vs 3.5x target</a:t>
            </a:r>
            <a:endParaRPr lang="en-US" sz="1500" dirty="0"/>
          </a:p>
        </p:txBody>
      </p:sp>
      <p:sp>
        <p:nvSpPr>
          <p:cNvPr id="10" name="card-13"/>
          <p:cNvSpPr/>
          <p:nvPr/>
        </p:nvSpPr>
        <p:spPr>
          <a:xfrm>
            <a:off x="6181344" y="1371600"/>
            <a:ext cx="2670048" cy="1554480"/>
          </a:xfrm>
          <a:prstGeom prst="roundRect">
            <a:avLst>
              <a:gd name="adj" fmla="val 4706"/>
            </a:avLst>
          </a:prstGeom>
          <a:solidFill>
            <a:schemeClr val="bg2"/>
          </a:solidFill>
          <a:ln/>
        </p:spPr>
      </p:sp>
      <p:sp>
        <p:nvSpPr>
          <p:cNvPr id="11" name="stat-14"/>
          <p:cNvSpPr txBox="1"/>
          <p:nvPr/>
        </p:nvSpPr>
        <p:spPr>
          <a:xfrm>
            <a:off x="6364224" y="1481328"/>
            <a:ext cx="2304288" cy="746150"/>
          </a:xfrm>
          <a:prstGeom prst="rect">
            <a:avLst/>
          </a:prstGeom>
          <a:noFill/>
          <a:ln/>
        </p:spPr>
        <p:txBody>
          <a:bodyPr wrap="square" lIns="0" tIns="0" rIns="0" bIns="0" rtlCol="0" anchor="b"/>
          <a:lstStyle/>
          <a:p>
            <a:pPr marL="0" indent="0">
              <a:buNone/>
            </a:pPr>
            <a:r>
              <a:rPr lang="en-US" sz="3600" b="1" dirty="0">
                <a:solidFill>
                  <a:schemeClr val="accent1"/>
                </a:solidFill>
              </a:rPr>
              <a:t>110K EGP</a:t>
            </a:r>
            <a:endParaRPr lang="en-US" sz="3600" dirty="0"/>
          </a:p>
        </p:txBody>
      </p:sp>
      <p:sp>
        <p:nvSpPr>
          <p:cNvPr id="12" name="statlbl-15"/>
          <p:cNvSpPr txBox="1"/>
          <p:nvPr/>
        </p:nvSpPr>
        <p:spPr>
          <a:xfrm>
            <a:off x="6364224" y="2179930"/>
            <a:ext cx="2304288" cy="683971"/>
          </a:xfrm>
          <a:prstGeom prst="rect">
            <a:avLst/>
          </a:prstGeom>
          <a:noFill/>
          <a:ln/>
        </p:spPr>
        <p:txBody>
          <a:bodyPr wrap="square" lIns="0" tIns="0" rIns="0" bIns="0" rtlCol="0" anchor="t"/>
          <a:lstStyle/>
          <a:p>
            <a:pPr marL="0" indent="0">
              <a:buNone/>
            </a:pPr>
            <a:r>
              <a:rPr lang="en-US" sz="1500" b="1" dirty="0">
                <a:solidFill>
                  <a:schemeClr val="tx1"/>
                </a:solidFill>
              </a:rPr>
              <a:t>Profit after ads</a:t>
            </a:r>
            <a:endParaRPr lang="en-US" sz="1500" dirty="0"/>
          </a:p>
          <a:p>
            <a:pPr marL="0" indent="0">
              <a:buNone/>
            </a:pPr>
            <a:r>
              <a:rPr lang="en-US" sz="1300" dirty="0">
                <a:solidFill>
                  <a:schemeClr val="accent5"/>
                </a:solidFill>
              </a:rPr>
              <a:t>Revenue x 35% margin, minus spend</a:t>
            </a:r>
            <a:endParaRPr lang="en-US" sz="1500" dirty="0"/>
          </a:p>
        </p:txBody>
      </p:sp>
      <p:sp>
        <p:nvSpPr>
          <p:cNvPr id="13" name="card-16"/>
          <p:cNvSpPr/>
          <p:nvPr/>
        </p:nvSpPr>
        <p:spPr>
          <a:xfrm>
            <a:off x="9043416" y="1371600"/>
            <a:ext cx="2670048" cy="1554480"/>
          </a:xfrm>
          <a:prstGeom prst="roundRect">
            <a:avLst>
              <a:gd name="adj" fmla="val 4706"/>
            </a:avLst>
          </a:prstGeom>
          <a:solidFill>
            <a:schemeClr val="accent1"/>
          </a:solidFill>
          <a:ln/>
        </p:spPr>
      </p:sp>
      <p:sp>
        <p:nvSpPr>
          <p:cNvPr id="14" name="stat-17"/>
          <p:cNvSpPr txBox="1"/>
          <p:nvPr/>
        </p:nvSpPr>
        <p:spPr>
          <a:xfrm>
            <a:off x="9226296" y="1481328"/>
            <a:ext cx="2304288" cy="746150"/>
          </a:xfrm>
          <a:prstGeom prst="rect">
            <a:avLst/>
          </a:prstGeom>
          <a:noFill/>
          <a:ln/>
        </p:spPr>
        <p:txBody>
          <a:bodyPr wrap="square" lIns="0" tIns="0" rIns="0" bIns="0" rtlCol="0" anchor="b"/>
          <a:lstStyle/>
          <a:p>
            <a:pPr marL="0" indent="0">
              <a:buNone/>
            </a:pPr>
            <a:r>
              <a:rPr lang="en-US" sz="3600" b="1" dirty="0">
                <a:solidFill>
                  <a:schemeClr val="accent2"/>
                </a:solidFill>
              </a:rPr>
              <a:t>4.8x</a:t>
            </a:r>
            <a:endParaRPr lang="en-US" sz="3600" dirty="0"/>
          </a:p>
        </p:txBody>
      </p:sp>
      <p:sp>
        <p:nvSpPr>
          <p:cNvPr id="15" name="statlbl-18"/>
          <p:cNvSpPr txBox="1"/>
          <p:nvPr/>
        </p:nvSpPr>
        <p:spPr>
          <a:xfrm>
            <a:off x="9226296" y="2179930"/>
            <a:ext cx="2304288" cy="683971"/>
          </a:xfrm>
          <a:prstGeom prst="rect">
            <a:avLst/>
          </a:prstGeom>
          <a:noFill/>
          <a:ln/>
        </p:spPr>
        <p:txBody>
          <a:bodyPr wrap="square" lIns="0" tIns="0" rIns="0" bIns="0" rtlCol="0" anchor="t"/>
          <a:lstStyle/>
          <a:p>
            <a:pPr marL="0" indent="0">
              <a:buNone/>
            </a:pPr>
            <a:r>
              <a:rPr lang="en-US" sz="1500" b="1" dirty="0">
                <a:solidFill>
                  <a:schemeClr val="bg1"/>
                </a:solidFill>
              </a:rPr>
              <a:t>Projected ROAS</a:t>
            </a:r>
            <a:endParaRPr lang="en-US" sz="1500" dirty="0"/>
          </a:p>
          <a:p>
            <a:pPr marL="0" indent="0">
              <a:buNone/>
            </a:pPr>
            <a:r>
              <a:rPr lang="en-US" sz="1300" dirty="0">
                <a:solidFill>
                  <a:schemeClr val="bg1"/>
                </a:solidFill>
              </a:rPr>
              <a:t>+164K EGP revenue next month</a:t>
            </a:r>
            <a:endParaRPr lang="en-US" sz="1500" dirty="0"/>
          </a:p>
        </p:txBody>
      </p:sp>
      <p:sp>
        <p:nvSpPr>
          <p:cNvPr id="16" name="card-19"/>
          <p:cNvSpPr/>
          <p:nvPr/>
        </p:nvSpPr>
        <p:spPr>
          <a:xfrm>
            <a:off x="457200" y="3200400"/>
            <a:ext cx="3630168" cy="3017520"/>
          </a:xfrm>
          <a:prstGeom prst="roundRect">
            <a:avLst>
              <a:gd name="adj" fmla="val 2424"/>
            </a:avLst>
          </a:prstGeom>
          <a:solidFill>
            <a:schemeClr val="bg1"/>
          </a:solidFill>
          <a:ln/>
        </p:spPr>
      </p:sp>
      <p:sp>
        <p:nvSpPr>
          <p:cNvPr id="17" name="outline-20"/>
          <p:cNvSpPr/>
          <p:nvPr/>
        </p:nvSpPr>
        <p:spPr>
          <a:xfrm>
            <a:off x="457200" y="3200400"/>
            <a:ext cx="3630168" cy="3017520"/>
          </a:xfrm>
          <a:prstGeom prst="roundRect">
            <a:avLst>
              <a:gd name="adj" fmla="val 2424"/>
            </a:avLst>
          </a:prstGeom>
          <a:ln w="12700">
            <a:solidFill>
              <a:srgbClr val="D9DEE3"/>
            </a:solidFill>
            <a:prstDash val="solid"/>
          </a:ln>
        </p:spPr>
      </p:sp>
      <p:sp>
        <p:nvSpPr>
          <p:cNvPr id="18" name="num-21"/>
          <p:cNvSpPr/>
          <p:nvPr/>
        </p:nvSpPr>
        <p:spPr>
          <a:xfrm>
            <a:off x="685800" y="3456432"/>
            <a:ext cx="384048" cy="384048"/>
          </a:xfrm>
          <a:prstGeom prst="ellipse">
            <a:avLst/>
          </a:prstGeom>
          <a:solidFill>
            <a:schemeClr val="accent1"/>
          </a:solidFill>
          <a:ln/>
        </p:spPr>
      </p:sp>
      <p:sp>
        <p:nvSpPr>
          <p:cNvPr id="19" name="numtxt-22"/>
          <p:cNvSpPr txBox="1"/>
          <p:nvPr/>
        </p:nvSpPr>
        <p:spPr>
          <a:xfrm>
            <a:off x="685800" y="345643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0" name="Text 18"/>
          <p:cNvSpPr txBox="1"/>
          <p:nvPr/>
        </p:nvSpPr>
        <p:spPr>
          <a:xfrm>
            <a:off x="1188720" y="3429000"/>
            <a:ext cx="2715768" cy="457200"/>
          </a:xfrm>
          <a:prstGeom prst="rect">
            <a:avLst/>
          </a:prstGeom>
          <a:noFill/>
          <a:ln/>
        </p:spPr>
        <p:txBody>
          <a:bodyPr wrap="square" lIns="0" tIns="0" rIns="0" bIns="0" rtlCol="0" anchor="ctr"/>
          <a:lstStyle/>
          <a:p>
            <a:pPr marL="0" indent="0">
              <a:buNone/>
            </a:pPr>
            <a:r>
              <a:rPr lang="en-US" sz="1800" b="1" dirty="0">
                <a:solidFill>
                  <a:schemeClr val="tx1"/>
                </a:solidFill>
              </a:rPr>
              <a:t>Scale what closes</a:t>
            </a:r>
            <a:endParaRPr lang="en-US" sz="1800" dirty="0"/>
          </a:p>
        </p:txBody>
      </p:sp>
      <p:sp>
        <p:nvSpPr>
          <p:cNvPr id="21" name="Text 19"/>
          <p:cNvSpPr txBox="1"/>
          <p:nvPr/>
        </p:nvSpPr>
        <p:spPr>
          <a:xfrm>
            <a:off x="685800" y="4069080"/>
            <a:ext cx="3172968" cy="1463040"/>
          </a:xfrm>
          <a:prstGeom prst="rect">
            <a:avLst/>
          </a:prstGeom>
          <a:noFill/>
          <a:ln/>
        </p:spPr>
        <p:txBody>
          <a:bodyPr wrap="square" lIns="0" tIns="0" rIns="0" bIns="0" rtlCol="0" anchor="t"/>
          <a:lstStyle/>
          <a:p>
            <a:pPr marL="0" indent="0">
              <a:buNone/>
            </a:pPr>
            <a:r>
              <a:rPr lang="en-US" sz="1600" dirty="0">
                <a:solidFill>
                  <a:schemeClr val="tx1"/>
                </a:solidFill>
              </a:rPr>
              <a:t>Google Search returned 7.3x and hit its cap daily: 22% → 28% of budget. Email + WhatsApp (9.2x) doubles to 10%.</a:t>
            </a:r>
            <a:endParaRPr lang="en-US" sz="1600" dirty="0"/>
          </a:p>
        </p:txBody>
      </p:sp>
      <p:sp>
        <p:nvSpPr>
          <p:cNvPr id="22" name="Text 20"/>
          <p:cNvSpPr txBox="1"/>
          <p:nvPr/>
        </p:nvSpPr>
        <p:spPr>
          <a:xfrm>
            <a:off x="685800" y="5577840"/>
            <a:ext cx="3172968" cy="411480"/>
          </a:xfrm>
          <a:prstGeom prst="rect">
            <a:avLst/>
          </a:prstGeom>
          <a:noFill/>
          <a:ln/>
        </p:spPr>
        <p:txBody>
          <a:bodyPr wrap="square" lIns="0" tIns="0" rIns="0" bIns="0" rtlCol="0" anchor="ctr"/>
          <a:lstStyle/>
          <a:p>
            <a:pPr marL="0" indent="0">
              <a:buNone/>
            </a:pPr>
            <a:r>
              <a:rPr lang="en-US" sz="1600" b="1" dirty="0">
                <a:solidFill>
                  <a:srgbClr val="1F9D65"/>
                </a:solidFill>
              </a:rPr>
              <a:t>+27,500 EGP to Search and CRM</a:t>
            </a:r>
            <a:endParaRPr lang="en-US" sz="1600" dirty="0"/>
          </a:p>
        </p:txBody>
      </p:sp>
      <p:sp>
        <p:nvSpPr>
          <p:cNvPr id="23" name="card-23"/>
          <p:cNvSpPr/>
          <p:nvPr/>
        </p:nvSpPr>
        <p:spPr>
          <a:xfrm>
            <a:off x="4279392" y="3200400"/>
            <a:ext cx="3630168" cy="3017520"/>
          </a:xfrm>
          <a:prstGeom prst="roundRect">
            <a:avLst>
              <a:gd name="adj" fmla="val 2424"/>
            </a:avLst>
          </a:prstGeom>
          <a:solidFill>
            <a:schemeClr val="bg1"/>
          </a:solidFill>
          <a:ln/>
        </p:spPr>
      </p:sp>
      <p:sp>
        <p:nvSpPr>
          <p:cNvPr id="24" name="outline-24"/>
          <p:cNvSpPr/>
          <p:nvPr/>
        </p:nvSpPr>
        <p:spPr>
          <a:xfrm>
            <a:off x="4279392" y="3200400"/>
            <a:ext cx="3630168" cy="3017520"/>
          </a:xfrm>
          <a:prstGeom prst="roundRect">
            <a:avLst>
              <a:gd name="adj" fmla="val 2424"/>
            </a:avLst>
          </a:prstGeom>
          <a:ln w="12700">
            <a:solidFill>
              <a:srgbClr val="D9DEE3"/>
            </a:solidFill>
            <a:prstDash val="solid"/>
          </a:ln>
        </p:spPr>
      </p:sp>
      <p:sp>
        <p:nvSpPr>
          <p:cNvPr id="25" name="num-25"/>
          <p:cNvSpPr/>
          <p:nvPr/>
        </p:nvSpPr>
        <p:spPr>
          <a:xfrm>
            <a:off x="4507992" y="3456432"/>
            <a:ext cx="384048" cy="384048"/>
          </a:xfrm>
          <a:prstGeom prst="ellipse">
            <a:avLst/>
          </a:prstGeom>
          <a:solidFill>
            <a:schemeClr val="accent1"/>
          </a:solidFill>
          <a:ln/>
        </p:spPr>
      </p:sp>
      <p:sp>
        <p:nvSpPr>
          <p:cNvPr id="26" name="numtxt-26"/>
          <p:cNvSpPr txBox="1"/>
          <p:nvPr/>
        </p:nvSpPr>
        <p:spPr>
          <a:xfrm>
            <a:off x="4507992" y="345643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7" name="Text 25"/>
          <p:cNvSpPr txBox="1"/>
          <p:nvPr/>
        </p:nvSpPr>
        <p:spPr>
          <a:xfrm>
            <a:off x="5010912" y="3429000"/>
            <a:ext cx="2715768" cy="457200"/>
          </a:xfrm>
          <a:prstGeom prst="rect">
            <a:avLst/>
          </a:prstGeom>
          <a:noFill/>
          <a:ln/>
        </p:spPr>
        <p:txBody>
          <a:bodyPr wrap="square" lIns="0" tIns="0" rIns="0" bIns="0" rtlCol="0" anchor="ctr"/>
          <a:lstStyle/>
          <a:p>
            <a:pPr marL="0" indent="0">
              <a:buNone/>
            </a:pPr>
            <a:r>
              <a:rPr lang="en-US" sz="1800" b="1" dirty="0">
                <a:solidFill>
                  <a:schemeClr val="tx1"/>
                </a:solidFill>
              </a:rPr>
              <a:t>Keep what opens</a:t>
            </a:r>
            <a:endParaRPr lang="en-US" sz="1800" dirty="0"/>
          </a:p>
        </p:txBody>
      </p:sp>
      <p:sp>
        <p:nvSpPr>
          <p:cNvPr id="28" name="Text 26"/>
          <p:cNvSpPr txBox="1"/>
          <p:nvPr/>
        </p:nvSpPr>
        <p:spPr>
          <a:xfrm>
            <a:off x="4507992" y="4069080"/>
            <a:ext cx="3172968" cy="1463040"/>
          </a:xfrm>
          <a:prstGeom prst="rect">
            <a:avLst/>
          </a:prstGeom>
          <a:noFill/>
          <a:ln/>
        </p:spPr>
        <p:txBody>
          <a:bodyPr wrap="square" lIns="0" tIns="0" rIns="0" bIns="0" rtlCol="0" anchor="t"/>
          <a:lstStyle/>
          <a:p>
            <a:pPr marL="0" indent="0">
              <a:buNone/>
            </a:pPr>
            <a:r>
              <a:rPr lang="en-US" sz="1600" dirty="0">
                <a:solidFill>
                  <a:schemeClr val="tx1"/>
                </a:solidFill>
              </a:rPr>
              <a:t>TikTok shows 0.36x on last click, yet opens journeys worth 20% of position-based credit. It stays at 15%.</a:t>
            </a:r>
            <a:endParaRPr lang="en-US" sz="1600" dirty="0"/>
          </a:p>
        </p:txBody>
      </p:sp>
      <p:sp>
        <p:nvSpPr>
          <p:cNvPr id="29" name="Text 27"/>
          <p:cNvSpPr txBox="1"/>
          <p:nvPr/>
        </p:nvSpPr>
        <p:spPr>
          <a:xfrm>
            <a:off x="4507992" y="5577840"/>
            <a:ext cx="3172968" cy="411480"/>
          </a:xfrm>
          <a:prstGeom prst="rect">
            <a:avLst/>
          </a:prstGeom>
          <a:noFill/>
          <a:ln/>
        </p:spPr>
        <p:txBody>
          <a:bodyPr wrap="square" lIns="0" tIns="0" rIns="0" bIns="0" rtlCol="0" anchor="ctr"/>
          <a:lstStyle/>
          <a:p>
            <a:pPr marL="0" indent="0">
              <a:buNone/>
            </a:pPr>
            <a:r>
              <a:rPr lang="en-US" sz="1600" b="1" dirty="0">
                <a:solidFill>
                  <a:srgbClr val="1F9D65"/>
                </a:solidFill>
              </a:rPr>
              <a:t>37,500 EGP protected</a:t>
            </a:r>
            <a:endParaRPr lang="en-US" sz="1600" dirty="0"/>
          </a:p>
        </p:txBody>
      </p:sp>
      <p:sp>
        <p:nvSpPr>
          <p:cNvPr id="30" name="card-27"/>
          <p:cNvSpPr/>
          <p:nvPr/>
        </p:nvSpPr>
        <p:spPr>
          <a:xfrm>
            <a:off x="8101584" y="3200400"/>
            <a:ext cx="3630168" cy="3017520"/>
          </a:xfrm>
          <a:prstGeom prst="roundRect">
            <a:avLst>
              <a:gd name="adj" fmla="val 2424"/>
            </a:avLst>
          </a:prstGeom>
          <a:solidFill>
            <a:schemeClr val="bg1"/>
          </a:solidFill>
          <a:ln/>
        </p:spPr>
      </p:sp>
      <p:sp>
        <p:nvSpPr>
          <p:cNvPr id="31" name="outline-28"/>
          <p:cNvSpPr/>
          <p:nvPr/>
        </p:nvSpPr>
        <p:spPr>
          <a:xfrm>
            <a:off x="8101584" y="3200400"/>
            <a:ext cx="3630168" cy="3017520"/>
          </a:xfrm>
          <a:prstGeom prst="roundRect">
            <a:avLst>
              <a:gd name="adj" fmla="val 2424"/>
            </a:avLst>
          </a:prstGeom>
          <a:ln w="12700">
            <a:solidFill>
              <a:srgbClr val="D9DEE3"/>
            </a:solidFill>
            <a:prstDash val="solid"/>
          </a:ln>
        </p:spPr>
      </p:sp>
      <p:sp>
        <p:nvSpPr>
          <p:cNvPr id="32" name="num-29"/>
          <p:cNvSpPr/>
          <p:nvPr/>
        </p:nvSpPr>
        <p:spPr>
          <a:xfrm>
            <a:off x="8330184" y="3456432"/>
            <a:ext cx="384048" cy="384048"/>
          </a:xfrm>
          <a:prstGeom prst="ellipse">
            <a:avLst/>
          </a:prstGeom>
          <a:solidFill>
            <a:schemeClr val="accent1"/>
          </a:solidFill>
          <a:ln/>
        </p:spPr>
      </p:sp>
      <p:sp>
        <p:nvSpPr>
          <p:cNvPr id="33" name="numtxt-30"/>
          <p:cNvSpPr txBox="1"/>
          <p:nvPr/>
        </p:nvSpPr>
        <p:spPr>
          <a:xfrm>
            <a:off x="8330184" y="345643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4" name="Text 32"/>
          <p:cNvSpPr txBox="1"/>
          <p:nvPr/>
        </p:nvSpPr>
        <p:spPr>
          <a:xfrm>
            <a:off x="8833104" y="3429000"/>
            <a:ext cx="2715768" cy="457200"/>
          </a:xfrm>
          <a:prstGeom prst="rect">
            <a:avLst/>
          </a:prstGeom>
          <a:noFill/>
          <a:ln/>
        </p:spPr>
        <p:txBody>
          <a:bodyPr wrap="square" lIns="0" tIns="0" rIns="0" bIns="0" rtlCol="0" anchor="ctr"/>
          <a:lstStyle/>
          <a:p>
            <a:pPr marL="0" indent="0">
              <a:buNone/>
            </a:pPr>
            <a:r>
              <a:rPr lang="en-US" sz="1800" b="1" dirty="0">
                <a:solidFill>
                  <a:schemeClr val="tx1"/>
                </a:solidFill>
              </a:rPr>
              <a:t>Cut what does neither</a:t>
            </a:r>
            <a:endParaRPr lang="en-US" sz="1800" dirty="0"/>
          </a:p>
        </p:txBody>
      </p:sp>
      <p:sp>
        <p:nvSpPr>
          <p:cNvPr id="35" name="Text 33"/>
          <p:cNvSpPr txBox="1"/>
          <p:nvPr/>
        </p:nvSpPr>
        <p:spPr>
          <a:xfrm>
            <a:off x="8330184" y="4069080"/>
            <a:ext cx="3172968" cy="1463040"/>
          </a:xfrm>
          <a:prstGeom prst="rect">
            <a:avLst/>
          </a:prstGeom>
          <a:noFill/>
          <a:ln/>
        </p:spPr>
        <p:txBody>
          <a:bodyPr wrap="square" lIns="0" tIns="0" rIns="0" bIns="0" rtlCol="0" anchor="t"/>
          <a:lstStyle/>
          <a:p>
            <a:pPr marL="0" indent="0">
              <a:buNone/>
            </a:pPr>
            <a:r>
              <a:rPr lang="en-US" sz="1600" dirty="0">
                <a:solidFill>
                  <a:schemeClr val="tx1"/>
                </a:solidFill>
              </a:rPr>
              <a:t>YouTube (0.88x) and Snapchat (0.73x) fail as openers and closers. Paused. Meta prospecting gets new creative after CTR fell 34%.</a:t>
            </a:r>
            <a:endParaRPr lang="en-US" sz="1600" dirty="0"/>
          </a:p>
        </p:txBody>
      </p:sp>
      <p:sp>
        <p:nvSpPr>
          <p:cNvPr id="36" name="Text 34"/>
          <p:cNvSpPr txBox="1"/>
          <p:nvPr/>
        </p:nvSpPr>
        <p:spPr>
          <a:xfrm>
            <a:off x="8330184" y="5577840"/>
            <a:ext cx="3172968" cy="411480"/>
          </a:xfrm>
          <a:prstGeom prst="rect">
            <a:avLst/>
          </a:prstGeom>
          <a:noFill/>
          <a:ln/>
        </p:spPr>
        <p:txBody>
          <a:bodyPr wrap="square" lIns="0" tIns="0" rIns="0" bIns="0" rtlCol="0" anchor="ctr"/>
          <a:lstStyle/>
          <a:p>
            <a:pPr marL="0" indent="0">
              <a:buNone/>
            </a:pPr>
            <a:r>
              <a:rPr lang="en-US" sz="1600" b="1" dirty="0">
                <a:solidFill>
                  <a:srgbClr val="C0392B"/>
                </a:solidFill>
              </a:rPr>
              <a:t>−32,500 EGP freed</a:t>
            </a:r>
            <a:endParaRPr lang="en-US" sz="1600" dirty="0"/>
          </a:p>
        </p:txBody>
      </p:sp>
      <p:sp>
        <p:nvSpPr>
          <p:cNvPr id="37"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THE BRIEF</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Who we sell to, what we sell, how we keep score</a:t>
            </a:r>
            <a:endParaRPr lang="en-US" sz="2800" dirty="0"/>
          </a:p>
        </p:txBody>
      </p:sp>
      <p:sp>
        <p:nvSpPr>
          <p:cNvPr id="4" name="card-31"/>
          <p:cNvSpPr/>
          <p:nvPr/>
        </p:nvSpPr>
        <p:spPr>
          <a:xfrm>
            <a:off x="457200" y="1371600"/>
            <a:ext cx="4206240" cy="4846320"/>
          </a:xfrm>
          <a:prstGeom prst="roundRect">
            <a:avLst>
              <a:gd name="adj" fmla="val 1739"/>
            </a:avLst>
          </a:prstGeom>
          <a:solidFill>
            <a:schemeClr val="accent1"/>
          </a:solidFill>
          <a:ln/>
        </p:spPr>
      </p:sp>
      <p:sp>
        <p:nvSpPr>
          <p:cNvPr id="5" name="Text 3"/>
          <p:cNvSpPr txBox="1"/>
          <p:nvPr/>
        </p:nvSpPr>
        <p:spPr>
          <a:xfrm>
            <a:off x="731520" y="1600200"/>
            <a:ext cx="3657600" cy="274320"/>
          </a:xfrm>
          <a:prstGeom prst="rect">
            <a:avLst/>
          </a:prstGeom>
          <a:noFill/>
          <a:ln/>
        </p:spPr>
        <p:txBody>
          <a:bodyPr wrap="square" lIns="0" tIns="0" rIns="0" bIns="0" rtlCol="0" anchor="ctr"/>
          <a:lstStyle/>
          <a:p>
            <a:pPr marL="0" indent="0">
              <a:buNone/>
            </a:pPr>
            <a:r>
              <a:rPr lang="en-US" sz="1200" b="1" dirty="0">
                <a:solidFill>
                  <a:schemeClr val="accent2"/>
                </a:solidFill>
              </a:rPr>
              <a:t>PERSONA</a:t>
            </a:r>
            <a:endParaRPr lang="en-US" sz="1200" dirty="0"/>
          </a:p>
        </p:txBody>
      </p:sp>
      <p:sp>
        <p:nvSpPr>
          <p:cNvPr id="6" name="Text 4"/>
          <p:cNvSpPr txBox="1"/>
          <p:nvPr/>
        </p:nvSpPr>
        <p:spPr>
          <a:xfrm>
            <a:off x="731520" y="1920240"/>
            <a:ext cx="3657600" cy="548640"/>
          </a:xfrm>
          <a:prstGeom prst="rect">
            <a:avLst/>
          </a:prstGeom>
          <a:noFill/>
          <a:ln/>
        </p:spPr>
        <p:txBody>
          <a:bodyPr wrap="square" lIns="0" tIns="0" rIns="0" bIns="0" rtlCol="0" anchor="ctr"/>
          <a:lstStyle/>
          <a:p>
            <a:pPr marL="0" indent="0">
              <a:buNone/>
            </a:pPr>
            <a:r>
              <a:rPr lang="en-US" sz="2800" b="1" dirty="0">
                <a:solidFill>
                  <a:schemeClr val="bg1"/>
                </a:solidFill>
              </a:rPr>
              <a:t>Mariam Adel</a:t>
            </a:r>
            <a:endParaRPr lang="en-US" sz="2800" dirty="0"/>
          </a:p>
        </p:txBody>
      </p:sp>
      <p:sp>
        <p:nvSpPr>
          <p:cNvPr id="7" name="Text 5"/>
          <p:cNvSpPr txBox="1"/>
          <p:nvPr/>
        </p:nvSpPr>
        <p:spPr>
          <a:xfrm>
            <a:off x="731520" y="2606040"/>
            <a:ext cx="370332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First-time furnisher, compound couple in New Cairo or 6th of October</a:t>
            </a:r>
            <a:endParaRPr lang="en-US" sz="1500" dirty="0"/>
          </a:p>
          <a:p>
            <a:pPr marL="342900" indent="-342900">
              <a:spcAft>
                <a:spcPts val="800"/>
              </a:spcAft>
              <a:buSzPct val="100000"/>
              <a:buChar char="•"/>
            </a:pPr>
            <a:r>
              <a:rPr lang="en-US" sz="1500" dirty="0">
                <a:solidFill>
                  <a:schemeClr val="bg1"/>
                </a:solidFill>
              </a:rPr>
              <a:t>Wants the whole apartment planned without carpenter haggling</a:t>
            </a:r>
            <a:endParaRPr lang="en-US" sz="1500" dirty="0"/>
          </a:p>
          <a:p>
            <a:pPr marL="342900" indent="-342900">
              <a:spcAft>
                <a:spcPts val="800"/>
              </a:spcAft>
              <a:buSzPct val="100000"/>
              <a:buChar char="•"/>
            </a:pPr>
            <a:r>
              <a:rPr lang="en-US" sz="1500" dirty="0">
                <a:solidFill>
                  <a:schemeClr val="bg1"/>
                </a:solidFill>
              </a:rPr>
              <a:t>Trusts reviews, real Egyptian homes and a delivery date that holds</a:t>
            </a:r>
            <a:endParaRPr lang="en-US" sz="1500" dirty="0"/>
          </a:p>
          <a:p>
            <a:pPr marL="342900" indent="-342900">
              <a:spcAft>
                <a:spcPts val="800"/>
              </a:spcAft>
              <a:buSzPct val="100000"/>
              <a:buChar char="•"/>
            </a:pPr>
            <a:r>
              <a:rPr lang="en-US" sz="1500" dirty="0">
                <a:solidFill>
                  <a:schemeClr val="bg1"/>
                </a:solidFill>
              </a:rPr>
              <a:t>Excluded: gehaz families, where installment carpenters win</a:t>
            </a:r>
            <a:endParaRPr lang="en-US" sz="1500" dirty="0"/>
          </a:p>
        </p:txBody>
      </p:sp>
      <p:sp>
        <p:nvSpPr>
          <p:cNvPr id="8" name="card-32"/>
          <p:cNvSpPr/>
          <p:nvPr/>
        </p:nvSpPr>
        <p:spPr>
          <a:xfrm>
            <a:off x="4892040" y="1371600"/>
            <a:ext cx="3291840" cy="2286000"/>
          </a:xfrm>
          <a:prstGeom prst="roundRect">
            <a:avLst>
              <a:gd name="adj" fmla="val 3200"/>
            </a:avLst>
          </a:prstGeom>
          <a:solidFill>
            <a:schemeClr val="bg2"/>
          </a:solidFill>
          <a:ln/>
        </p:spPr>
      </p:sp>
      <p:sp>
        <p:nvSpPr>
          <p:cNvPr id="9" name="Text 7"/>
          <p:cNvSpPr txBox="1"/>
          <p:nvPr/>
        </p:nvSpPr>
        <p:spPr>
          <a:xfrm>
            <a:off x="5120640" y="1554480"/>
            <a:ext cx="2834640" cy="411480"/>
          </a:xfrm>
          <a:prstGeom prst="rect">
            <a:avLst/>
          </a:prstGeom>
          <a:noFill/>
          <a:ln/>
        </p:spPr>
        <p:txBody>
          <a:bodyPr wrap="square" lIns="0" tIns="0" rIns="0" bIns="0" rtlCol="0" anchor="ctr"/>
          <a:lstStyle/>
          <a:p>
            <a:pPr marL="0" indent="0">
              <a:buNone/>
            </a:pPr>
            <a:r>
              <a:rPr lang="en-US" sz="1600" b="1" dirty="0">
                <a:solidFill>
                  <a:schemeClr val="accent1"/>
                </a:solidFill>
              </a:rPr>
              <a:t>Brand</a:t>
            </a:r>
            <a:endParaRPr lang="en-US" sz="1600" dirty="0"/>
          </a:p>
        </p:txBody>
      </p:sp>
      <p:sp>
        <p:nvSpPr>
          <p:cNvPr id="10" name="Text 8"/>
          <p:cNvSpPr txBox="1"/>
          <p:nvPr/>
        </p:nvSpPr>
        <p:spPr>
          <a:xfrm>
            <a:off x="5120640" y="2011680"/>
            <a:ext cx="2834640" cy="1508760"/>
          </a:xfrm>
          <a:prstGeom prst="rect">
            <a:avLst/>
          </a:prstGeom>
          <a:noFill/>
          <a:ln/>
        </p:spPr>
        <p:txBody>
          <a:bodyPr wrap="square" lIns="0" tIns="0" rIns="0" bIns="0" rtlCol="0" anchor="t"/>
          <a:lstStyle/>
          <a:p>
            <a:pPr marL="0" indent="0">
              <a:buNone/>
            </a:pPr>
            <a:r>
              <a:rPr lang="en-US" sz="1500" dirty="0">
                <a:solidFill>
                  <a:schemeClr val="tx1"/>
                </a:solidFill>
              </a:rPr>
              <a:t>IKEA Egypt: Al-Futtaim franchise, 3 stores, room planner, IKEA Family, click-and-collect</a:t>
            </a:r>
            <a:endParaRPr lang="en-US" sz="1500" dirty="0"/>
          </a:p>
        </p:txBody>
      </p:sp>
      <p:sp>
        <p:nvSpPr>
          <p:cNvPr id="11" name="card-33"/>
          <p:cNvSpPr/>
          <p:nvPr/>
        </p:nvSpPr>
        <p:spPr>
          <a:xfrm>
            <a:off x="8366760" y="1371600"/>
            <a:ext cx="3291840" cy="2286000"/>
          </a:xfrm>
          <a:prstGeom prst="roundRect">
            <a:avLst>
              <a:gd name="adj" fmla="val 3200"/>
            </a:avLst>
          </a:prstGeom>
          <a:solidFill>
            <a:schemeClr val="bg2"/>
          </a:solidFill>
          <a:ln/>
        </p:spPr>
      </p:sp>
      <p:sp>
        <p:nvSpPr>
          <p:cNvPr id="12" name="Text 10"/>
          <p:cNvSpPr txBox="1"/>
          <p:nvPr/>
        </p:nvSpPr>
        <p:spPr>
          <a:xfrm>
            <a:off x="8595360" y="1554480"/>
            <a:ext cx="2834640" cy="411480"/>
          </a:xfrm>
          <a:prstGeom prst="rect">
            <a:avLst/>
          </a:prstGeom>
          <a:noFill/>
          <a:ln/>
        </p:spPr>
        <p:txBody>
          <a:bodyPr wrap="square" lIns="0" tIns="0" rIns="0" bIns="0" rtlCol="0" anchor="ctr"/>
          <a:lstStyle/>
          <a:p>
            <a:pPr marL="0" indent="0">
              <a:buNone/>
            </a:pPr>
            <a:r>
              <a:rPr lang="en-US" sz="1600" b="1" dirty="0">
                <a:solidFill>
                  <a:schemeClr val="accent1"/>
                </a:solidFill>
              </a:rPr>
              <a:t>Offer</a:t>
            </a:r>
            <a:endParaRPr lang="en-US" sz="1600" dirty="0"/>
          </a:p>
        </p:txBody>
      </p:sp>
      <p:sp>
        <p:nvSpPr>
          <p:cNvPr id="13" name="Text 11"/>
          <p:cNvSpPr txBox="1"/>
          <p:nvPr/>
        </p:nvSpPr>
        <p:spPr>
          <a:xfrm>
            <a:off x="8595360" y="2011680"/>
            <a:ext cx="2834640" cy="1508760"/>
          </a:xfrm>
          <a:prstGeom prst="rect">
            <a:avLst/>
          </a:prstGeom>
          <a:noFill/>
          <a:ln/>
        </p:spPr>
        <p:txBody>
          <a:bodyPr wrap="square" lIns="0" tIns="0" rIns="0" bIns="0" rtlCol="0" anchor="t"/>
          <a:lstStyle/>
          <a:p>
            <a:pPr marL="0" indent="0">
              <a:buNone/>
            </a:pPr>
            <a:r>
              <a:rPr lang="en-US" sz="1500" dirty="0">
                <a:solidFill>
                  <a:schemeClr val="tx1"/>
                </a:solidFill>
              </a:rPr>
              <a:t>New Home Starter Bundle. Entry: free planning session. Retargeting: bundle + delivery guarantee</a:t>
            </a:r>
            <a:endParaRPr lang="en-US" sz="1500" dirty="0"/>
          </a:p>
        </p:txBody>
      </p:sp>
      <p:sp>
        <p:nvSpPr>
          <p:cNvPr id="14" name="card-34"/>
          <p:cNvSpPr/>
          <p:nvPr/>
        </p:nvSpPr>
        <p:spPr>
          <a:xfrm>
            <a:off x="4892040" y="3840480"/>
            <a:ext cx="3291840" cy="2286000"/>
          </a:xfrm>
          <a:prstGeom prst="roundRect">
            <a:avLst>
              <a:gd name="adj" fmla="val 3200"/>
            </a:avLst>
          </a:prstGeom>
          <a:solidFill>
            <a:schemeClr val="bg2"/>
          </a:solidFill>
          <a:ln/>
        </p:spPr>
      </p:sp>
      <p:sp>
        <p:nvSpPr>
          <p:cNvPr id="15" name="Text 13"/>
          <p:cNvSpPr txBox="1"/>
          <p:nvPr/>
        </p:nvSpPr>
        <p:spPr>
          <a:xfrm>
            <a:off x="5120640" y="4023360"/>
            <a:ext cx="2834640" cy="411480"/>
          </a:xfrm>
          <a:prstGeom prst="rect">
            <a:avLst/>
          </a:prstGeom>
          <a:noFill/>
          <a:ln/>
        </p:spPr>
        <p:txBody>
          <a:bodyPr wrap="square" lIns="0" tIns="0" rIns="0" bIns="0" rtlCol="0" anchor="ctr"/>
          <a:lstStyle/>
          <a:p>
            <a:pPr marL="0" indent="0">
              <a:buNone/>
            </a:pPr>
            <a:r>
              <a:rPr lang="en-US" sz="1600" b="1" dirty="0">
                <a:solidFill>
                  <a:schemeClr val="accent1"/>
                </a:solidFill>
              </a:rPr>
              <a:t>Goal</a:t>
            </a:r>
            <a:endParaRPr lang="en-US" sz="1600" dirty="0"/>
          </a:p>
        </p:txBody>
      </p:sp>
      <p:sp>
        <p:nvSpPr>
          <p:cNvPr id="16" name="Text 14"/>
          <p:cNvSpPr txBox="1"/>
          <p:nvPr/>
        </p:nvSpPr>
        <p:spPr>
          <a:xfrm>
            <a:off x="5120640" y="4480560"/>
            <a:ext cx="2834640" cy="1508760"/>
          </a:xfrm>
          <a:prstGeom prst="rect">
            <a:avLst/>
          </a:prstGeom>
          <a:noFill/>
          <a:ln/>
        </p:spPr>
        <p:txBody>
          <a:bodyPr wrap="square" lIns="0" tIns="0" rIns="0" bIns="0" rtlCol="0" anchor="t"/>
          <a:lstStyle/>
          <a:p>
            <a:pPr marL="0" indent="0">
              <a:buNone/>
            </a:pPr>
            <a:r>
              <a:rPr lang="en-US" sz="1500" dirty="0">
                <a:solidFill>
                  <a:schemeClr val="tx1"/>
                </a:solidFill>
              </a:rPr>
              <a:t>Sell the bundle profitably across 7 paid sources + CRM in 30 days, then move budget on evidence</a:t>
            </a:r>
            <a:endParaRPr lang="en-US" sz="1500" dirty="0"/>
          </a:p>
        </p:txBody>
      </p:sp>
      <p:sp>
        <p:nvSpPr>
          <p:cNvPr id="17" name="card-35"/>
          <p:cNvSpPr/>
          <p:nvPr/>
        </p:nvSpPr>
        <p:spPr>
          <a:xfrm>
            <a:off x="8366760" y="3840480"/>
            <a:ext cx="3291840" cy="2286000"/>
          </a:xfrm>
          <a:prstGeom prst="roundRect">
            <a:avLst>
              <a:gd name="adj" fmla="val 3200"/>
            </a:avLst>
          </a:prstGeom>
          <a:solidFill>
            <a:schemeClr val="bg2"/>
          </a:solidFill>
          <a:ln/>
        </p:spPr>
      </p:sp>
      <p:sp>
        <p:nvSpPr>
          <p:cNvPr id="18" name="Text 16"/>
          <p:cNvSpPr txBox="1"/>
          <p:nvPr/>
        </p:nvSpPr>
        <p:spPr>
          <a:xfrm>
            <a:off x="8595360" y="4023360"/>
            <a:ext cx="2834640" cy="411480"/>
          </a:xfrm>
          <a:prstGeom prst="rect">
            <a:avLst/>
          </a:prstGeom>
          <a:noFill/>
          <a:ln/>
        </p:spPr>
        <p:txBody>
          <a:bodyPr wrap="square" lIns="0" tIns="0" rIns="0" bIns="0" rtlCol="0" anchor="ctr"/>
          <a:lstStyle/>
          <a:p>
            <a:pPr marL="0" indent="0">
              <a:buNone/>
            </a:pPr>
            <a:r>
              <a:rPr lang="en-US" sz="1600" b="1" dirty="0">
                <a:solidFill>
                  <a:schemeClr val="accent1"/>
                </a:solidFill>
              </a:rPr>
              <a:t>North star + 4</a:t>
            </a:r>
            <a:endParaRPr lang="en-US" sz="1600" dirty="0"/>
          </a:p>
        </p:txBody>
      </p:sp>
      <p:sp>
        <p:nvSpPr>
          <p:cNvPr id="19" name="Text 17"/>
          <p:cNvSpPr txBox="1"/>
          <p:nvPr/>
        </p:nvSpPr>
        <p:spPr>
          <a:xfrm>
            <a:off x="8595360" y="4480560"/>
            <a:ext cx="2834640" cy="1508760"/>
          </a:xfrm>
          <a:prstGeom prst="rect">
            <a:avLst/>
          </a:prstGeom>
          <a:noFill/>
          <a:ln/>
        </p:spPr>
        <p:txBody>
          <a:bodyPr wrap="square" lIns="0" tIns="0" rIns="0" bIns="0" rtlCol="0" anchor="t"/>
          <a:lstStyle/>
          <a:p>
            <a:pPr marL="0" indent="0">
              <a:buNone/>
            </a:pPr>
            <a:r>
              <a:rPr lang="en-US" sz="1500" dirty="0">
                <a:solidFill>
                  <a:schemeClr val="tx1"/>
                </a:solidFill>
              </a:rPr>
              <a:t>Revenue after ad spend. Supporting: CTR (traffic), CVR (conversion), CPA (cost), ROAS (value)</a:t>
            </a:r>
            <a:endParaRPr lang="en-US" sz="15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FUNNEL ARCHITECTURE</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Each platform gets one job at one stage</a:t>
            </a:r>
            <a:endParaRPr lang="en-US" sz="2800" dirty="0"/>
          </a:p>
        </p:txBody>
      </p:sp>
      <p:sp>
        <p:nvSpPr>
          <p:cNvPr id="4" name="card-36"/>
          <p:cNvSpPr/>
          <p:nvPr/>
        </p:nvSpPr>
        <p:spPr>
          <a:xfrm>
            <a:off x="457200" y="1371600"/>
            <a:ext cx="2651760" cy="4846320"/>
          </a:xfrm>
          <a:prstGeom prst="roundRect">
            <a:avLst>
              <a:gd name="adj" fmla="val 2759"/>
            </a:avLst>
          </a:prstGeom>
          <a:solidFill>
            <a:schemeClr val="bg2"/>
          </a:solidFill>
          <a:ln/>
        </p:spPr>
      </p:sp>
      <p:sp>
        <p:nvSpPr>
          <p:cNvPr id="5" name="Text 3"/>
          <p:cNvSpPr txBox="1"/>
          <p:nvPr/>
        </p:nvSpPr>
        <p:spPr>
          <a:xfrm>
            <a:off x="685800" y="1554480"/>
            <a:ext cx="1280160" cy="457200"/>
          </a:xfrm>
          <a:prstGeom prst="rect">
            <a:avLst/>
          </a:prstGeom>
          <a:noFill/>
          <a:ln/>
        </p:spPr>
        <p:txBody>
          <a:bodyPr wrap="square" lIns="0" tIns="0" rIns="0" bIns="0" rtlCol="0" anchor="ctr"/>
          <a:lstStyle/>
          <a:p>
            <a:pPr marL="0" indent="0">
              <a:buNone/>
            </a:pPr>
            <a:r>
              <a:rPr lang="en-US" sz="2400" b="1" dirty="0">
                <a:solidFill>
                  <a:schemeClr val="accent1"/>
                </a:solidFill>
              </a:rPr>
              <a:t>TOFU</a:t>
            </a:r>
            <a:endParaRPr lang="en-US" sz="2400" dirty="0"/>
          </a:p>
        </p:txBody>
      </p:sp>
      <p:sp>
        <p:nvSpPr>
          <p:cNvPr id="6" name="Text 4"/>
          <p:cNvSpPr txBox="1"/>
          <p:nvPr/>
        </p:nvSpPr>
        <p:spPr>
          <a:xfrm>
            <a:off x="1965960" y="1554480"/>
            <a:ext cx="914400" cy="457200"/>
          </a:xfrm>
          <a:prstGeom prst="rect">
            <a:avLst/>
          </a:prstGeom>
          <a:noFill/>
          <a:ln/>
        </p:spPr>
        <p:txBody>
          <a:bodyPr wrap="square" lIns="0" tIns="0" rIns="0" bIns="0" rtlCol="0" anchor="ctr"/>
          <a:lstStyle/>
          <a:p>
            <a:pPr marL="0" indent="0" algn="r">
              <a:buNone/>
            </a:pPr>
            <a:r>
              <a:rPr lang="en-US" sz="2400" b="1" dirty="0">
                <a:solidFill>
                  <a:schemeClr val="accent1"/>
                </a:solidFill>
              </a:rPr>
              <a:t>20%</a:t>
            </a:r>
            <a:endParaRPr lang="en-US" sz="2400" dirty="0"/>
          </a:p>
        </p:txBody>
      </p:sp>
      <p:sp>
        <p:nvSpPr>
          <p:cNvPr id="7" name="Text 5"/>
          <p:cNvSpPr txBox="1"/>
          <p:nvPr/>
        </p:nvSpPr>
        <p:spPr>
          <a:xfrm>
            <a:off x="685800" y="20116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Awareness</a:t>
            </a:r>
            <a:endParaRPr lang="en-US" sz="1600" dirty="0"/>
          </a:p>
        </p:txBody>
      </p:sp>
      <p:sp>
        <p:nvSpPr>
          <p:cNvPr id="8" name="Text 6"/>
          <p:cNvSpPr txBox="1"/>
          <p:nvPr/>
        </p:nvSpPr>
        <p:spPr>
          <a:xfrm>
            <a:off x="685800" y="2468880"/>
            <a:ext cx="2194560" cy="3566160"/>
          </a:xfrm>
          <a:prstGeom prst="rect">
            <a:avLst/>
          </a:prstGeom>
          <a:noFill/>
          <a:ln/>
        </p:spPr>
        <p:txBody>
          <a:bodyPr wrap="square" lIns="0" tIns="0" rIns="0" bIns="0" rtlCol="0" anchor="t"/>
          <a:lstStyle/>
          <a:p>
            <a:pPr marL="0" indent="0">
              <a:buNone/>
            </a:pPr>
            <a:r>
              <a:rPr lang="en-US" sz="1100" b="1" dirty="0">
                <a:solidFill>
                  <a:schemeClr val="accent1"/>
                </a:solidFill>
              </a:rPr>
              <a:t>PLATFORMS</a:t>
            </a:r>
            <a:endParaRPr lang="en-US" sz="1100" dirty="0"/>
          </a:p>
          <a:p>
            <a:pPr marL="0" indent="0">
              <a:spcAft>
                <a:spcPts val="800"/>
              </a:spcAft>
              <a:buNone/>
            </a:pPr>
            <a:r>
              <a:rPr lang="en-US" sz="1400" dirty="0">
                <a:solidFill>
                  <a:schemeClr val="tx1"/>
                </a:solidFill>
              </a:rPr>
              <a:t>TikTok · YouTube</a:t>
            </a:r>
            <a:endParaRPr lang="en-US" sz="1100" dirty="0"/>
          </a:p>
          <a:p>
            <a:pPr marL="0" indent="0">
              <a:buNone/>
            </a:pPr>
            <a:r>
              <a:rPr lang="en-US" sz="1100" b="1" dirty="0">
                <a:solidFill>
                  <a:schemeClr val="accent1"/>
                </a:solidFill>
              </a:rPr>
              <a:t>AUDIENCE</a:t>
            </a:r>
            <a:endParaRPr lang="en-US" sz="1100" dirty="0"/>
          </a:p>
          <a:p>
            <a:pPr marL="0" indent="0">
              <a:spcAft>
                <a:spcPts val="800"/>
              </a:spcAft>
              <a:buNone/>
            </a:pPr>
            <a:r>
              <a:rPr lang="en-US" sz="1400" dirty="0">
                <a:solidFill>
                  <a:schemeClr val="tx1"/>
                </a:solidFill>
              </a:rPr>
              <a:t>Cold 24-34, Cairo &amp; Giza compounds, newly married, home decor</a:t>
            </a:r>
            <a:endParaRPr lang="en-US" sz="1100" dirty="0"/>
          </a:p>
          <a:p>
            <a:pPr marL="0" indent="0">
              <a:buNone/>
            </a:pPr>
            <a:r>
              <a:rPr lang="en-US" sz="1100" b="1" dirty="0">
                <a:solidFill>
                  <a:schemeClr val="accent1"/>
                </a:solidFill>
              </a:rPr>
              <a:t>MESSAGE</a:t>
            </a:r>
            <a:endParaRPr lang="en-US" sz="1100" dirty="0"/>
          </a:p>
          <a:p>
            <a:pPr marL="0" indent="0">
              <a:spcAft>
                <a:spcPts val="800"/>
              </a:spcAft>
              <a:buNone/>
            </a:pPr>
            <a:r>
              <a:rPr lang="en-US" sz="1400" dirty="0">
                <a:solidFill>
                  <a:schemeClr val="tx1"/>
                </a:solidFill>
              </a:rPr>
              <a:t>Your first apartment, planned in one afternoon</a:t>
            </a:r>
            <a:endParaRPr lang="en-US" sz="1100" dirty="0"/>
          </a:p>
          <a:p>
            <a:pPr marL="0" indent="0">
              <a:buNone/>
            </a:pPr>
            <a:r>
              <a:rPr lang="en-US" sz="1100" b="1" dirty="0">
                <a:solidFill>
                  <a:schemeClr val="accent1"/>
                </a:solidFill>
              </a:rPr>
              <a:t>KPI</a:t>
            </a:r>
            <a:endParaRPr lang="en-US" sz="1100" dirty="0"/>
          </a:p>
          <a:p>
            <a:pPr marL="0" indent="0">
              <a:spcAft>
                <a:spcPts val="800"/>
              </a:spcAft>
              <a:buNone/>
            </a:pPr>
            <a:r>
              <a:rPr lang="en-US" sz="1400" dirty="0">
                <a:solidFill>
                  <a:schemeClr val="tx1"/>
                </a:solidFill>
              </a:rPr>
              <a:t>CPM · view rate</a:t>
            </a:r>
            <a:endParaRPr lang="en-US" sz="1100" dirty="0"/>
          </a:p>
        </p:txBody>
      </p:sp>
      <p:sp>
        <p:nvSpPr>
          <p:cNvPr id="9" name="arrow-37"/>
          <p:cNvSpPr/>
          <p:nvPr/>
        </p:nvSpPr>
        <p:spPr>
          <a:xfrm>
            <a:off x="3154680" y="1645920"/>
            <a:ext cx="128016" cy="274320"/>
          </a:xfrm>
          <a:prstGeom prst="chevron">
            <a:avLst/>
          </a:prstGeom>
          <a:solidFill>
            <a:schemeClr val="accent5"/>
          </a:solidFill>
          <a:ln/>
        </p:spPr>
      </p:sp>
      <p:sp>
        <p:nvSpPr>
          <p:cNvPr id="10" name="card-38"/>
          <p:cNvSpPr/>
          <p:nvPr/>
        </p:nvSpPr>
        <p:spPr>
          <a:xfrm>
            <a:off x="3328416" y="1371600"/>
            <a:ext cx="2651760" cy="4846320"/>
          </a:xfrm>
          <a:prstGeom prst="roundRect">
            <a:avLst>
              <a:gd name="adj" fmla="val 2759"/>
            </a:avLst>
          </a:prstGeom>
          <a:solidFill>
            <a:schemeClr val="bg2"/>
          </a:solidFill>
          <a:ln/>
        </p:spPr>
      </p:sp>
      <p:sp>
        <p:nvSpPr>
          <p:cNvPr id="11" name="Text 9"/>
          <p:cNvSpPr txBox="1"/>
          <p:nvPr/>
        </p:nvSpPr>
        <p:spPr>
          <a:xfrm>
            <a:off x="3557016" y="1554480"/>
            <a:ext cx="1280160" cy="457200"/>
          </a:xfrm>
          <a:prstGeom prst="rect">
            <a:avLst/>
          </a:prstGeom>
          <a:noFill/>
          <a:ln/>
        </p:spPr>
        <p:txBody>
          <a:bodyPr wrap="square" lIns="0" tIns="0" rIns="0" bIns="0" rtlCol="0" anchor="ctr"/>
          <a:lstStyle/>
          <a:p>
            <a:pPr marL="0" indent="0">
              <a:buNone/>
            </a:pPr>
            <a:r>
              <a:rPr lang="en-US" sz="2400" b="1" dirty="0">
                <a:solidFill>
                  <a:schemeClr val="accent1"/>
                </a:solidFill>
              </a:rPr>
              <a:t>MOFU</a:t>
            </a:r>
            <a:endParaRPr lang="en-US" sz="2400" dirty="0"/>
          </a:p>
        </p:txBody>
      </p:sp>
      <p:sp>
        <p:nvSpPr>
          <p:cNvPr id="12" name="Text 10"/>
          <p:cNvSpPr txBox="1"/>
          <p:nvPr/>
        </p:nvSpPr>
        <p:spPr>
          <a:xfrm>
            <a:off x="4837176" y="1554480"/>
            <a:ext cx="914400" cy="457200"/>
          </a:xfrm>
          <a:prstGeom prst="rect">
            <a:avLst/>
          </a:prstGeom>
          <a:noFill/>
          <a:ln/>
        </p:spPr>
        <p:txBody>
          <a:bodyPr wrap="square" lIns="0" tIns="0" rIns="0" bIns="0" rtlCol="0" anchor="ctr"/>
          <a:lstStyle/>
          <a:p>
            <a:pPr marL="0" indent="0" algn="r">
              <a:buNone/>
            </a:pPr>
            <a:r>
              <a:rPr lang="en-US" sz="2400" b="1" dirty="0">
                <a:solidFill>
                  <a:schemeClr val="accent1"/>
                </a:solidFill>
              </a:rPr>
              <a:t>25%</a:t>
            </a:r>
            <a:endParaRPr lang="en-US" sz="2400" dirty="0"/>
          </a:p>
        </p:txBody>
      </p:sp>
      <p:sp>
        <p:nvSpPr>
          <p:cNvPr id="13" name="Text 11"/>
          <p:cNvSpPr txBox="1"/>
          <p:nvPr/>
        </p:nvSpPr>
        <p:spPr>
          <a:xfrm>
            <a:off x="3557016" y="20116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Consideration</a:t>
            </a:r>
            <a:endParaRPr lang="en-US" sz="1600" dirty="0"/>
          </a:p>
        </p:txBody>
      </p:sp>
      <p:sp>
        <p:nvSpPr>
          <p:cNvPr id="14" name="Text 12"/>
          <p:cNvSpPr txBox="1"/>
          <p:nvPr/>
        </p:nvSpPr>
        <p:spPr>
          <a:xfrm>
            <a:off x="3557016" y="2468880"/>
            <a:ext cx="2194560" cy="3566160"/>
          </a:xfrm>
          <a:prstGeom prst="rect">
            <a:avLst/>
          </a:prstGeom>
          <a:noFill/>
          <a:ln/>
        </p:spPr>
        <p:txBody>
          <a:bodyPr wrap="square" lIns="0" tIns="0" rIns="0" bIns="0" rtlCol="0" anchor="t"/>
          <a:lstStyle/>
          <a:p>
            <a:pPr marL="0" indent="0">
              <a:buNone/>
            </a:pPr>
            <a:r>
              <a:rPr lang="en-US" sz="1100" b="1" dirty="0">
                <a:solidFill>
                  <a:schemeClr val="accent1"/>
                </a:solidFill>
              </a:rPr>
              <a:t>PLATFORMS</a:t>
            </a:r>
            <a:endParaRPr lang="en-US" sz="1100" dirty="0"/>
          </a:p>
          <a:p>
            <a:pPr marL="0" indent="0">
              <a:spcAft>
                <a:spcPts val="800"/>
              </a:spcAft>
              <a:buNone/>
            </a:pPr>
            <a:r>
              <a:rPr lang="en-US" sz="1400" dirty="0">
                <a:solidFill>
                  <a:schemeClr val="tx1"/>
                </a:solidFill>
              </a:rPr>
              <a:t>Meta · Snapchat</a:t>
            </a:r>
            <a:endParaRPr lang="en-US" sz="1100" dirty="0"/>
          </a:p>
          <a:p>
            <a:pPr marL="0" indent="0">
              <a:buNone/>
            </a:pPr>
            <a:r>
              <a:rPr lang="en-US" sz="1100" b="1" dirty="0">
                <a:solidFill>
                  <a:schemeClr val="accent1"/>
                </a:solidFill>
              </a:rPr>
              <a:t>AUDIENCE</a:t>
            </a:r>
            <a:endParaRPr lang="en-US" sz="1100" dirty="0"/>
          </a:p>
          <a:p>
            <a:pPr marL="0" indent="0">
              <a:spcAft>
                <a:spcPts val="800"/>
              </a:spcAft>
              <a:buNone/>
            </a:pPr>
            <a:r>
              <a:rPr lang="en-US" sz="1400" dirty="0">
                <a:solidFill>
                  <a:schemeClr val="tx1"/>
                </a:solidFill>
              </a:rPr>
              <a:t>Video viewers 50%, engagers 60d, 1% lookalike of buyers</a:t>
            </a:r>
            <a:endParaRPr lang="en-US" sz="1100" dirty="0"/>
          </a:p>
          <a:p>
            <a:pPr marL="0" indent="0">
              <a:buNone/>
            </a:pPr>
            <a:r>
              <a:rPr lang="en-US" sz="1100" b="1" dirty="0">
                <a:solidFill>
                  <a:schemeClr val="accent1"/>
                </a:solidFill>
              </a:rPr>
              <a:t>MESSAGE</a:t>
            </a:r>
            <a:endParaRPr lang="en-US" sz="1100" dirty="0"/>
          </a:p>
          <a:p>
            <a:pPr marL="0" indent="0">
              <a:spcAft>
                <a:spcPts val="800"/>
              </a:spcAft>
              <a:buNone/>
            </a:pPr>
            <a:r>
              <a:rPr lang="en-US" sz="1400" dirty="0">
                <a:solidFill>
                  <a:schemeClr val="tx1"/>
                </a:solidFill>
              </a:rPr>
              <a:t>Fixed price, delivered on the day we promise</a:t>
            </a:r>
            <a:endParaRPr lang="en-US" sz="1100" dirty="0"/>
          </a:p>
          <a:p>
            <a:pPr marL="0" indent="0">
              <a:buNone/>
            </a:pPr>
            <a:r>
              <a:rPr lang="en-US" sz="1100" b="1" dirty="0">
                <a:solidFill>
                  <a:schemeClr val="accent1"/>
                </a:solidFill>
              </a:rPr>
              <a:t>KPI</a:t>
            </a:r>
            <a:endParaRPr lang="en-US" sz="1100" dirty="0"/>
          </a:p>
          <a:p>
            <a:pPr marL="0" indent="0">
              <a:spcAft>
                <a:spcPts val="800"/>
              </a:spcAft>
              <a:buNone/>
            </a:pPr>
            <a:r>
              <a:rPr lang="en-US" sz="1400" dirty="0">
                <a:solidFill>
                  <a:schemeClr val="tx1"/>
                </a:solidFill>
              </a:rPr>
              <a:t>CTR · CPC · planner starts</a:t>
            </a:r>
            <a:endParaRPr lang="en-US" sz="1100" dirty="0"/>
          </a:p>
        </p:txBody>
      </p:sp>
      <p:sp>
        <p:nvSpPr>
          <p:cNvPr id="15" name="arrow-39"/>
          <p:cNvSpPr/>
          <p:nvPr/>
        </p:nvSpPr>
        <p:spPr>
          <a:xfrm>
            <a:off x="6025896" y="1645920"/>
            <a:ext cx="128016" cy="274320"/>
          </a:xfrm>
          <a:prstGeom prst="chevron">
            <a:avLst/>
          </a:prstGeom>
          <a:solidFill>
            <a:schemeClr val="accent5"/>
          </a:solidFill>
          <a:ln/>
        </p:spPr>
      </p:sp>
      <p:sp>
        <p:nvSpPr>
          <p:cNvPr id="16" name="card-40"/>
          <p:cNvSpPr/>
          <p:nvPr/>
        </p:nvSpPr>
        <p:spPr>
          <a:xfrm>
            <a:off x="6199632" y="1371600"/>
            <a:ext cx="2651760" cy="4846320"/>
          </a:xfrm>
          <a:prstGeom prst="roundRect">
            <a:avLst>
              <a:gd name="adj" fmla="val 2759"/>
            </a:avLst>
          </a:prstGeom>
          <a:solidFill>
            <a:schemeClr val="accent1"/>
          </a:solidFill>
          <a:ln/>
        </p:spPr>
      </p:sp>
      <p:sp>
        <p:nvSpPr>
          <p:cNvPr id="17" name="Text 15"/>
          <p:cNvSpPr txBox="1"/>
          <p:nvPr/>
        </p:nvSpPr>
        <p:spPr>
          <a:xfrm>
            <a:off x="6428232" y="1554480"/>
            <a:ext cx="1280160" cy="457200"/>
          </a:xfrm>
          <a:prstGeom prst="rect">
            <a:avLst/>
          </a:prstGeom>
          <a:noFill/>
          <a:ln/>
        </p:spPr>
        <p:txBody>
          <a:bodyPr wrap="square" lIns="0" tIns="0" rIns="0" bIns="0" rtlCol="0" anchor="ctr"/>
          <a:lstStyle/>
          <a:p>
            <a:pPr marL="0" indent="0">
              <a:buNone/>
            </a:pPr>
            <a:r>
              <a:rPr lang="en-US" sz="2400" b="1" dirty="0">
                <a:solidFill>
                  <a:schemeClr val="accent2"/>
                </a:solidFill>
              </a:rPr>
              <a:t>BOFU</a:t>
            </a:r>
            <a:endParaRPr lang="en-US" sz="2400" dirty="0"/>
          </a:p>
        </p:txBody>
      </p:sp>
      <p:sp>
        <p:nvSpPr>
          <p:cNvPr id="18" name="Text 16"/>
          <p:cNvSpPr txBox="1"/>
          <p:nvPr/>
        </p:nvSpPr>
        <p:spPr>
          <a:xfrm>
            <a:off x="7708392" y="1554480"/>
            <a:ext cx="914400" cy="457200"/>
          </a:xfrm>
          <a:prstGeom prst="rect">
            <a:avLst/>
          </a:prstGeom>
          <a:noFill/>
          <a:ln/>
        </p:spPr>
        <p:txBody>
          <a:bodyPr wrap="square" lIns="0" tIns="0" rIns="0" bIns="0" rtlCol="0" anchor="ctr"/>
          <a:lstStyle/>
          <a:p>
            <a:pPr marL="0" indent="0" algn="r">
              <a:buNone/>
            </a:pPr>
            <a:r>
              <a:rPr lang="en-US" sz="2400" b="1" dirty="0">
                <a:solidFill>
                  <a:schemeClr val="accent2"/>
                </a:solidFill>
              </a:rPr>
              <a:t>50%</a:t>
            </a:r>
            <a:endParaRPr lang="en-US" sz="2400" dirty="0"/>
          </a:p>
        </p:txBody>
      </p:sp>
      <p:sp>
        <p:nvSpPr>
          <p:cNvPr id="19" name="Text 17"/>
          <p:cNvSpPr txBox="1"/>
          <p:nvPr/>
        </p:nvSpPr>
        <p:spPr>
          <a:xfrm>
            <a:off x="6428232" y="2011680"/>
            <a:ext cx="2194560" cy="320040"/>
          </a:xfrm>
          <a:prstGeom prst="rect">
            <a:avLst/>
          </a:prstGeom>
          <a:noFill/>
          <a:ln/>
        </p:spPr>
        <p:txBody>
          <a:bodyPr wrap="square" lIns="0" tIns="0" rIns="0" bIns="0" rtlCol="0" anchor="ctr"/>
          <a:lstStyle/>
          <a:p>
            <a:pPr marL="0" indent="0">
              <a:buNone/>
            </a:pPr>
            <a:r>
              <a:rPr lang="en-US" sz="1600" b="1" dirty="0">
                <a:solidFill>
                  <a:schemeClr val="bg1"/>
                </a:solidFill>
              </a:rPr>
              <a:t>Conversion</a:t>
            </a:r>
            <a:endParaRPr lang="en-US" sz="1600" dirty="0"/>
          </a:p>
        </p:txBody>
      </p:sp>
      <p:sp>
        <p:nvSpPr>
          <p:cNvPr id="20" name="Text 18"/>
          <p:cNvSpPr txBox="1"/>
          <p:nvPr/>
        </p:nvSpPr>
        <p:spPr>
          <a:xfrm>
            <a:off x="6428232" y="2468880"/>
            <a:ext cx="2194560" cy="3566160"/>
          </a:xfrm>
          <a:prstGeom prst="rect">
            <a:avLst/>
          </a:prstGeom>
          <a:noFill/>
          <a:ln/>
        </p:spPr>
        <p:txBody>
          <a:bodyPr wrap="square" lIns="0" tIns="0" rIns="0" bIns="0" rtlCol="0" anchor="t"/>
          <a:lstStyle/>
          <a:p>
            <a:pPr marL="0" indent="0">
              <a:buNone/>
            </a:pPr>
            <a:r>
              <a:rPr lang="en-US" sz="1100" b="1" dirty="0">
                <a:solidFill>
                  <a:schemeClr val="accent2"/>
                </a:solidFill>
              </a:rPr>
              <a:t>PLATFORMS</a:t>
            </a:r>
            <a:endParaRPr lang="en-US" sz="1100" dirty="0"/>
          </a:p>
          <a:p>
            <a:pPr marL="0" indent="0">
              <a:spcAft>
                <a:spcPts val="800"/>
              </a:spcAft>
              <a:buNone/>
            </a:pPr>
            <a:r>
              <a:rPr lang="en-US" sz="1400" dirty="0">
                <a:solidFill>
                  <a:schemeClr val="bg1"/>
                </a:solidFill>
              </a:rPr>
              <a:t>Google Search · PMax · Meta retargeting</a:t>
            </a:r>
            <a:endParaRPr lang="en-US" sz="1100" dirty="0"/>
          </a:p>
          <a:p>
            <a:pPr marL="0" indent="0">
              <a:buNone/>
            </a:pPr>
            <a:r>
              <a:rPr lang="en-US" sz="1100" b="1" dirty="0">
                <a:solidFill>
                  <a:schemeClr val="accent2"/>
                </a:solidFill>
              </a:rPr>
              <a:t>AUDIENCE</a:t>
            </a:r>
            <a:endParaRPr lang="en-US" sz="1100" dirty="0"/>
          </a:p>
          <a:p>
            <a:pPr marL="0" indent="0">
              <a:spcAft>
                <a:spcPts val="800"/>
              </a:spcAft>
              <a:buNone/>
            </a:pPr>
            <a:r>
              <a:rPr lang="en-US" sz="1400" dirty="0">
                <a:solidFill>
                  <a:schemeClr val="bg1"/>
                </a:solidFill>
              </a:rPr>
              <a:t>High-intent keywords, product feed, viewers 30d, carts 14d</a:t>
            </a:r>
            <a:endParaRPr lang="en-US" sz="1100" dirty="0"/>
          </a:p>
          <a:p>
            <a:pPr marL="0" indent="0">
              <a:buNone/>
            </a:pPr>
            <a:r>
              <a:rPr lang="en-US" sz="1100" b="1" dirty="0">
                <a:solidFill>
                  <a:schemeClr val="accent2"/>
                </a:solidFill>
              </a:rPr>
              <a:t>MESSAGE</a:t>
            </a:r>
            <a:endParaRPr lang="en-US" sz="1100" dirty="0"/>
          </a:p>
          <a:p>
            <a:pPr marL="0" indent="0">
              <a:spcAft>
                <a:spcPts val="800"/>
              </a:spcAft>
              <a:buNone/>
            </a:pPr>
            <a:r>
              <a:rPr lang="en-US" sz="1400" dirty="0">
                <a:solidFill>
                  <a:schemeClr val="bg1"/>
                </a:solidFill>
              </a:rPr>
              <a:t>The full bundle, delivered and assembled, risk-free</a:t>
            </a:r>
            <a:endParaRPr lang="en-US" sz="1100" dirty="0"/>
          </a:p>
          <a:p>
            <a:pPr marL="0" indent="0">
              <a:buNone/>
            </a:pPr>
            <a:r>
              <a:rPr lang="en-US" sz="1100" b="1" dirty="0">
                <a:solidFill>
                  <a:schemeClr val="accent2"/>
                </a:solidFill>
              </a:rPr>
              <a:t>KPI</a:t>
            </a:r>
            <a:endParaRPr lang="en-US" sz="1100" dirty="0"/>
          </a:p>
          <a:p>
            <a:pPr marL="0" indent="0">
              <a:spcAft>
                <a:spcPts val="800"/>
              </a:spcAft>
              <a:buNone/>
            </a:pPr>
            <a:r>
              <a:rPr lang="en-US" sz="1400" dirty="0">
                <a:solidFill>
                  <a:schemeClr val="bg1"/>
                </a:solidFill>
              </a:rPr>
              <a:t>CVR · CPA · ROAS</a:t>
            </a:r>
            <a:endParaRPr lang="en-US" sz="1100" dirty="0"/>
          </a:p>
        </p:txBody>
      </p:sp>
      <p:sp>
        <p:nvSpPr>
          <p:cNvPr id="21" name="arrow-41"/>
          <p:cNvSpPr/>
          <p:nvPr/>
        </p:nvSpPr>
        <p:spPr>
          <a:xfrm>
            <a:off x="8897112" y="1645920"/>
            <a:ext cx="128016" cy="274320"/>
          </a:xfrm>
          <a:prstGeom prst="chevron">
            <a:avLst/>
          </a:prstGeom>
          <a:solidFill>
            <a:schemeClr val="accent5"/>
          </a:solidFill>
          <a:ln/>
        </p:spPr>
      </p:sp>
      <p:sp>
        <p:nvSpPr>
          <p:cNvPr id="22" name="card-42"/>
          <p:cNvSpPr/>
          <p:nvPr/>
        </p:nvSpPr>
        <p:spPr>
          <a:xfrm>
            <a:off x="9070848" y="1371600"/>
            <a:ext cx="2651760" cy="4846320"/>
          </a:xfrm>
          <a:prstGeom prst="roundRect">
            <a:avLst>
              <a:gd name="adj" fmla="val 2759"/>
            </a:avLst>
          </a:prstGeom>
          <a:solidFill>
            <a:schemeClr val="bg2"/>
          </a:solidFill>
          <a:ln/>
        </p:spPr>
      </p:sp>
      <p:sp>
        <p:nvSpPr>
          <p:cNvPr id="23" name="Text 21"/>
          <p:cNvSpPr txBox="1"/>
          <p:nvPr/>
        </p:nvSpPr>
        <p:spPr>
          <a:xfrm>
            <a:off x="9299448" y="1554480"/>
            <a:ext cx="1280160" cy="457200"/>
          </a:xfrm>
          <a:prstGeom prst="rect">
            <a:avLst/>
          </a:prstGeom>
          <a:noFill/>
          <a:ln/>
        </p:spPr>
        <p:txBody>
          <a:bodyPr wrap="square" lIns="0" tIns="0" rIns="0" bIns="0" rtlCol="0" anchor="ctr"/>
          <a:lstStyle/>
          <a:p>
            <a:pPr marL="0" indent="0">
              <a:buNone/>
            </a:pPr>
            <a:r>
              <a:rPr lang="en-US" sz="2400" b="1" dirty="0">
                <a:solidFill>
                  <a:schemeClr val="accent1"/>
                </a:solidFill>
              </a:rPr>
              <a:t>CARE</a:t>
            </a:r>
            <a:endParaRPr lang="en-US" sz="2400" dirty="0"/>
          </a:p>
        </p:txBody>
      </p:sp>
      <p:sp>
        <p:nvSpPr>
          <p:cNvPr id="24" name="Text 22"/>
          <p:cNvSpPr txBox="1"/>
          <p:nvPr/>
        </p:nvSpPr>
        <p:spPr>
          <a:xfrm>
            <a:off x="10579608" y="1554480"/>
            <a:ext cx="914400" cy="457200"/>
          </a:xfrm>
          <a:prstGeom prst="rect">
            <a:avLst/>
          </a:prstGeom>
          <a:noFill/>
          <a:ln/>
        </p:spPr>
        <p:txBody>
          <a:bodyPr wrap="square" lIns="0" tIns="0" rIns="0" bIns="0" rtlCol="0" anchor="ctr"/>
          <a:lstStyle/>
          <a:p>
            <a:pPr marL="0" indent="0" algn="r">
              <a:buNone/>
            </a:pPr>
            <a:r>
              <a:rPr lang="en-US" sz="2400" b="1" dirty="0">
                <a:solidFill>
                  <a:schemeClr val="accent1"/>
                </a:solidFill>
              </a:rPr>
              <a:t>5%</a:t>
            </a:r>
            <a:endParaRPr lang="en-US" sz="2400" dirty="0"/>
          </a:p>
        </p:txBody>
      </p:sp>
      <p:sp>
        <p:nvSpPr>
          <p:cNvPr id="25" name="Text 23"/>
          <p:cNvSpPr txBox="1"/>
          <p:nvPr/>
        </p:nvSpPr>
        <p:spPr>
          <a:xfrm>
            <a:off x="9299448" y="20116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Retention</a:t>
            </a:r>
            <a:endParaRPr lang="en-US" sz="1600" dirty="0"/>
          </a:p>
        </p:txBody>
      </p:sp>
      <p:sp>
        <p:nvSpPr>
          <p:cNvPr id="26" name="Text 24"/>
          <p:cNvSpPr txBox="1"/>
          <p:nvPr/>
        </p:nvSpPr>
        <p:spPr>
          <a:xfrm>
            <a:off x="9299448" y="2468880"/>
            <a:ext cx="2194560" cy="3566160"/>
          </a:xfrm>
          <a:prstGeom prst="rect">
            <a:avLst/>
          </a:prstGeom>
          <a:noFill/>
          <a:ln/>
        </p:spPr>
        <p:txBody>
          <a:bodyPr wrap="square" lIns="0" tIns="0" rIns="0" bIns="0" rtlCol="0" anchor="t"/>
          <a:lstStyle/>
          <a:p>
            <a:pPr marL="0" indent="0">
              <a:buNone/>
            </a:pPr>
            <a:r>
              <a:rPr lang="en-US" sz="1100" b="1" dirty="0">
                <a:solidFill>
                  <a:schemeClr val="accent1"/>
                </a:solidFill>
              </a:rPr>
              <a:t>PLATFORMS</a:t>
            </a:r>
            <a:endParaRPr lang="en-US" sz="1100" dirty="0"/>
          </a:p>
          <a:p>
            <a:pPr marL="0" indent="0">
              <a:spcAft>
                <a:spcPts val="800"/>
              </a:spcAft>
              <a:buNone/>
            </a:pPr>
            <a:r>
              <a:rPr lang="en-US" sz="1400" dirty="0">
                <a:solidFill>
                  <a:schemeClr val="tx1"/>
                </a:solidFill>
              </a:rPr>
              <a:t>Email · WhatsApp</a:t>
            </a:r>
            <a:endParaRPr lang="en-US" sz="1100" dirty="0"/>
          </a:p>
          <a:p>
            <a:pPr marL="0" indent="0">
              <a:buNone/>
            </a:pPr>
            <a:r>
              <a:rPr lang="en-US" sz="1100" b="1" dirty="0">
                <a:solidFill>
                  <a:schemeClr val="accent1"/>
                </a:solidFill>
              </a:rPr>
              <a:t>AUDIENCE</a:t>
            </a:r>
            <a:endParaRPr lang="en-US" sz="1100" dirty="0"/>
          </a:p>
          <a:p>
            <a:pPr marL="0" indent="0">
              <a:spcAft>
                <a:spcPts val="800"/>
              </a:spcAft>
              <a:buNone/>
            </a:pPr>
            <a:r>
              <a:rPr lang="en-US" sz="1400" dirty="0">
                <a:solidFill>
                  <a:schemeClr val="tx1"/>
                </a:solidFill>
              </a:rPr>
              <a:t>Buyers 7-180d, IKEA Family, abandoned checkout 3d</a:t>
            </a:r>
            <a:endParaRPr lang="en-US" sz="1100" dirty="0"/>
          </a:p>
          <a:p>
            <a:pPr marL="0" indent="0">
              <a:buNone/>
            </a:pPr>
            <a:r>
              <a:rPr lang="en-US" sz="1100" b="1" dirty="0">
                <a:solidFill>
                  <a:schemeClr val="accent1"/>
                </a:solidFill>
              </a:rPr>
              <a:t>MESSAGE</a:t>
            </a:r>
            <a:endParaRPr lang="en-US" sz="1100" dirty="0"/>
          </a:p>
          <a:p>
            <a:pPr marL="0" indent="0">
              <a:spcAft>
                <a:spcPts val="800"/>
              </a:spcAft>
              <a:buNone/>
            </a:pPr>
            <a:r>
              <a:rPr lang="en-US" sz="1400" dirty="0">
                <a:solidFill>
                  <a:schemeClr val="tx1"/>
                </a:solidFill>
              </a:rPr>
              <a:t>Full Apartment Plan: the next room, same easy delivery</a:t>
            </a:r>
            <a:endParaRPr lang="en-US" sz="1100" dirty="0"/>
          </a:p>
          <a:p>
            <a:pPr marL="0" indent="0">
              <a:buNone/>
            </a:pPr>
            <a:r>
              <a:rPr lang="en-US" sz="1100" b="1" dirty="0">
                <a:solidFill>
                  <a:schemeClr val="accent1"/>
                </a:solidFill>
              </a:rPr>
              <a:t>KPI</a:t>
            </a:r>
            <a:endParaRPr lang="en-US" sz="1100" dirty="0"/>
          </a:p>
          <a:p>
            <a:pPr marL="0" indent="0">
              <a:spcAft>
                <a:spcPts val="800"/>
              </a:spcAft>
              <a:buNone/>
            </a:pPr>
            <a:r>
              <a:rPr lang="en-US" sz="1400" dirty="0">
                <a:solidFill>
                  <a:schemeClr val="tx1"/>
                </a:solidFill>
              </a:rPr>
              <a:t>Repeat rate · ROAS</a:t>
            </a:r>
            <a:endParaRPr lang="en-US" sz="1100" dirty="0"/>
          </a:p>
        </p:txBody>
      </p:sp>
      <p:sp>
        <p:nvSpPr>
          <p:cNvPr id="27"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AUDIENCE &amp; RETARGETING</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Cold fills warm, warm fills hot, hot pays for it all</a:t>
            </a:r>
            <a:endParaRPr lang="en-US" sz="2800" dirty="0"/>
          </a:p>
        </p:txBody>
      </p:sp>
      <p:sp>
        <p:nvSpPr>
          <p:cNvPr id="4" name="card-43"/>
          <p:cNvSpPr/>
          <p:nvPr/>
        </p:nvSpPr>
        <p:spPr>
          <a:xfrm>
            <a:off x="457200" y="1325880"/>
            <a:ext cx="2651760" cy="3154680"/>
          </a:xfrm>
          <a:prstGeom prst="roundRect">
            <a:avLst>
              <a:gd name="adj" fmla="val 2759"/>
            </a:avLst>
          </a:prstGeom>
          <a:solidFill>
            <a:schemeClr val="bg2"/>
          </a:solidFill>
          <a:ln/>
        </p:spPr>
      </p:sp>
      <p:sp>
        <p:nvSpPr>
          <p:cNvPr id="5" name="Text 3"/>
          <p:cNvSpPr txBox="1"/>
          <p:nvPr/>
        </p:nvSpPr>
        <p:spPr>
          <a:xfrm>
            <a:off x="658368" y="1463040"/>
            <a:ext cx="2286000" cy="411480"/>
          </a:xfrm>
          <a:prstGeom prst="rect">
            <a:avLst/>
          </a:prstGeom>
          <a:noFill/>
          <a:ln/>
        </p:spPr>
        <p:txBody>
          <a:bodyPr wrap="square" lIns="0" tIns="0" rIns="0" bIns="0" rtlCol="0" anchor="ctr"/>
          <a:lstStyle/>
          <a:p>
            <a:pPr marL="0" indent="0">
              <a:buNone/>
            </a:pPr>
            <a:r>
              <a:rPr lang="en-US" sz="2000" b="1" dirty="0">
                <a:solidFill>
                  <a:schemeClr val="accent1"/>
                </a:solidFill>
              </a:rPr>
              <a:t>COLD</a:t>
            </a:r>
            <a:endParaRPr lang="en-US" sz="2000" dirty="0"/>
          </a:p>
        </p:txBody>
      </p:sp>
      <p:sp>
        <p:nvSpPr>
          <p:cNvPr id="6" name="Text 4"/>
          <p:cNvSpPr txBox="1"/>
          <p:nvPr/>
        </p:nvSpPr>
        <p:spPr>
          <a:xfrm>
            <a:off x="658368" y="1920240"/>
            <a:ext cx="2249424" cy="246888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Interests + 1% lookalike of buyers, 24-34, compounds</a:t>
            </a:r>
            <a:endParaRPr lang="en-US" sz="1400" dirty="0"/>
          </a:p>
          <a:p>
            <a:pPr marL="0" indent="0">
              <a:spcAft>
                <a:spcPts val="600"/>
              </a:spcAft>
              <a:buNone/>
            </a:pPr>
            <a:r>
              <a:rPr lang="en-US" sz="1400" b="1" dirty="0">
                <a:solidFill>
                  <a:schemeClr val="tx1"/>
                </a:solidFill>
              </a:rPr>
              <a:t>TikTok · YouTube · Snapchat</a:t>
            </a:r>
            <a:endParaRPr lang="en-US" sz="1400" dirty="0"/>
          </a:p>
          <a:p>
            <a:pPr marL="0" indent="0">
              <a:buNone/>
            </a:pPr>
            <a:r>
              <a:rPr lang="en-US" sz="1400" dirty="0">
                <a:solidFill>
                  <a:schemeClr val="tx1"/>
                </a:solidFill>
              </a:rPr>
              <a:t>Cap 2 / week · Problem + aspiration</a:t>
            </a:r>
            <a:endParaRPr lang="en-US" sz="1400" dirty="0"/>
          </a:p>
        </p:txBody>
      </p:sp>
      <p:sp>
        <p:nvSpPr>
          <p:cNvPr id="7" name="arrow-44"/>
          <p:cNvSpPr/>
          <p:nvPr/>
        </p:nvSpPr>
        <p:spPr>
          <a:xfrm>
            <a:off x="3154680" y="2697480"/>
            <a:ext cx="128016" cy="274320"/>
          </a:xfrm>
          <a:prstGeom prst="chevron">
            <a:avLst/>
          </a:prstGeom>
          <a:solidFill>
            <a:schemeClr val="accent5"/>
          </a:solidFill>
          <a:ln/>
        </p:spPr>
      </p:sp>
      <p:sp>
        <p:nvSpPr>
          <p:cNvPr id="8" name="card-45"/>
          <p:cNvSpPr/>
          <p:nvPr/>
        </p:nvSpPr>
        <p:spPr>
          <a:xfrm>
            <a:off x="3328416" y="1325880"/>
            <a:ext cx="2651760" cy="3154680"/>
          </a:xfrm>
          <a:prstGeom prst="roundRect">
            <a:avLst>
              <a:gd name="adj" fmla="val 2759"/>
            </a:avLst>
          </a:prstGeom>
          <a:solidFill>
            <a:schemeClr val="bg2"/>
          </a:solidFill>
          <a:ln/>
        </p:spPr>
      </p:sp>
      <p:sp>
        <p:nvSpPr>
          <p:cNvPr id="9" name="Text 7"/>
          <p:cNvSpPr txBox="1"/>
          <p:nvPr/>
        </p:nvSpPr>
        <p:spPr>
          <a:xfrm>
            <a:off x="3529584" y="1463040"/>
            <a:ext cx="2286000" cy="411480"/>
          </a:xfrm>
          <a:prstGeom prst="rect">
            <a:avLst/>
          </a:prstGeom>
          <a:noFill/>
          <a:ln/>
        </p:spPr>
        <p:txBody>
          <a:bodyPr wrap="square" lIns="0" tIns="0" rIns="0" bIns="0" rtlCol="0" anchor="ctr"/>
          <a:lstStyle/>
          <a:p>
            <a:pPr marL="0" indent="0">
              <a:buNone/>
            </a:pPr>
            <a:r>
              <a:rPr lang="en-US" sz="2000" b="1" dirty="0">
                <a:solidFill>
                  <a:schemeClr val="accent1"/>
                </a:solidFill>
              </a:rPr>
              <a:t>WARM</a:t>
            </a:r>
            <a:endParaRPr lang="en-US" sz="2000" dirty="0"/>
          </a:p>
        </p:txBody>
      </p:sp>
      <p:sp>
        <p:nvSpPr>
          <p:cNvPr id="10" name="Text 8"/>
          <p:cNvSpPr txBox="1"/>
          <p:nvPr/>
        </p:nvSpPr>
        <p:spPr>
          <a:xfrm>
            <a:off x="3529584" y="1920240"/>
            <a:ext cx="2249424" cy="246888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Video viewers 50%, engagers, planner starters · 30-60d</a:t>
            </a:r>
            <a:endParaRPr lang="en-US" sz="1400" dirty="0"/>
          </a:p>
          <a:p>
            <a:pPr marL="0" indent="0">
              <a:spcAft>
                <a:spcPts val="600"/>
              </a:spcAft>
              <a:buNone/>
            </a:pPr>
            <a:r>
              <a:rPr lang="en-US" sz="1400" b="1" dirty="0">
                <a:solidFill>
                  <a:schemeClr val="tx1"/>
                </a:solidFill>
              </a:rPr>
              <a:t>Meta prospecting</a:t>
            </a:r>
            <a:endParaRPr lang="en-US" sz="1400" dirty="0"/>
          </a:p>
          <a:p>
            <a:pPr marL="0" indent="0">
              <a:buNone/>
            </a:pPr>
            <a:r>
              <a:rPr lang="en-US" sz="1400" dirty="0">
                <a:solidFill>
                  <a:schemeClr val="tx1"/>
                </a:solidFill>
              </a:rPr>
              <a:t>Cap 3 / week · Proof + delivery promise</a:t>
            </a:r>
            <a:endParaRPr lang="en-US" sz="1400" dirty="0"/>
          </a:p>
        </p:txBody>
      </p:sp>
      <p:sp>
        <p:nvSpPr>
          <p:cNvPr id="11" name="arrow-46"/>
          <p:cNvSpPr/>
          <p:nvPr/>
        </p:nvSpPr>
        <p:spPr>
          <a:xfrm>
            <a:off x="6025896" y="2697480"/>
            <a:ext cx="128016" cy="274320"/>
          </a:xfrm>
          <a:prstGeom prst="chevron">
            <a:avLst/>
          </a:prstGeom>
          <a:solidFill>
            <a:schemeClr val="accent5"/>
          </a:solidFill>
          <a:ln/>
        </p:spPr>
      </p:sp>
      <p:sp>
        <p:nvSpPr>
          <p:cNvPr id="12" name="card-47"/>
          <p:cNvSpPr/>
          <p:nvPr/>
        </p:nvSpPr>
        <p:spPr>
          <a:xfrm>
            <a:off x="6199632" y="1325880"/>
            <a:ext cx="2651760" cy="3154680"/>
          </a:xfrm>
          <a:prstGeom prst="roundRect">
            <a:avLst>
              <a:gd name="adj" fmla="val 2759"/>
            </a:avLst>
          </a:prstGeom>
          <a:solidFill>
            <a:schemeClr val="accent1"/>
          </a:solidFill>
          <a:ln/>
        </p:spPr>
      </p:sp>
      <p:sp>
        <p:nvSpPr>
          <p:cNvPr id="13" name="Text 11"/>
          <p:cNvSpPr txBox="1"/>
          <p:nvPr/>
        </p:nvSpPr>
        <p:spPr>
          <a:xfrm>
            <a:off x="6400800" y="1463040"/>
            <a:ext cx="2286000" cy="411480"/>
          </a:xfrm>
          <a:prstGeom prst="rect">
            <a:avLst/>
          </a:prstGeom>
          <a:noFill/>
          <a:ln/>
        </p:spPr>
        <p:txBody>
          <a:bodyPr wrap="square" lIns="0" tIns="0" rIns="0" bIns="0" rtlCol="0" anchor="ctr"/>
          <a:lstStyle/>
          <a:p>
            <a:pPr marL="0" indent="0">
              <a:buNone/>
            </a:pPr>
            <a:r>
              <a:rPr lang="en-US" sz="2000" b="1" dirty="0">
                <a:solidFill>
                  <a:schemeClr val="accent2"/>
                </a:solidFill>
              </a:rPr>
              <a:t>HOT</a:t>
            </a:r>
            <a:endParaRPr lang="en-US" sz="2000" dirty="0"/>
          </a:p>
        </p:txBody>
      </p:sp>
      <p:sp>
        <p:nvSpPr>
          <p:cNvPr id="14" name="Text 12"/>
          <p:cNvSpPr txBox="1"/>
          <p:nvPr/>
        </p:nvSpPr>
        <p:spPr>
          <a:xfrm>
            <a:off x="6400800" y="1920240"/>
            <a:ext cx="2249424" cy="2468880"/>
          </a:xfrm>
          <a:prstGeom prst="rect">
            <a:avLst/>
          </a:prstGeom>
          <a:noFill/>
          <a:ln/>
        </p:spPr>
        <p:txBody>
          <a:bodyPr wrap="square" lIns="0" tIns="0" rIns="0" bIns="0" rtlCol="0" anchor="t"/>
          <a:lstStyle/>
          <a:p>
            <a:pPr marL="0" indent="0">
              <a:spcAft>
                <a:spcPts val="600"/>
              </a:spcAft>
              <a:buNone/>
            </a:pPr>
            <a:r>
              <a:rPr lang="en-US" sz="1400" dirty="0">
                <a:solidFill>
                  <a:schemeClr val="bg1"/>
                </a:solidFill>
              </a:rPr>
              <a:t>Viewed 30d, cart 14d, checkout 7d, searchers</a:t>
            </a:r>
            <a:endParaRPr lang="en-US" sz="1400" dirty="0"/>
          </a:p>
          <a:p>
            <a:pPr marL="0" indent="0">
              <a:spcAft>
                <a:spcPts val="600"/>
              </a:spcAft>
              <a:buNone/>
            </a:pPr>
            <a:r>
              <a:rPr lang="en-US" sz="1400" b="1" dirty="0">
                <a:solidFill>
                  <a:schemeClr val="bg1"/>
                </a:solidFill>
              </a:rPr>
              <a:t>Meta DPA · Search · PMax</a:t>
            </a:r>
            <a:endParaRPr lang="en-US" sz="1400" dirty="0"/>
          </a:p>
          <a:p>
            <a:pPr marL="0" indent="0">
              <a:buNone/>
            </a:pPr>
            <a:r>
              <a:rPr lang="en-US" sz="1400" dirty="0">
                <a:solidFill>
                  <a:schemeClr val="bg1"/>
                </a:solidFill>
              </a:rPr>
              <a:t>Cap 4-5 / week · Risk reversal + cash on delivery</a:t>
            </a:r>
            <a:endParaRPr lang="en-US" sz="1400" dirty="0"/>
          </a:p>
        </p:txBody>
      </p:sp>
      <p:sp>
        <p:nvSpPr>
          <p:cNvPr id="15" name="arrow-48"/>
          <p:cNvSpPr/>
          <p:nvPr/>
        </p:nvSpPr>
        <p:spPr>
          <a:xfrm>
            <a:off x="8897112" y="2697480"/>
            <a:ext cx="128016" cy="274320"/>
          </a:xfrm>
          <a:prstGeom prst="chevron">
            <a:avLst/>
          </a:prstGeom>
          <a:solidFill>
            <a:schemeClr val="accent5"/>
          </a:solidFill>
          <a:ln/>
        </p:spPr>
      </p:sp>
      <p:sp>
        <p:nvSpPr>
          <p:cNvPr id="16" name="card-49"/>
          <p:cNvSpPr/>
          <p:nvPr/>
        </p:nvSpPr>
        <p:spPr>
          <a:xfrm>
            <a:off x="9070848" y="1325880"/>
            <a:ext cx="2651760" cy="3154680"/>
          </a:xfrm>
          <a:prstGeom prst="roundRect">
            <a:avLst>
              <a:gd name="adj" fmla="val 2759"/>
            </a:avLst>
          </a:prstGeom>
          <a:solidFill>
            <a:schemeClr val="bg2"/>
          </a:solidFill>
          <a:ln/>
        </p:spPr>
      </p:sp>
      <p:sp>
        <p:nvSpPr>
          <p:cNvPr id="17" name="Text 15"/>
          <p:cNvSpPr txBox="1"/>
          <p:nvPr/>
        </p:nvSpPr>
        <p:spPr>
          <a:xfrm>
            <a:off x="9272016" y="1463040"/>
            <a:ext cx="2286000" cy="411480"/>
          </a:xfrm>
          <a:prstGeom prst="rect">
            <a:avLst/>
          </a:prstGeom>
          <a:noFill/>
          <a:ln/>
        </p:spPr>
        <p:txBody>
          <a:bodyPr wrap="square" lIns="0" tIns="0" rIns="0" bIns="0" rtlCol="0" anchor="ctr"/>
          <a:lstStyle/>
          <a:p>
            <a:pPr marL="0" indent="0">
              <a:buNone/>
            </a:pPr>
            <a:r>
              <a:rPr lang="en-US" sz="2000" b="1" dirty="0">
                <a:solidFill>
                  <a:schemeClr val="accent1"/>
                </a:solidFill>
              </a:rPr>
              <a:t>CUSTOMERS</a:t>
            </a:r>
            <a:endParaRPr lang="en-US" sz="2000" dirty="0"/>
          </a:p>
        </p:txBody>
      </p:sp>
      <p:sp>
        <p:nvSpPr>
          <p:cNvPr id="18" name="Text 16"/>
          <p:cNvSpPr txBox="1"/>
          <p:nvPr/>
        </p:nvSpPr>
        <p:spPr>
          <a:xfrm>
            <a:off x="9272016" y="1920240"/>
            <a:ext cx="2249424" cy="246888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Buyers 7-180d, IKEA Family</a:t>
            </a:r>
            <a:endParaRPr lang="en-US" sz="1400" dirty="0"/>
          </a:p>
          <a:p>
            <a:pPr marL="0" indent="0">
              <a:spcAft>
                <a:spcPts val="600"/>
              </a:spcAft>
              <a:buNone/>
            </a:pPr>
            <a:r>
              <a:rPr lang="en-US" sz="1400" b="1" dirty="0">
                <a:solidFill>
                  <a:schemeClr val="tx1"/>
                </a:solidFill>
              </a:rPr>
              <a:t>Email · WhatsApp</a:t>
            </a:r>
            <a:endParaRPr lang="en-US" sz="1400" dirty="0"/>
          </a:p>
          <a:p>
            <a:pPr marL="0" indent="0">
              <a:buNone/>
            </a:pPr>
            <a:r>
              <a:rPr lang="en-US" sz="1400" dirty="0">
                <a:solidFill>
                  <a:schemeClr val="tx1"/>
                </a:solidFill>
              </a:rPr>
              <a:t>Cap 1-2 / week · Room #2: Full Apartment Plan</a:t>
            </a:r>
            <a:endParaRPr lang="en-US" sz="1400" dirty="0"/>
          </a:p>
        </p:txBody>
      </p:sp>
      <p:sp>
        <p:nvSpPr>
          <p:cNvPr id="19" name="Text 17"/>
          <p:cNvSpPr txBox="1"/>
          <p:nvPr/>
        </p:nvSpPr>
        <p:spPr>
          <a:xfrm>
            <a:off x="457200" y="4663440"/>
            <a:ext cx="10972800" cy="320040"/>
          </a:xfrm>
          <a:prstGeom prst="rect">
            <a:avLst/>
          </a:prstGeom>
          <a:noFill/>
          <a:ln/>
        </p:spPr>
        <p:txBody>
          <a:bodyPr wrap="square" lIns="0" tIns="0" rIns="0" bIns="0" rtlCol="0" anchor="ctr"/>
          <a:lstStyle/>
          <a:p>
            <a:pPr marL="0" indent="0">
              <a:buNone/>
            </a:pPr>
            <a:r>
              <a:rPr lang="en-US" sz="1500" b="1" dirty="0">
                <a:solidFill>
                  <a:schemeClr val="tx1"/>
                </a:solidFill>
              </a:rPr>
              <a:t>Hot-path retargeting sequence (days since last action)</a:t>
            </a:r>
            <a:endParaRPr lang="en-US" sz="1500" dirty="0"/>
          </a:p>
        </p:txBody>
      </p:sp>
      <p:sp>
        <p:nvSpPr>
          <p:cNvPr id="20" name="card-50"/>
          <p:cNvSpPr/>
          <p:nvPr/>
        </p:nvSpPr>
        <p:spPr>
          <a:xfrm>
            <a:off x="457200" y="5074920"/>
            <a:ext cx="2148840" cy="1143000"/>
          </a:xfrm>
          <a:prstGeom prst="roundRect">
            <a:avLst>
              <a:gd name="adj" fmla="val 6400"/>
            </a:avLst>
          </a:prstGeom>
          <a:solidFill>
            <a:schemeClr val="bg2"/>
          </a:solidFill>
          <a:ln/>
        </p:spPr>
      </p:sp>
      <p:sp>
        <p:nvSpPr>
          <p:cNvPr id="21" name="Text 19"/>
          <p:cNvSpPr txBox="1"/>
          <p:nvPr/>
        </p:nvSpPr>
        <p:spPr>
          <a:xfrm>
            <a:off x="594360" y="5120640"/>
            <a:ext cx="1874520" cy="1051560"/>
          </a:xfrm>
          <a:prstGeom prst="rect">
            <a:avLst/>
          </a:prstGeom>
          <a:noFill/>
          <a:ln/>
        </p:spPr>
        <p:txBody>
          <a:bodyPr wrap="square" lIns="0" tIns="0" rIns="0" bIns="0" rtlCol="0" anchor="ctr"/>
          <a:lstStyle/>
          <a:p>
            <a:pPr marL="0" indent="0">
              <a:buNone/>
            </a:pPr>
            <a:r>
              <a:rPr lang="en-US" sz="1400" b="1" dirty="0">
                <a:solidFill>
                  <a:schemeClr val="accent1"/>
                </a:solidFill>
              </a:rPr>
              <a:t>Day 0-1</a:t>
            </a:r>
            <a:endParaRPr lang="en-US" sz="1400" dirty="0"/>
          </a:p>
          <a:p>
            <a:pPr marL="0" indent="0">
              <a:buNone/>
            </a:pPr>
            <a:r>
              <a:rPr lang="en-US" sz="1300" dirty="0">
                <a:solidFill>
                  <a:schemeClr val="tx1"/>
                </a:solidFill>
              </a:rPr>
              <a:t>Checkout left → WhatsApp: hold your delivery date</a:t>
            </a:r>
            <a:endParaRPr lang="en-US" sz="1400" dirty="0"/>
          </a:p>
        </p:txBody>
      </p:sp>
      <p:sp>
        <p:nvSpPr>
          <p:cNvPr id="22" name="card-51"/>
          <p:cNvSpPr/>
          <p:nvPr/>
        </p:nvSpPr>
        <p:spPr>
          <a:xfrm>
            <a:off x="2738628" y="5074920"/>
            <a:ext cx="2148840" cy="1143000"/>
          </a:xfrm>
          <a:prstGeom prst="roundRect">
            <a:avLst>
              <a:gd name="adj" fmla="val 6400"/>
            </a:avLst>
          </a:prstGeom>
          <a:solidFill>
            <a:schemeClr val="bg2"/>
          </a:solidFill>
          <a:ln/>
        </p:spPr>
      </p:sp>
      <p:sp>
        <p:nvSpPr>
          <p:cNvPr id="23" name="Text 21"/>
          <p:cNvSpPr txBox="1"/>
          <p:nvPr/>
        </p:nvSpPr>
        <p:spPr>
          <a:xfrm>
            <a:off x="2875788" y="5120640"/>
            <a:ext cx="1874520" cy="1051560"/>
          </a:xfrm>
          <a:prstGeom prst="rect">
            <a:avLst/>
          </a:prstGeom>
          <a:noFill/>
          <a:ln/>
        </p:spPr>
        <p:txBody>
          <a:bodyPr wrap="square" lIns="0" tIns="0" rIns="0" bIns="0" rtlCol="0" anchor="ctr"/>
          <a:lstStyle/>
          <a:p>
            <a:pPr marL="0" indent="0">
              <a:buNone/>
            </a:pPr>
            <a:r>
              <a:rPr lang="en-US" sz="1400" b="1" dirty="0">
                <a:solidFill>
                  <a:schemeClr val="accent1"/>
                </a:solidFill>
              </a:rPr>
              <a:t>Day 1-3</a:t>
            </a:r>
            <a:endParaRPr lang="en-US" sz="1400" dirty="0"/>
          </a:p>
          <a:p>
            <a:pPr marL="0" indent="0">
              <a:buNone/>
            </a:pPr>
            <a:r>
              <a:rPr lang="en-US" sz="1300" dirty="0">
                <a:solidFill>
                  <a:schemeClr val="tx1"/>
                </a:solidFill>
              </a:rPr>
              <a:t>Cart → Meta DPA: pay cash on delivery</a:t>
            </a:r>
            <a:endParaRPr lang="en-US" sz="1400" dirty="0"/>
          </a:p>
        </p:txBody>
      </p:sp>
      <p:sp>
        <p:nvSpPr>
          <p:cNvPr id="24" name="card-52"/>
          <p:cNvSpPr/>
          <p:nvPr/>
        </p:nvSpPr>
        <p:spPr>
          <a:xfrm>
            <a:off x="5020056" y="5074920"/>
            <a:ext cx="2148840" cy="1143000"/>
          </a:xfrm>
          <a:prstGeom prst="roundRect">
            <a:avLst>
              <a:gd name="adj" fmla="val 6400"/>
            </a:avLst>
          </a:prstGeom>
          <a:solidFill>
            <a:schemeClr val="bg2"/>
          </a:solidFill>
          <a:ln/>
        </p:spPr>
      </p:sp>
      <p:sp>
        <p:nvSpPr>
          <p:cNvPr id="25" name="Text 23"/>
          <p:cNvSpPr txBox="1"/>
          <p:nvPr/>
        </p:nvSpPr>
        <p:spPr>
          <a:xfrm>
            <a:off x="5157216" y="5120640"/>
            <a:ext cx="1874520" cy="1051560"/>
          </a:xfrm>
          <a:prstGeom prst="rect">
            <a:avLst/>
          </a:prstGeom>
          <a:noFill/>
          <a:ln/>
        </p:spPr>
        <p:txBody>
          <a:bodyPr wrap="square" lIns="0" tIns="0" rIns="0" bIns="0" rtlCol="0" anchor="ctr"/>
          <a:lstStyle/>
          <a:p>
            <a:pPr marL="0" indent="0">
              <a:buNone/>
            </a:pPr>
            <a:r>
              <a:rPr lang="en-US" sz="1400" b="1" dirty="0">
                <a:solidFill>
                  <a:schemeClr val="accent1"/>
                </a:solidFill>
              </a:rPr>
              <a:t>Day 4-14</a:t>
            </a:r>
            <a:endParaRPr lang="en-US" sz="1400" dirty="0"/>
          </a:p>
          <a:p>
            <a:pPr marL="0" indent="0">
              <a:buNone/>
            </a:pPr>
            <a:r>
              <a:rPr lang="en-US" sz="1300" dirty="0">
                <a:solidFill>
                  <a:schemeClr val="tx1"/>
                </a:solidFill>
              </a:rPr>
              <a:t>Delivery guarantee + review</a:t>
            </a:r>
            <a:endParaRPr lang="en-US" sz="1400" dirty="0"/>
          </a:p>
        </p:txBody>
      </p:sp>
      <p:sp>
        <p:nvSpPr>
          <p:cNvPr id="26" name="card-53"/>
          <p:cNvSpPr/>
          <p:nvPr/>
        </p:nvSpPr>
        <p:spPr>
          <a:xfrm>
            <a:off x="7301484" y="5074920"/>
            <a:ext cx="2148840" cy="1143000"/>
          </a:xfrm>
          <a:prstGeom prst="roundRect">
            <a:avLst>
              <a:gd name="adj" fmla="val 6400"/>
            </a:avLst>
          </a:prstGeom>
          <a:solidFill>
            <a:schemeClr val="bg2"/>
          </a:solidFill>
          <a:ln/>
        </p:spPr>
      </p:sp>
      <p:sp>
        <p:nvSpPr>
          <p:cNvPr id="27" name="Text 25"/>
          <p:cNvSpPr txBox="1"/>
          <p:nvPr/>
        </p:nvSpPr>
        <p:spPr>
          <a:xfrm>
            <a:off x="7438644" y="5120640"/>
            <a:ext cx="1874520" cy="1051560"/>
          </a:xfrm>
          <a:prstGeom prst="rect">
            <a:avLst/>
          </a:prstGeom>
          <a:noFill/>
          <a:ln/>
        </p:spPr>
        <p:txBody>
          <a:bodyPr wrap="square" lIns="0" tIns="0" rIns="0" bIns="0" rtlCol="0" anchor="ctr"/>
          <a:lstStyle/>
          <a:p>
            <a:pPr marL="0" indent="0">
              <a:buNone/>
            </a:pPr>
            <a:r>
              <a:rPr lang="en-US" sz="1400" b="1" dirty="0">
                <a:solidFill>
                  <a:schemeClr val="accent1"/>
                </a:solidFill>
              </a:rPr>
              <a:t>Day 15-30</a:t>
            </a:r>
            <a:endParaRPr lang="en-US" sz="1400" dirty="0"/>
          </a:p>
          <a:p>
            <a:pPr marL="0" indent="0">
              <a:buNone/>
            </a:pPr>
            <a:r>
              <a:rPr lang="en-US" sz="1300" dirty="0">
                <a:solidFill>
                  <a:schemeClr val="tx1"/>
                </a:solidFill>
              </a:rPr>
              <a:t>Free planning session</a:t>
            </a:r>
            <a:endParaRPr lang="en-US" sz="1400" dirty="0"/>
          </a:p>
        </p:txBody>
      </p:sp>
      <p:sp>
        <p:nvSpPr>
          <p:cNvPr id="28" name="card-54"/>
          <p:cNvSpPr/>
          <p:nvPr/>
        </p:nvSpPr>
        <p:spPr>
          <a:xfrm>
            <a:off x="9582912" y="5074920"/>
            <a:ext cx="2148840" cy="1143000"/>
          </a:xfrm>
          <a:prstGeom prst="roundRect">
            <a:avLst>
              <a:gd name="adj" fmla="val 6400"/>
            </a:avLst>
          </a:prstGeom>
          <a:solidFill>
            <a:schemeClr val="bg2"/>
          </a:solidFill>
          <a:ln/>
        </p:spPr>
      </p:sp>
      <p:sp>
        <p:nvSpPr>
          <p:cNvPr id="29" name="Text 27"/>
          <p:cNvSpPr txBox="1"/>
          <p:nvPr/>
        </p:nvSpPr>
        <p:spPr>
          <a:xfrm>
            <a:off x="9720072" y="5120640"/>
            <a:ext cx="1874520" cy="1051560"/>
          </a:xfrm>
          <a:prstGeom prst="rect">
            <a:avLst/>
          </a:prstGeom>
          <a:noFill/>
          <a:ln/>
        </p:spPr>
        <p:txBody>
          <a:bodyPr wrap="square" lIns="0" tIns="0" rIns="0" bIns="0" rtlCol="0" anchor="ctr"/>
          <a:lstStyle/>
          <a:p>
            <a:pPr marL="0" indent="0">
              <a:buNone/>
            </a:pPr>
            <a:r>
              <a:rPr lang="en-US" sz="1400" b="1" dirty="0">
                <a:solidFill>
                  <a:schemeClr val="accent1"/>
                </a:solidFill>
              </a:rPr>
              <a:t>Day +30</a:t>
            </a:r>
            <a:endParaRPr lang="en-US" sz="1400" dirty="0"/>
          </a:p>
          <a:p>
            <a:pPr marL="0" indent="0">
              <a:buNone/>
            </a:pPr>
            <a:r>
              <a:rPr lang="en-US" sz="1300" dirty="0">
                <a:solidFill>
                  <a:schemeClr val="tx1"/>
                </a:solidFill>
              </a:rPr>
              <a:t>Buyer → room #2 checklist</a:t>
            </a:r>
            <a:endParaRPr lang="en-US" sz="1400" dirty="0"/>
          </a:p>
        </p:txBody>
      </p:sp>
      <p:sp>
        <p:nvSpPr>
          <p:cNvPr id="30"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MEDIA PLAN</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Eight campaigns, one forecast built from benchmarks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48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033272">
                  <a:extLst>
                    <a:ext uri="{9D8B030D-6E8A-4147-A177-3AD203B41FA5}">
                      <a16:colId xmlns:a16="http://schemas.microsoft.com/office/drawing/2014/main" val="20007"/>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Objective / bidding</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Share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Budget (EGP)</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Est. ROAS</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C01</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TikTok</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Reach then Video Views, max delivery</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Growth (20)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37,500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0.90x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C02</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YouTube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Video reach (Bumper 6s), target CPM</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Test (10)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12,500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0.75x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C03</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Snapchat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Traffic, landing page views</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Test (10)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12,500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1.08x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C04</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Meta (prosp.)</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Traffic to room planner + bundle, LPV</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Proven (70)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2.70x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C05</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Google Search</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BOFU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Sales, Max conversion value (tROAS later)</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Proven (70)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55,000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5.63x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5"/>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C06</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Google PMax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BOFU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Sales, Max conversion value, feed-only</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Proven (70)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32,500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3.86x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C07</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Meta (retarget)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BOFU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Sales, Advantage+ catalog (DPA)</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Proven (70)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37,500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7.09x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7"/>
                  </a:ext>
                </a:extLst>
              </a:tr>
              <a:tr h="384048">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C08</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Email + WhatsApp</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CARE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Automated flows: cart, post-purchase, room #2</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Growth (20)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12,500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12.00x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buNone/>
                      </a:pP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tc>
                  <a:txBody>
                    <a:bodyPr/>
                    <a:lstStyle/>
                    <a:p>
                      <a:pPr marL="0" indent="0">
                        <a:buNone/>
                      </a:pP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tc>
                  <a:txBody>
                    <a:bodyPr/>
                    <a:lstStyle/>
                    <a:p>
                      <a:pPr marL="0" indent="0">
                        <a:buNone/>
                      </a:pP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tc>
                  <a:txBody>
                    <a:bodyPr/>
                    <a:lstStyle/>
                    <a:p>
                      <a:pPr marL="0" indent="0">
                        <a:buNone/>
                      </a:pP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250,000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4.17x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DCEAF7"/>
                    </a:solidFill>
                  </a:tcPr>
                </a:tc>
                <a:extLst>
                  <a:ext uri="{0D108BD9-81ED-4DB2-BD59-A6C34878D82A}">
                    <a16:rowId xmlns:a16="http://schemas.microsoft.com/office/drawing/2014/main" val="10009"/>
                  </a:ext>
                </a:extLst>
              </a:tr>
            </a:tbl>
          </a:graphicData>
        </a:graphic>
      </p:graphicFrame>
      <p:sp>
        <p:nvSpPr>
          <p:cNvPr id="5" name="card-55"/>
          <p:cNvSpPr/>
          <p:nvPr/>
        </p:nvSpPr>
        <p:spPr>
          <a:xfrm>
            <a:off x="457200" y="5486400"/>
            <a:ext cx="11274552" cy="731520"/>
          </a:xfrm>
          <a:prstGeom prst="roundRect">
            <a:avLst>
              <a:gd name="adj" fmla="val 10000"/>
            </a:avLst>
          </a:prstGeom>
          <a:solidFill>
            <a:schemeClr val="bg2"/>
          </a:solidFill>
          <a:ln/>
        </p:spPr>
      </p:sp>
      <p:sp>
        <p:nvSpPr>
          <p:cNvPr id="6" name="Text 3"/>
          <p:cNvSpPr txBox="1"/>
          <p:nvPr/>
        </p:nvSpPr>
        <p:spPr>
          <a:xfrm>
            <a:off x="685800" y="5532120"/>
            <a:ext cx="10881360" cy="640080"/>
          </a:xfrm>
          <a:prstGeom prst="rect">
            <a:avLst/>
          </a:prstGeom>
          <a:noFill/>
          <a:ln/>
        </p:spPr>
        <p:txBody>
          <a:bodyPr wrap="square" lIns="0" tIns="0" rIns="0" bIns="0" rtlCol="0" anchor="ctr"/>
          <a:lstStyle/>
          <a:p>
            <a:pPr marL="0" indent="0">
              <a:buNone/>
            </a:pPr>
            <a:r>
              <a:rPr lang="en-US" sz="1400" b="1" dirty="0">
                <a:solidFill>
                  <a:schemeClr val="accent1"/>
                </a:solidFill>
              </a:rPr>
              <a:t>Read it right: </a:t>
            </a:r>
            <a:r>
              <a:rPr lang="en-US" sz="1400" dirty="0">
                <a:solidFill>
                  <a:schemeClr val="tx1"/>
                </a:solidFill>
              </a:rPr>
              <a:t>TikTok and YouTube are not built to pay back on last click. They are judged on CPM and view rate here, and on assist credit in the attribution model. Benchmarks are illustrative Egypt ranges.</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BUDGET SPLIT</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Half the money where intent is, a tenth to learn</a:t>
            </a:r>
            <a:endParaRPr lang="en-US" sz="2800" dirty="0"/>
          </a:p>
        </p:txBody>
      </p:sp>
      <p:graphicFrame>
        <p:nvGraphicFramePr>
          <p:cNvPr id="4" name="Chart 0"/>
          <p:cNvGraphicFramePr/>
          <p:nvPr/>
        </p:nvGraphicFramePr>
        <p:xfrm>
          <a:off x="457200" y="1325880"/>
          <a:ext cx="57607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5486400"/>
            <a:ext cx="5760720" cy="365760"/>
          </a:xfrm>
          <a:prstGeom prst="rect">
            <a:avLst/>
          </a:prstGeom>
          <a:noFill/>
          <a:ln/>
        </p:spPr>
        <p:txBody>
          <a:bodyPr wrap="square" lIns="0" tIns="0" rIns="0" bIns="0" rtlCol="0" anchor="ctr"/>
          <a:lstStyle/>
          <a:p>
            <a:pPr marL="0" indent="0">
              <a:buNone/>
            </a:pPr>
            <a:r>
              <a:rPr lang="en-US" sz="1400" dirty="0">
                <a:solidFill>
                  <a:schemeClr val="accent5"/>
                </a:solidFill>
              </a:rPr>
              <a:t>Stage split: TOFU 20 · MOFU 25 · BOFU 50 · CARE 5</a:t>
            </a:r>
            <a:endParaRPr lang="en-US" sz="1400" dirty="0"/>
          </a:p>
        </p:txBody>
      </p:sp>
      <p:sp>
        <p:nvSpPr>
          <p:cNvPr id="6" name="Text 3"/>
          <p:cNvSpPr txBox="1"/>
          <p:nvPr/>
        </p:nvSpPr>
        <p:spPr>
          <a:xfrm>
            <a:off x="6583680" y="1325880"/>
            <a:ext cx="5120640" cy="365760"/>
          </a:xfrm>
          <a:prstGeom prst="rect">
            <a:avLst/>
          </a:prstGeom>
          <a:noFill/>
          <a:ln/>
        </p:spPr>
        <p:txBody>
          <a:bodyPr wrap="square" lIns="0" tIns="0" rIns="0" bIns="0" rtlCol="0" anchor="ctr"/>
          <a:lstStyle/>
          <a:p>
            <a:pPr marL="0" indent="0">
              <a:buNone/>
            </a:pPr>
            <a:r>
              <a:rPr lang="en-US" sz="1600" b="1" dirty="0">
                <a:solidFill>
                  <a:schemeClr val="tx1"/>
                </a:solidFill>
              </a:rPr>
              <a:t>70/20/10 rule</a:t>
            </a:r>
            <a:endParaRPr lang="en-US" sz="1600" dirty="0"/>
          </a:p>
        </p:txBody>
      </p:sp>
      <p:sp>
        <p:nvSpPr>
          <p:cNvPr id="7" name="card-56"/>
          <p:cNvSpPr/>
          <p:nvPr/>
        </p:nvSpPr>
        <p:spPr>
          <a:xfrm>
            <a:off x="6583680" y="1783080"/>
            <a:ext cx="5148072" cy="1097280"/>
          </a:xfrm>
          <a:prstGeom prst="roundRect">
            <a:avLst>
              <a:gd name="adj" fmla="val 6667"/>
            </a:avLst>
          </a:prstGeom>
          <a:solidFill>
            <a:schemeClr val="accent1"/>
          </a:solidFill>
          <a:ln/>
        </p:spPr>
      </p:sp>
      <p:sp>
        <p:nvSpPr>
          <p:cNvPr id="8" name="Text 5"/>
          <p:cNvSpPr txBox="1"/>
          <p:nvPr/>
        </p:nvSpPr>
        <p:spPr>
          <a:xfrm>
            <a:off x="6766560" y="1874520"/>
            <a:ext cx="1280160" cy="914400"/>
          </a:xfrm>
          <a:prstGeom prst="rect">
            <a:avLst/>
          </a:prstGeom>
          <a:noFill/>
          <a:ln/>
        </p:spPr>
        <p:txBody>
          <a:bodyPr wrap="square" lIns="0" tIns="0" rIns="0" bIns="0" rtlCol="0" anchor="ctr"/>
          <a:lstStyle/>
          <a:p>
            <a:pPr marL="0" indent="0">
              <a:buNone/>
            </a:pPr>
            <a:r>
              <a:rPr lang="en-US" sz="3600" b="1" dirty="0">
                <a:solidFill>
                  <a:schemeClr val="accent2"/>
                </a:solidFill>
              </a:rPr>
              <a:t>70%</a:t>
            </a:r>
            <a:endParaRPr lang="en-US" sz="3600" dirty="0"/>
          </a:p>
        </p:txBody>
      </p:sp>
      <p:sp>
        <p:nvSpPr>
          <p:cNvPr id="9" name="Text 6"/>
          <p:cNvSpPr txBox="1"/>
          <p:nvPr/>
        </p:nvSpPr>
        <p:spPr>
          <a:xfrm>
            <a:off x="8092440" y="1874520"/>
            <a:ext cx="3520440" cy="914400"/>
          </a:xfrm>
          <a:prstGeom prst="rect">
            <a:avLst/>
          </a:prstGeom>
          <a:noFill/>
          <a:ln/>
        </p:spPr>
        <p:txBody>
          <a:bodyPr wrap="square" lIns="0" tIns="0" rIns="0" bIns="0" rtlCol="0" anchor="ctr"/>
          <a:lstStyle/>
          <a:p>
            <a:pPr marL="0" indent="0">
              <a:buNone/>
            </a:pPr>
            <a:r>
              <a:rPr lang="en-US" sz="1600" b="1" dirty="0">
                <a:solidFill>
                  <a:schemeClr val="bg1"/>
                </a:solidFill>
              </a:rPr>
              <a:t>Proven</a:t>
            </a:r>
            <a:endParaRPr lang="en-US" sz="1600" dirty="0"/>
          </a:p>
          <a:p>
            <a:pPr marL="0" indent="0">
              <a:buNone/>
            </a:pPr>
            <a:r>
              <a:rPr lang="en-US" sz="1400" dirty="0">
                <a:solidFill>
                  <a:schemeClr val="bg1"/>
                </a:solidFill>
              </a:rPr>
              <a:t>Meta prospecting, Google Search, PMax, Meta retargeting</a:t>
            </a:r>
            <a:endParaRPr lang="en-US" sz="1600" dirty="0"/>
          </a:p>
        </p:txBody>
      </p:sp>
      <p:sp>
        <p:nvSpPr>
          <p:cNvPr id="10" name="card-57"/>
          <p:cNvSpPr/>
          <p:nvPr/>
        </p:nvSpPr>
        <p:spPr>
          <a:xfrm>
            <a:off x="6583680" y="3017520"/>
            <a:ext cx="5148072" cy="1097280"/>
          </a:xfrm>
          <a:prstGeom prst="roundRect">
            <a:avLst>
              <a:gd name="adj" fmla="val 6667"/>
            </a:avLst>
          </a:prstGeom>
          <a:solidFill>
            <a:schemeClr val="bg2"/>
          </a:solidFill>
          <a:ln/>
        </p:spPr>
      </p:sp>
      <p:sp>
        <p:nvSpPr>
          <p:cNvPr id="11" name="Text 8"/>
          <p:cNvSpPr txBox="1"/>
          <p:nvPr/>
        </p:nvSpPr>
        <p:spPr>
          <a:xfrm>
            <a:off x="6766560" y="3108960"/>
            <a:ext cx="1280160" cy="914400"/>
          </a:xfrm>
          <a:prstGeom prst="rect">
            <a:avLst/>
          </a:prstGeom>
          <a:noFill/>
          <a:ln/>
        </p:spPr>
        <p:txBody>
          <a:bodyPr wrap="square" lIns="0" tIns="0" rIns="0" bIns="0" rtlCol="0" anchor="ctr"/>
          <a:lstStyle/>
          <a:p>
            <a:pPr marL="0" indent="0">
              <a:buNone/>
            </a:pPr>
            <a:r>
              <a:rPr lang="en-US" sz="3600" b="1" dirty="0">
                <a:solidFill>
                  <a:schemeClr val="accent1"/>
                </a:solidFill>
              </a:rPr>
              <a:t>20%</a:t>
            </a:r>
            <a:endParaRPr lang="en-US" sz="3600" dirty="0"/>
          </a:p>
        </p:txBody>
      </p:sp>
      <p:sp>
        <p:nvSpPr>
          <p:cNvPr id="12" name="Text 9"/>
          <p:cNvSpPr txBox="1"/>
          <p:nvPr/>
        </p:nvSpPr>
        <p:spPr>
          <a:xfrm>
            <a:off x="8092440" y="3108960"/>
            <a:ext cx="3520440" cy="914400"/>
          </a:xfrm>
          <a:prstGeom prst="rect">
            <a:avLst/>
          </a:prstGeom>
          <a:noFill/>
          <a:ln/>
        </p:spPr>
        <p:txBody>
          <a:bodyPr wrap="square" lIns="0" tIns="0" rIns="0" bIns="0" rtlCol="0" anchor="ctr"/>
          <a:lstStyle/>
          <a:p>
            <a:pPr marL="0" indent="0">
              <a:buNone/>
            </a:pPr>
            <a:r>
              <a:rPr lang="en-US" sz="1600" b="1" dirty="0">
                <a:solidFill>
                  <a:schemeClr val="tx1"/>
                </a:solidFill>
              </a:rPr>
              <a:t>Growth</a:t>
            </a:r>
            <a:endParaRPr lang="en-US" sz="1600" dirty="0"/>
          </a:p>
          <a:p>
            <a:pPr marL="0" indent="0">
              <a:buNone/>
            </a:pPr>
            <a:r>
              <a:rPr lang="en-US" sz="1400" dirty="0">
                <a:solidFill>
                  <a:schemeClr val="tx1"/>
                </a:solidFill>
              </a:rPr>
              <a:t>TikTok, Email + WhatsApp</a:t>
            </a:r>
            <a:endParaRPr lang="en-US" sz="1600" dirty="0"/>
          </a:p>
        </p:txBody>
      </p:sp>
      <p:sp>
        <p:nvSpPr>
          <p:cNvPr id="13" name="card-58"/>
          <p:cNvSpPr/>
          <p:nvPr/>
        </p:nvSpPr>
        <p:spPr>
          <a:xfrm>
            <a:off x="6583680" y="4251960"/>
            <a:ext cx="5148072" cy="1097280"/>
          </a:xfrm>
          <a:prstGeom prst="roundRect">
            <a:avLst>
              <a:gd name="adj" fmla="val 6667"/>
            </a:avLst>
          </a:prstGeom>
          <a:solidFill>
            <a:schemeClr val="bg2"/>
          </a:solidFill>
          <a:ln/>
        </p:spPr>
      </p:sp>
      <p:sp>
        <p:nvSpPr>
          <p:cNvPr id="14" name="Text 11"/>
          <p:cNvSpPr txBox="1"/>
          <p:nvPr/>
        </p:nvSpPr>
        <p:spPr>
          <a:xfrm>
            <a:off x="6766560" y="4343400"/>
            <a:ext cx="1280160" cy="914400"/>
          </a:xfrm>
          <a:prstGeom prst="rect">
            <a:avLst/>
          </a:prstGeom>
          <a:noFill/>
          <a:ln/>
        </p:spPr>
        <p:txBody>
          <a:bodyPr wrap="square" lIns="0" tIns="0" rIns="0" bIns="0" rtlCol="0" anchor="ctr"/>
          <a:lstStyle/>
          <a:p>
            <a:pPr marL="0" indent="0">
              <a:buNone/>
            </a:pPr>
            <a:r>
              <a:rPr lang="en-US" sz="3600" b="1" dirty="0">
                <a:solidFill>
                  <a:schemeClr val="accent1"/>
                </a:solidFill>
              </a:rPr>
              <a:t>10%</a:t>
            </a:r>
            <a:endParaRPr lang="en-US" sz="3600" dirty="0"/>
          </a:p>
        </p:txBody>
      </p:sp>
      <p:sp>
        <p:nvSpPr>
          <p:cNvPr id="15" name="Text 12"/>
          <p:cNvSpPr txBox="1"/>
          <p:nvPr/>
        </p:nvSpPr>
        <p:spPr>
          <a:xfrm>
            <a:off x="8092440" y="4343400"/>
            <a:ext cx="3520440" cy="914400"/>
          </a:xfrm>
          <a:prstGeom prst="rect">
            <a:avLst/>
          </a:prstGeom>
          <a:noFill/>
          <a:ln/>
        </p:spPr>
        <p:txBody>
          <a:bodyPr wrap="square" lIns="0" tIns="0" rIns="0" bIns="0" rtlCol="0" anchor="ctr"/>
          <a:lstStyle/>
          <a:p>
            <a:pPr marL="0" indent="0">
              <a:buNone/>
            </a:pPr>
            <a:r>
              <a:rPr lang="en-US" sz="1600" b="1" dirty="0">
                <a:solidFill>
                  <a:schemeClr val="tx1"/>
                </a:solidFill>
              </a:rPr>
              <a:t>Test</a:t>
            </a:r>
            <a:endParaRPr lang="en-US" sz="1600" dirty="0"/>
          </a:p>
          <a:p>
            <a:pPr marL="0" indent="0">
              <a:buNone/>
            </a:pPr>
            <a:r>
              <a:rPr lang="en-US" sz="1400" dirty="0">
                <a:solidFill>
                  <a:schemeClr val="tx1"/>
                </a:solidFill>
              </a:rPr>
              <a:t>YouTube, Snapchat</a:t>
            </a:r>
            <a:endParaRPr lang="en-US" sz="1600" dirty="0"/>
          </a:p>
        </p:txBody>
      </p:sp>
      <p:sp>
        <p:nvSpPr>
          <p:cNvPr id="16" name="Text 13"/>
          <p:cNvSpPr txBox="1"/>
          <p:nvPr/>
        </p:nvSpPr>
        <p:spPr>
          <a:xfrm>
            <a:off x="6583680" y="5486400"/>
            <a:ext cx="5148072" cy="685800"/>
          </a:xfrm>
          <a:prstGeom prst="rect">
            <a:avLst/>
          </a:prstGeom>
          <a:noFill/>
          <a:ln/>
        </p:spPr>
        <p:txBody>
          <a:bodyPr wrap="square" lIns="0" tIns="0" rIns="0" bIns="0" rtlCol="0" anchor="t"/>
          <a:lstStyle/>
          <a:p>
            <a:pPr marL="0" indent="0">
              <a:buNone/>
            </a:pPr>
            <a:r>
              <a:rPr lang="en-US" sz="1400" dirty="0">
                <a:solidFill>
                  <a:schemeClr val="accent5"/>
                </a:solidFill>
              </a:rPr>
              <a:t>Pacing: even daily spend of about 8,333 EGP. Week 4 absorbs days 29-30 so the month closes in four reporting weeks.</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OFFER &amp; CREATIVE TESTING</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Copy-led concepts on existing assets, one variable per test</a:t>
            </a:r>
            <a:endParaRPr lang="en-US" sz="2800" dirty="0"/>
          </a:p>
        </p:txBody>
      </p:sp>
      <p:sp>
        <p:nvSpPr>
          <p:cNvPr id="4" name="Text 2"/>
          <p:cNvSpPr txBox="1"/>
          <p:nvPr/>
        </p:nvSpPr>
        <p:spPr>
          <a:xfrm>
            <a:off x="457200" y="1325880"/>
            <a:ext cx="3931920" cy="365760"/>
          </a:xfrm>
          <a:prstGeom prst="rect">
            <a:avLst/>
          </a:prstGeom>
          <a:noFill/>
          <a:ln/>
        </p:spPr>
        <p:txBody>
          <a:bodyPr wrap="square" lIns="0" tIns="0" rIns="0" bIns="0" rtlCol="0" anchor="ctr"/>
          <a:lstStyle/>
          <a:p>
            <a:pPr marL="0" indent="0">
              <a:buNone/>
            </a:pPr>
            <a:r>
              <a:rPr lang="en-US" sz="1600" b="1" dirty="0">
                <a:solidFill>
                  <a:schemeClr val="tx1"/>
                </a:solidFill>
              </a:rPr>
              <a:t>Offer ladder</a:t>
            </a:r>
            <a:endParaRPr lang="en-US" sz="1600" dirty="0"/>
          </a:p>
        </p:txBody>
      </p:sp>
      <p:sp>
        <p:nvSpPr>
          <p:cNvPr id="5" name="card-59"/>
          <p:cNvSpPr/>
          <p:nvPr/>
        </p:nvSpPr>
        <p:spPr>
          <a:xfrm>
            <a:off x="457200" y="1783080"/>
            <a:ext cx="3931920" cy="960120"/>
          </a:xfrm>
          <a:prstGeom prst="roundRect">
            <a:avLst>
              <a:gd name="adj" fmla="val 7619"/>
            </a:avLst>
          </a:prstGeom>
          <a:solidFill>
            <a:schemeClr val="bg2"/>
          </a:solidFill>
          <a:ln/>
        </p:spPr>
      </p:sp>
      <p:sp>
        <p:nvSpPr>
          <p:cNvPr id="6" name="Text 4"/>
          <p:cNvSpPr txBox="1"/>
          <p:nvPr/>
        </p:nvSpPr>
        <p:spPr>
          <a:xfrm>
            <a:off x="658368" y="1828800"/>
            <a:ext cx="3566160" cy="868680"/>
          </a:xfrm>
          <a:prstGeom prst="rect">
            <a:avLst/>
          </a:prstGeom>
          <a:noFill/>
          <a:ln/>
        </p:spPr>
        <p:txBody>
          <a:bodyPr wrap="square" lIns="0" tIns="0" rIns="0" bIns="0" rtlCol="0" anchor="ctr"/>
          <a:lstStyle/>
          <a:p>
            <a:pPr marL="0" indent="0">
              <a:buNone/>
            </a:pPr>
            <a:r>
              <a:rPr lang="en-US" sz="1200" b="1" dirty="0">
                <a:solidFill>
                  <a:schemeClr val="accent1"/>
                </a:solidFill>
              </a:rPr>
              <a:t>ENTRY</a:t>
            </a:r>
            <a:endParaRPr lang="en-US" sz="1200" dirty="0"/>
          </a:p>
          <a:p>
            <a:pPr marL="0" indent="0">
              <a:buNone/>
            </a:pPr>
            <a:r>
              <a:rPr lang="en-US" sz="1500" dirty="0">
                <a:solidFill>
                  <a:schemeClr val="tx1"/>
                </a:solidFill>
              </a:rPr>
              <a:t>Free planning session</a:t>
            </a:r>
            <a:endParaRPr lang="en-US" sz="1200" dirty="0"/>
          </a:p>
        </p:txBody>
      </p:sp>
      <p:sp>
        <p:nvSpPr>
          <p:cNvPr id="7" name="card-60"/>
          <p:cNvSpPr/>
          <p:nvPr/>
        </p:nvSpPr>
        <p:spPr>
          <a:xfrm>
            <a:off x="457200" y="2880360"/>
            <a:ext cx="3931920" cy="960120"/>
          </a:xfrm>
          <a:prstGeom prst="roundRect">
            <a:avLst>
              <a:gd name="adj" fmla="val 7619"/>
            </a:avLst>
          </a:prstGeom>
          <a:solidFill>
            <a:schemeClr val="accent1"/>
          </a:solidFill>
          <a:ln/>
        </p:spPr>
      </p:sp>
      <p:sp>
        <p:nvSpPr>
          <p:cNvPr id="8" name="Text 6"/>
          <p:cNvSpPr txBox="1"/>
          <p:nvPr/>
        </p:nvSpPr>
        <p:spPr>
          <a:xfrm>
            <a:off x="658368" y="2926080"/>
            <a:ext cx="3566160" cy="868680"/>
          </a:xfrm>
          <a:prstGeom prst="rect">
            <a:avLst/>
          </a:prstGeom>
          <a:noFill/>
          <a:ln/>
        </p:spPr>
        <p:txBody>
          <a:bodyPr wrap="square" lIns="0" tIns="0" rIns="0" bIns="0" rtlCol="0" anchor="ctr"/>
          <a:lstStyle/>
          <a:p>
            <a:pPr marL="0" indent="0">
              <a:buNone/>
            </a:pPr>
            <a:r>
              <a:rPr lang="en-US" sz="1200" b="1" dirty="0">
                <a:solidFill>
                  <a:schemeClr val="accent2"/>
                </a:solidFill>
              </a:rPr>
              <a:t>CORE</a:t>
            </a:r>
            <a:endParaRPr lang="en-US" sz="1200" dirty="0"/>
          </a:p>
          <a:p>
            <a:pPr marL="0" indent="0">
              <a:buNone/>
            </a:pPr>
            <a:r>
              <a:rPr lang="en-US" sz="1500" dirty="0">
                <a:solidFill>
                  <a:schemeClr val="bg1"/>
                </a:solidFill>
              </a:rPr>
              <a:t>Starter Bundle from 4,500 EGP</a:t>
            </a:r>
            <a:endParaRPr lang="en-US" sz="1200" dirty="0"/>
          </a:p>
        </p:txBody>
      </p:sp>
      <p:sp>
        <p:nvSpPr>
          <p:cNvPr id="9" name="card-61"/>
          <p:cNvSpPr/>
          <p:nvPr/>
        </p:nvSpPr>
        <p:spPr>
          <a:xfrm>
            <a:off x="457200" y="3977640"/>
            <a:ext cx="3931920" cy="960120"/>
          </a:xfrm>
          <a:prstGeom prst="roundRect">
            <a:avLst>
              <a:gd name="adj" fmla="val 7619"/>
            </a:avLst>
          </a:prstGeom>
          <a:solidFill>
            <a:schemeClr val="bg2"/>
          </a:solidFill>
          <a:ln/>
        </p:spPr>
      </p:sp>
      <p:sp>
        <p:nvSpPr>
          <p:cNvPr id="10" name="Text 8"/>
          <p:cNvSpPr txBox="1"/>
          <p:nvPr/>
        </p:nvSpPr>
        <p:spPr>
          <a:xfrm>
            <a:off x="658368" y="4023360"/>
            <a:ext cx="3566160" cy="868680"/>
          </a:xfrm>
          <a:prstGeom prst="rect">
            <a:avLst/>
          </a:prstGeom>
          <a:noFill/>
          <a:ln/>
        </p:spPr>
        <p:txBody>
          <a:bodyPr wrap="square" lIns="0" tIns="0" rIns="0" bIns="0" rtlCol="0" anchor="ctr"/>
          <a:lstStyle/>
          <a:p>
            <a:pPr marL="0" indent="0">
              <a:buNone/>
            </a:pPr>
            <a:r>
              <a:rPr lang="en-US" sz="1200" b="1" dirty="0">
                <a:solidFill>
                  <a:schemeClr val="accent1"/>
                </a:solidFill>
              </a:rPr>
              <a:t>RETARGETING</a:t>
            </a:r>
            <a:endParaRPr lang="en-US" sz="1200" dirty="0"/>
          </a:p>
          <a:p>
            <a:pPr marL="0" indent="0">
              <a:buNone/>
            </a:pPr>
            <a:r>
              <a:rPr lang="en-US" sz="1500" dirty="0">
                <a:solidFill>
                  <a:schemeClr val="tx1"/>
                </a:solidFill>
              </a:rPr>
              <a:t>Bundle + cash on delivery + assembly booked</a:t>
            </a:r>
            <a:endParaRPr lang="en-US" sz="1200" dirty="0"/>
          </a:p>
        </p:txBody>
      </p:sp>
      <p:sp>
        <p:nvSpPr>
          <p:cNvPr id="11" name="card-62"/>
          <p:cNvSpPr/>
          <p:nvPr/>
        </p:nvSpPr>
        <p:spPr>
          <a:xfrm>
            <a:off x="457200" y="5074920"/>
            <a:ext cx="3931920" cy="960120"/>
          </a:xfrm>
          <a:prstGeom prst="roundRect">
            <a:avLst>
              <a:gd name="adj" fmla="val 7619"/>
            </a:avLst>
          </a:prstGeom>
          <a:solidFill>
            <a:schemeClr val="bg2"/>
          </a:solidFill>
          <a:ln/>
        </p:spPr>
      </p:sp>
      <p:sp>
        <p:nvSpPr>
          <p:cNvPr id="12" name="Text 10"/>
          <p:cNvSpPr txBox="1"/>
          <p:nvPr/>
        </p:nvSpPr>
        <p:spPr>
          <a:xfrm>
            <a:off x="658368" y="5120640"/>
            <a:ext cx="3566160" cy="868680"/>
          </a:xfrm>
          <a:prstGeom prst="rect">
            <a:avLst/>
          </a:prstGeom>
          <a:noFill/>
          <a:ln/>
        </p:spPr>
        <p:txBody>
          <a:bodyPr wrap="square" lIns="0" tIns="0" rIns="0" bIns="0" rtlCol="0" anchor="ctr"/>
          <a:lstStyle/>
          <a:p>
            <a:pPr marL="0" indent="0">
              <a:buNone/>
            </a:pPr>
            <a:r>
              <a:rPr lang="en-US" sz="1200" b="1" dirty="0">
                <a:solidFill>
                  <a:schemeClr val="accent1"/>
                </a:solidFill>
              </a:rPr>
              <a:t>RETENTION</a:t>
            </a:r>
            <a:endParaRPr lang="en-US" sz="1200" dirty="0"/>
          </a:p>
          <a:p>
            <a:pPr marL="0" indent="0">
              <a:buNone/>
            </a:pPr>
            <a:r>
              <a:rPr lang="en-US" sz="1500" dirty="0">
                <a:solidFill>
                  <a:schemeClr val="tx1"/>
                </a:solidFill>
              </a:rPr>
              <a:t>Room #2 + IKEA Family perk</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1325880"/>
          <a:ext cx="7068312" cy="3520440"/>
        </p:xfrm>
        <a:graphic>
          <a:graphicData uri="http://schemas.openxmlformats.org/drawingml/2006/table">
            <a:tbl>
              <a:tblPr/>
              <a:tblGrid>
                <a:gridCol w="1463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76272">
                  <a:extLst>
                    <a:ext uri="{9D8B030D-6E8A-4147-A177-3AD203B41FA5}">
                      <a16:colId xmlns:a16="http://schemas.microsoft.com/office/drawing/2014/main" val="20003"/>
                    </a:ext>
                  </a:extLst>
                </a:gridCol>
              </a:tblGrid>
              <a:tr h="5029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Variants</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 rule</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0"/>
                  </a:ext>
                </a:extLst>
              </a:tr>
              <a:tr h="502920">
                <a:tc>
                  <a:txBody>
                    <a:bodyPr/>
                    <a:lstStyle/>
                    <a:p>
                      <a:pPr marL="0" indent="0">
                        <a:buNone/>
                      </a:pPr>
                      <a:r>
                        <a:rPr lang="en-US" sz="1200" b="1" dirty="0">
                          <a:solidFill>
                            <a:srgbClr val="1F2937"/>
                          </a:solidFill>
                          <a:latin typeface="Calibri" pitchFamily="34" charset="0"/>
                          <a:ea typeface="Calibri" pitchFamily="34" charset="-122"/>
                          <a:cs typeface="Calibri" pitchFamily="34" charset="-120"/>
                        </a:rPr>
                        <a:t>TikTok hooks</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First 2 seconds</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Aspiration · problem · social proof</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+15% 6s view rate after 10K impr./arm</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502920">
                <a:tc>
                  <a:txBody>
                    <a:bodyPr/>
                    <a:lstStyle/>
                    <a:p>
                      <a:pPr marL="0" indent="0">
                        <a:buNone/>
                      </a:pPr>
                      <a:r>
                        <a:rPr lang="en-US" sz="1200" b="1" dirty="0">
                          <a:solidFill>
                            <a:srgbClr val="1F2937"/>
                          </a:solidFill>
                          <a:latin typeface="Calibri" pitchFamily="34" charset="0"/>
                          <a:ea typeface="Calibri" pitchFamily="34" charset="-122"/>
                          <a:cs typeface="Calibri" pitchFamily="34" charset="-120"/>
                        </a:rPr>
                        <a:t>Meta angles</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Message angle</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Delivery · price · planning</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14 days or 1,000 clicks/arm</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1F2937"/>
                          </a:solidFill>
                          <a:latin typeface="Calibri" pitchFamily="34" charset="0"/>
                          <a:ea typeface="Calibri" pitchFamily="34" charset="-122"/>
                          <a:cs typeface="Calibri" pitchFamily="34" charset="-120"/>
                        </a:rPr>
                        <a:t>Creative refresh</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Rotation</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3 static vs 6 rotated / 10 days</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CTR drop stays under 25%</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3"/>
                  </a:ext>
                </a:extLst>
              </a:tr>
              <a:tr h="502920">
                <a:tc>
                  <a:txBody>
                    <a:bodyPr/>
                    <a:lstStyle/>
                    <a:p>
                      <a:pPr marL="0" indent="0">
                        <a:buNone/>
                      </a:pPr>
                      <a:r>
                        <a:rPr lang="en-US" sz="1200" b="1" dirty="0">
                          <a:solidFill>
                            <a:srgbClr val="1F2937"/>
                          </a:solidFill>
                          <a:latin typeface="Calibri" pitchFamily="34" charset="0"/>
                          <a:ea typeface="Calibri" pitchFamily="34" charset="-122"/>
                          <a:cs typeface="Calibri" pitchFamily="34" charset="-120"/>
                        </a:rPr>
                        <a:t>DPA overlay</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Overlay text</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COD · delivery date · none</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50 purchases/arm or 21 days</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00" b="1" dirty="0">
                          <a:solidFill>
                            <a:srgbClr val="1F2937"/>
                          </a:solidFill>
                          <a:latin typeface="Calibri" pitchFamily="34" charset="0"/>
                          <a:ea typeface="Calibri" pitchFamily="34" charset="-122"/>
                          <a:cs typeface="Calibri" pitchFamily="34" charset="-120"/>
                        </a:rPr>
                        <a:t>Search headline</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Pinned H1</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Price-led vs delivery-led</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Google experiment, 95%</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5"/>
                  </a:ext>
                </a:extLst>
              </a:tr>
              <a:tr h="502920">
                <a:tc>
                  <a:txBody>
                    <a:bodyPr/>
                    <a:lstStyle/>
                    <a:p>
                      <a:pPr marL="0" indent="0">
                        <a:buNone/>
                      </a:pPr>
                      <a:r>
                        <a:rPr lang="en-US" sz="1200" b="1" dirty="0">
                          <a:solidFill>
                            <a:srgbClr val="1F2937"/>
                          </a:solidFill>
                          <a:latin typeface="Calibri" pitchFamily="34" charset="0"/>
                          <a:ea typeface="Calibri" pitchFamily="34" charset="-122"/>
                          <a:cs typeface="Calibri" pitchFamily="34" charset="-120"/>
                        </a:rPr>
                        <a:t>WhatsApp copy</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Opening line</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Question vs checklist</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alibri" pitchFamily="34" charset="0"/>
                          <a:ea typeface="Calibri" pitchFamily="34" charset="-122"/>
                          <a:cs typeface="Calibri" pitchFamily="34" charset="-120"/>
                        </a:rPr>
                        <a:t>500 sends/arm</a:t>
                      </a:r>
                      <a:endParaRPr lang="en-US" sz="12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4" name="card-63"/>
          <p:cNvSpPr/>
          <p:nvPr/>
        </p:nvSpPr>
        <p:spPr>
          <a:xfrm>
            <a:off x="4663440" y="5257800"/>
            <a:ext cx="7068312" cy="960120"/>
          </a:xfrm>
          <a:prstGeom prst="roundRect">
            <a:avLst>
              <a:gd name="adj" fmla="val 7619"/>
            </a:avLst>
          </a:prstGeom>
          <a:solidFill>
            <a:schemeClr val="bg2"/>
          </a:solidFill>
          <a:ln/>
        </p:spPr>
      </p:sp>
      <p:sp>
        <p:nvSpPr>
          <p:cNvPr id="15" name="Text 12"/>
          <p:cNvSpPr txBox="1"/>
          <p:nvPr/>
        </p:nvSpPr>
        <p:spPr>
          <a:xfrm>
            <a:off x="4846320" y="5303520"/>
            <a:ext cx="6720840" cy="868680"/>
          </a:xfrm>
          <a:prstGeom prst="rect">
            <a:avLst/>
          </a:prstGeom>
          <a:noFill/>
          <a:ln/>
        </p:spPr>
        <p:txBody>
          <a:bodyPr wrap="square" lIns="0" tIns="0" rIns="0" bIns="0" rtlCol="0" anchor="ctr"/>
          <a:lstStyle/>
          <a:p>
            <a:pPr marL="0" indent="0">
              <a:buNone/>
            </a:pPr>
            <a:r>
              <a:rPr lang="en-US" sz="1400" b="1" dirty="0">
                <a:solidFill>
                  <a:schemeClr val="accent1"/>
                </a:solidFill>
              </a:rPr>
              <a:t>Example hook (TikTok, A1): </a:t>
            </a:r>
            <a:r>
              <a:rPr lang="en-US" sz="1400" dirty="0">
                <a:solidFill>
                  <a:schemeClr val="tx1"/>
                </a:solidFill>
              </a:rPr>
              <a:t>"We got the keys on Thursday. By Saturday it looked like this." 9 concepts in the workbook reuse IKEA room tours, catalog Reels and product feeds: no new shoots.</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UTM CONVENTION</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Every click labelled the same way, by everyone</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6949440" cy="2755392"/>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Tag</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Allowed values</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937"/>
                          </a:solidFill>
                          <a:latin typeface="Courier New" pitchFamily="34" charset="0"/>
                          <a:ea typeface="Courier New" pitchFamily="34" charset="-122"/>
                          <a:cs typeface="Courier New" pitchFamily="34" charset="-120"/>
                        </a:rPr>
                        <a:t>utm_source</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Where from?</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meta · tiktok · google · youtube · snapchat · email · whatsapp</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937"/>
                          </a:solidFill>
                          <a:latin typeface="Courier New" pitchFamily="34" charset="0"/>
                          <a:ea typeface="Courier New" pitchFamily="34" charset="-122"/>
                          <a:cs typeface="Courier New" pitchFamily="34" charset="-120"/>
                        </a:rPr>
                        <a:t>utm_medium</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How?</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cpc (all paid) · email · whatsapp · social (organic)</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937"/>
                          </a:solidFill>
                          <a:latin typeface="Courier New" pitchFamily="34" charset="0"/>
                          <a:ea typeface="Courier New" pitchFamily="34" charset="-122"/>
                          <a:cs typeface="Courier New" pitchFamily="34" charset="-120"/>
                        </a:rPr>
                        <a:t>utm_campaign</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Which initiative?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goal_audience_offer_yyyymm</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937"/>
                          </a:solidFill>
                          <a:latin typeface="Courier New" pitchFamily="34" charset="0"/>
                          <a:ea typeface="Courier New" pitchFamily="34" charset="-122"/>
                          <a:cs typeface="Courier New" pitchFamily="34" charset="-120"/>
                        </a:rPr>
                        <a:t>utm_content</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Which creative?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format_angle_version</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937"/>
                          </a:solidFill>
                          <a:latin typeface="Courier New" pitchFamily="34" charset="0"/>
                          <a:ea typeface="Courier New" pitchFamily="34" charset="-122"/>
                          <a:cs typeface="Courier New" pitchFamily="34" charset="-120"/>
                        </a:rPr>
                        <a:t>utm_term</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Which keyword?</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Search only, e.g. furniture_new_cairo</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5"/>
                  </a:ext>
                </a:extLst>
              </a:tr>
            </a:tbl>
          </a:graphicData>
        </a:graphic>
      </p:graphicFrame>
      <p:sp>
        <p:nvSpPr>
          <p:cNvPr id="5" name="card-64"/>
          <p:cNvSpPr/>
          <p:nvPr/>
        </p:nvSpPr>
        <p:spPr>
          <a:xfrm>
            <a:off x="7680960" y="1325880"/>
            <a:ext cx="4050792" cy="822960"/>
          </a:xfrm>
          <a:prstGeom prst="roundRect">
            <a:avLst>
              <a:gd name="adj" fmla="val 8889"/>
            </a:avLst>
          </a:prstGeom>
          <a:solidFill>
            <a:schemeClr val="bg2"/>
          </a:solidFill>
          <a:ln/>
        </p:spPr>
      </p:sp>
      <p:sp>
        <p:nvSpPr>
          <p:cNvPr id="6" name="num-65"/>
          <p:cNvSpPr/>
          <p:nvPr/>
        </p:nvSpPr>
        <p:spPr>
          <a:xfrm>
            <a:off x="7863840" y="1545336"/>
            <a:ext cx="384048" cy="384048"/>
          </a:xfrm>
          <a:prstGeom prst="ellipse">
            <a:avLst/>
          </a:prstGeom>
          <a:solidFill>
            <a:schemeClr val="accent1"/>
          </a:solidFill>
          <a:ln/>
        </p:spPr>
      </p:sp>
      <p:sp>
        <p:nvSpPr>
          <p:cNvPr id="7" name="numtxt-66"/>
          <p:cNvSpPr txBox="1"/>
          <p:nvPr/>
        </p:nvSpPr>
        <p:spPr>
          <a:xfrm>
            <a:off x="7863840" y="154533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8412480" y="1371600"/>
            <a:ext cx="3200400" cy="731520"/>
          </a:xfrm>
          <a:prstGeom prst="rect">
            <a:avLst/>
          </a:prstGeom>
          <a:noFill/>
          <a:ln/>
        </p:spPr>
        <p:txBody>
          <a:bodyPr wrap="square" lIns="0" tIns="0" rIns="0" bIns="0" rtlCol="0" anchor="ctr"/>
          <a:lstStyle/>
          <a:p>
            <a:pPr marL="0" indent="0">
              <a:buNone/>
            </a:pPr>
            <a:r>
              <a:rPr lang="en-US" sz="1500" b="1" dirty="0">
                <a:solidFill>
                  <a:schemeClr val="tx1"/>
                </a:solidFill>
              </a:rPr>
              <a:t>Lowercase only</a:t>
            </a:r>
            <a:endParaRPr lang="en-US" sz="1500" dirty="0"/>
          </a:p>
          <a:p>
            <a:pPr marL="0" indent="0">
              <a:buNone/>
            </a:pPr>
            <a:r>
              <a:rPr lang="en-US" sz="1300" dirty="0">
                <a:solidFill>
                  <a:schemeClr val="accent5"/>
                </a:solidFill>
              </a:rPr>
              <a:t>'Meta' and 'meta' split into two sources in GA4</a:t>
            </a:r>
            <a:endParaRPr lang="en-US" sz="1500" dirty="0"/>
          </a:p>
        </p:txBody>
      </p:sp>
      <p:sp>
        <p:nvSpPr>
          <p:cNvPr id="9" name="card-67"/>
          <p:cNvSpPr/>
          <p:nvPr/>
        </p:nvSpPr>
        <p:spPr>
          <a:xfrm>
            <a:off x="7680960" y="2286000"/>
            <a:ext cx="4050792" cy="822960"/>
          </a:xfrm>
          <a:prstGeom prst="roundRect">
            <a:avLst>
              <a:gd name="adj" fmla="val 8889"/>
            </a:avLst>
          </a:prstGeom>
          <a:solidFill>
            <a:schemeClr val="bg2"/>
          </a:solidFill>
          <a:ln/>
        </p:spPr>
      </p:sp>
      <p:sp>
        <p:nvSpPr>
          <p:cNvPr id="4" name="num-68"/>
          <p:cNvSpPr/>
          <p:nvPr/>
        </p:nvSpPr>
        <p:spPr>
          <a:xfrm>
            <a:off x="7863840" y="2505456"/>
            <a:ext cx="384048" cy="384048"/>
          </a:xfrm>
          <a:prstGeom prst="ellipse">
            <a:avLst/>
          </a:prstGeom>
          <a:solidFill>
            <a:schemeClr val="accent1"/>
          </a:solidFill>
          <a:ln/>
        </p:spPr>
      </p:sp>
      <p:sp>
        <p:nvSpPr>
          <p:cNvPr id="11" name="numtxt-69"/>
          <p:cNvSpPr txBox="1"/>
          <p:nvPr/>
        </p:nvSpPr>
        <p:spPr>
          <a:xfrm>
            <a:off x="7863840" y="250545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9"/>
          <p:cNvSpPr txBox="1"/>
          <p:nvPr/>
        </p:nvSpPr>
        <p:spPr>
          <a:xfrm>
            <a:off x="8412480" y="2331720"/>
            <a:ext cx="3200400" cy="731520"/>
          </a:xfrm>
          <a:prstGeom prst="rect">
            <a:avLst/>
          </a:prstGeom>
          <a:noFill/>
          <a:ln/>
        </p:spPr>
        <p:txBody>
          <a:bodyPr wrap="square" lIns="0" tIns="0" rIns="0" bIns="0" rtlCol="0" anchor="ctr"/>
          <a:lstStyle/>
          <a:p>
            <a:pPr marL="0" indent="0">
              <a:buNone/>
            </a:pPr>
            <a:r>
              <a:rPr lang="en-US" sz="1500" b="1" dirty="0">
                <a:solidFill>
                  <a:schemeClr val="tx1"/>
                </a:solidFill>
              </a:rPr>
              <a:t>Underscores, no spaces</a:t>
            </a:r>
            <a:endParaRPr lang="en-US" sz="1500" dirty="0"/>
          </a:p>
          <a:p>
            <a:pPr marL="0" indent="0">
              <a:buNone/>
            </a:pPr>
            <a:r>
              <a:rPr lang="en-US" sz="1300" dirty="0">
                <a:solidFill>
                  <a:schemeClr val="accent5"/>
                </a:solidFill>
              </a:rPr>
              <a:t>Spaces turn into %20 and break reading</a:t>
            </a:r>
            <a:endParaRPr lang="en-US" sz="1500" dirty="0"/>
          </a:p>
        </p:txBody>
      </p:sp>
      <p:sp>
        <p:nvSpPr>
          <p:cNvPr id="13" name="card-70"/>
          <p:cNvSpPr/>
          <p:nvPr/>
        </p:nvSpPr>
        <p:spPr>
          <a:xfrm>
            <a:off x="7680960" y="3246120"/>
            <a:ext cx="4050792" cy="822960"/>
          </a:xfrm>
          <a:prstGeom prst="roundRect">
            <a:avLst>
              <a:gd name="adj" fmla="val 8889"/>
            </a:avLst>
          </a:prstGeom>
          <a:solidFill>
            <a:schemeClr val="bg2"/>
          </a:solidFill>
          <a:ln/>
        </p:spPr>
      </p:sp>
      <p:sp>
        <p:nvSpPr>
          <p:cNvPr id="14" name="num-71"/>
          <p:cNvSpPr/>
          <p:nvPr/>
        </p:nvSpPr>
        <p:spPr>
          <a:xfrm>
            <a:off x="7863840" y="3465576"/>
            <a:ext cx="384048" cy="384048"/>
          </a:xfrm>
          <a:prstGeom prst="ellipse">
            <a:avLst/>
          </a:prstGeom>
          <a:solidFill>
            <a:schemeClr val="accent1"/>
          </a:solidFill>
          <a:ln/>
        </p:spPr>
      </p:sp>
      <p:sp>
        <p:nvSpPr>
          <p:cNvPr id="15" name="numtxt-72"/>
          <p:cNvSpPr txBox="1"/>
          <p:nvPr/>
        </p:nvSpPr>
        <p:spPr>
          <a:xfrm>
            <a:off x="7863840" y="346557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 13"/>
          <p:cNvSpPr txBox="1"/>
          <p:nvPr/>
        </p:nvSpPr>
        <p:spPr>
          <a:xfrm>
            <a:off x="8412480" y="3291840"/>
            <a:ext cx="3200400" cy="731520"/>
          </a:xfrm>
          <a:prstGeom prst="rect">
            <a:avLst/>
          </a:prstGeom>
          <a:noFill/>
          <a:ln/>
        </p:spPr>
        <p:txBody>
          <a:bodyPr wrap="square" lIns="0" tIns="0" rIns="0" bIns="0" rtlCol="0" anchor="ctr"/>
          <a:lstStyle/>
          <a:p>
            <a:pPr marL="0" indent="0">
              <a:buNone/>
            </a:pPr>
            <a:r>
              <a:rPr lang="en-US" sz="1500" b="1" dirty="0">
                <a:solidFill>
                  <a:schemeClr val="tx1"/>
                </a:solidFill>
              </a:rPr>
              <a:t>Fixed list, decided once</a:t>
            </a:r>
            <a:endParaRPr lang="en-US" sz="1500" dirty="0"/>
          </a:p>
          <a:p>
            <a:pPr marL="0" indent="0">
              <a:buNone/>
            </a:pPr>
            <a:r>
              <a:rPr lang="en-US" sz="1300" dirty="0">
                <a:solidFill>
                  <a:schemeClr val="accent5"/>
                </a:solidFill>
              </a:rPr>
              <a:t>Values come from dropdowns in the builder</a:t>
            </a:r>
            <a:endParaRPr lang="en-US" sz="1500" dirty="0"/>
          </a:p>
        </p:txBody>
      </p:sp>
      <p:sp>
        <p:nvSpPr>
          <p:cNvPr id="17" name="card-73"/>
          <p:cNvSpPr/>
          <p:nvPr/>
        </p:nvSpPr>
        <p:spPr>
          <a:xfrm>
            <a:off x="457200" y="4343400"/>
            <a:ext cx="11274552" cy="1874520"/>
          </a:xfrm>
          <a:prstGeom prst="roundRect">
            <a:avLst>
              <a:gd name="adj" fmla="val 3902"/>
            </a:avLst>
          </a:prstGeom>
          <a:solidFill>
            <a:schemeClr val="accent1"/>
          </a:solidFill>
          <a:ln/>
        </p:spPr>
      </p:sp>
      <p:sp>
        <p:nvSpPr>
          <p:cNvPr id="18" name="Text 15"/>
          <p:cNvSpPr txBox="1"/>
          <p:nvPr/>
        </p:nvSpPr>
        <p:spPr>
          <a:xfrm>
            <a:off x="731520" y="4480560"/>
            <a:ext cx="10789920" cy="320040"/>
          </a:xfrm>
          <a:prstGeom prst="rect">
            <a:avLst/>
          </a:prstGeom>
          <a:noFill/>
          <a:ln/>
        </p:spPr>
        <p:txBody>
          <a:bodyPr wrap="square" lIns="0" tIns="0" rIns="0" bIns="0" rtlCol="0" anchor="ctr"/>
          <a:lstStyle/>
          <a:p>
            <a:pPr marL="0" indent="0">
              <a:buNone/>
            </a:pPr>
            <a:r>
              <a:rPr lang="en-US" sz="1200" b="1" dirty="0">
                <a:solidFill>
                  <a:schemeClr val="accent2"/>
                </a:solidFill>
              </a:rPr>
              <a:t>BUILT AUTOMATICALLY FOR C05 · GOOGLE SEARCH</a:t>
            </a:r>
            <a:endParaRPr lang="en-US" sz="1200" dirty="0"/>
          </a:p>
        </p:txBody>
      </p:sp>
      <p:sp>
        <p:nvSpPr>
          <p:cNvPr id="19" name="Text 16"/>
          <p:cNvSpPr txBox="1"/>
          <p:nvPr/>
        </p:nvSpPr>
        <p:spPr>
          <a:xfrm>
            <a:off x="731520" y="4846320"/>
            <a:ext cx="10789920" cy="731520"/>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https://new-home-starter-bundle.lovable.app/?utm_source=google&amp;utm_medium=cpc&amp;utm_campaign=purchase_intent_nhsb_202611&amp;utm_content=rsa_bundle_price_v1&amp;utm_term=furniture_new_cairo</a:t>
            </a:r>
            <a:endParaRPr lang="en-US" sz="1400" dirty="0"/>
          </a:p>
        </p:txBody>
      </p:sp>
      <p:sp>
        <p:nvSpPr>
          <p:cNvPr id="20" name="Text 17"/>
          <p:cNvSpPr txBox="1"/>
          <p:nvPr/>
        </p:nvSpPr>
        <p:spPr>
          <a:xfrm>
            <a:off x="731520" y="5623560"/>
            <a:ext cx="10789920" cy="457200"/>
          </a:xfrm>
          <a:prstGeom prst="rect">
            <a:avLst/>
          </a:prstGeom>
          <a:noFill/>
          <a:ln/>
        </p:spPr>
        <p:txBody>
          <a:bodyPr wrap="square" lIns="0" tIns="0" rIns="0" bIns="0" rtlCol="0" anchor="ctr"/>
          <a:lstStyle/>
          <a:p>
            <a:pPr marL="0" indent="0">
              <a:buNone/>
            </a:pPr>
            <a:r>
              <a:rPr lang="en-US" sz="1400" dirty="0">
                <a:solidFill>
                  <a:schemeClr val="bg1"/>
                </a:solidFill>
              </a:rPr>
              <a:t>Live test: open this link and the landing page (built on Lovable) shows the UTMs it received and the GA4 channel they map to. All 9 links are formulas in the workbook.</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LANDING PAGE · LIVE ON LOVABLE</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Every link lands on one page that reads its own UTMs</a:t>
            </a:r>
            <a:endParaRPr lang="en-US" sz="2800" dirty="0"/>
          </a:p>
        </p:txBody>
      </p:sp>
      <p:sp>
        <p:nvSpPr>
          <p:cNvPr id="4" name="card-74"/>
          <p:cNvSpPr/>
          <p:nvPr/>
        </p:nvSpPr>
        <p:spPr>
          <a:xfrm>
            <a:off x="457200" y="1325880"/>
            <a:ext cx="5120640" cy="4892040"/>
          </a:xfrm>
          <a:prstGeom prst="roundRect">
            <a:avLst>
              <a:gd name="adj" fmla="val 1495"/>
            </a:avLst>
          </a:prstGeom>
          <a:solidFill>
            <a:schemeClr val="bg2"/>
          </a:solidFill>
          <a:ln/>
        </p:spPr>
      </p:sp>
      <p:sp>
        <p:nvSpPr>
          <p:cNvPr id="5" name="Text 3"/>
          <p:cNvSpPr txBox="1"/>
          <p:nvPr/>
        </p:nvSpPr>
        <p:spPr>
          <a:xfrm>
            <a:off x="685800" y="1463040"/>
            <a:ext cx="4663440" cy="411480"/>
          </a:xfrm>
          <a:prstGeom prst="rect">
            <a:avLst/>
          </a:prstGeom>
          <a:noFill/>
          <a:ln/>
        </p:spPr>
        <p:txBody>
          <a:bodyPr wrap="square" lIns="0" tIns="0" rIns="0" bIns="0" rtlCol="0" anchor="ctr"/>
          <a:lstStyle/>
          <a:p>
            <a:pPr marL="0" indent="0">
              <a:buNone/>
            </a:pPr>
            <a:r>
              <a:rPr lang="en-US" sz="1600" b="1" dirty="0">
                <a:solidFill>
                  <a:schemeClr val="tx1"/>
                </a:solidFill>
              </a:rPr>
              <a:t>7-section skeleton</a:t>
            </a:r>
            <a:endParaRPr lang="en-US" sz="1600" dirty="0"/>
          </a:p>
        </p:txBody>
      </p:sp>
      <p:sp>
        <p:nvSpPr>
          <p:cNvPr id="6" name="num-75"/>
          <p:cNvSpPr/>
          <p:nvPr/>
        </p:nvSpPr>
        <p:spPr>
          <a:xfrm>
            <a:off x="685800" y="2020824"/>
            <a:ext cx="365760" cy="365760"/>
          </a:xfrm>
          <a:prstGeom prst="ellipse">
            <a:avLst/>
          </a:prstGeom>
          <a:solidFill>
            <a:schemeClr val="accent1"/>
          </a:solidFill>
          <a:ln/>
        </p:spPr>
      </p:sp>
      <p:sp>
        <p:nvSpPr>
          <p:cNvPr id="7" name="numtxt-76"/>
          <p:cNvSpPr txBox="1"/>
          <p:nvPr/>
        </p:nvSpPr>
        <p:spPr>
          <a:xfrm>
            <a:off x="685800" y="2020824"/>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6"/>
          <p:cNvSpPr txBox="1"/>
          <p:nvPr/>
        </p:nvSpPr>
        <p:spPr>
          <a:xfrm>
            <a:off x="1188720" y="1965960"/>
            <a:ext cx="4206240" cy="475488"/>
          </a:xfrm>
          <a:prstGeom prst="rect">
            <a:avLst/>
          </a:prstGeom>
          <a:noFill/>
          <a:ln/>
        </p:spPr>
        <p:txBody>
          <a:bodyPr wrap="square" lIns="0" tIns="0" rIns="0" bIns="0" rtlCol="0" anchor="ctr"/>
          <a:lstStyle/>
          <a:p>
            <a:pPr marL="0" indent="0">
              <a:buNone/>
            </a:pPr>
            <a:r>
              <a:rPr lang="en-US" sz="1500" dirty="0">
                <a:solidFill>
                  <a:schemeClr val="tx1"/>
                </a:solidFill>
              </a:rPr>
              <a:t>Hero: first apartment, planned in one afternoon</a:t>
            </a:r>
            <a:endParaRPr lang="en-US" sz="1500" dirty="0"/>
          </a:p>
        </p:txBody>
      </p:sp>
      <p:sp>
        <p:nvSpPr>
          <p:cNvPr id="9" name="num-77"/>
          <p:cNvSpPr/>
          <p:nvPr/>
        </p:nvSpPr>
        <p:spPr>
          <a:xfrm>
            <a:off x="685800" y="2606040"/>
            <a:ext cx="365760" cy="365760"/>
          </a:xfrm>
          <a:prstGeom prst="ellipse">
            <a:avLst/>
          </a:prstGeom>
          <a:solidFill>
            <a:schemeClr val="accent1"/>
          </a:solidFill>
          <a:ln/>
        </p:spPr>
      </p:sp>
      <p:sp>
        <p:nvSpPr>
          <p:cNvPr id="10" name="numtxt-78"/>
          <p:cNvSpPr txBox="1"/>
          <p:nvPr/>
        </p:nvSpPr>
        <p:spPr>
          <a:xfrm>
            <a:off x="685800" y="26060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9"/>
          <p:cNvSpPr txBox="1"/>
          <p:nvPr/>
        </p:nvSpPr>
        <p:spPr>
          <a:xfrm>
            <a:off x="1188720" y="2551176"/>
            <a:ext cx="4206240" cy="475488"/>
          </a:xfrm>
          <a:prstGeom prst="rect">
            <a:avLst/>
          </a:prstGeom>
          <a:noFill/>
          <a:ln/>
        </p:spPr>
        <p:txBody>
          <a:bodyPr wrap="square" lIns="0" tIns="0" rIns="0" bIns="0" rtlCol="0" anchor="ctr"/>
          <a:lstStyle/>
          <a:p>
            <a:pPr marL="0" indent="0">
              <a:buNone/>
            </a:pPr>
            <a:r>
              <a:rPr lang="en-US" sz="1500" dirty="0">
                <a:solidFill>
                  <a:schemeClr val="tx1"/>
                </a:solidFill>
              </a:rPr>
              <a:t>Social proof (illustrative)</a:t>
            </a:r>
            <a:endParaRPr lang="en-US" sz="1500" dirty="0"/>
          </a:p>
        </p:txBody>
      </p:sp>
      <p:sp>
        <p:nvSpPr>
          <p:cNvPr id="12" name="num-79"/>
          <p:cNvSpPr/>
          <p:nvPr/>
        </p:nvSpPr>
        <p:spPr>
          <a:xfrm>
            <a:off x="685800" y="3191256"/>
            <a:ext cx="365760" cy="365760"/>
          </a:xfrm>
          <a:prstGeom prst="ellipse">
            <a:avLst/>
          </a:prstGeom>
          <a:solidFill>
            <a:schemeClr val="accent1"/>
          </a:solidFill>
          <a:ln/>
        </p:spPr>
      </p:sp>
      <p:sp>
        <p:nvSpPr>
          <p:cNvPr id="13" name="numtxt-80"/>
          <p:cNvSpPr txBox="1"/>
          <p:nvPr/>
        </p:nvSpPr>
        <p:spPr>
          <a:xfrm>
            <a:off x="685800" y="3191256"/>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 12"/>
          <p:cNvSpPr txBox="1"/>
          <p:nvPr/>
        </p:nvSpPr>
        <p:spPr>
          <a:xfrm>
            <a:off x="1188720" y="3136392"/>
            <a:ext cx="4206240" cy="475488"/>
          </a:xfrm>
          <a:prstGeom prst="rect">
            <a:avLst/>
          </a:prstGeom>
          <a:noFill/>
          <a:ln/>
        </p:spPr>
        <p:txBody>
          <a:bodyPr wrap="square" lIns="0" tIns="0" rIns="0" bIns="0" rtlCol="0" anchor="ctr"/>
          <a:lstStyle/>
          <a:p>
            <a:pPr marL="0" indent="0">
              <a:buNone/>
            </a:pPr>
            <a:r>
              <a:rPr lang="en-US" sz="1500" dirty="0">
                <a:solidFill>
                  <a:schemeClr val="tx1"/>
                </a:solidFill>
              </a:rPr>
              <a:t>Problem: carpenter delays, hidden costs</a:t>
            </a:r>
            <a:endParaRPr lang="en-US" sz="1500" dirty="0"/>
          </a:p>
        </p:txBody>
      </p:sp>
      <p:sp>
        <p:nvSpPr>
          <p:cNvPr id="15" name="num-81"/>
          <p:cNvSpPr/>
          <p:nvPr/>
        </p:nvSpPr>
        <p:spPr>
          <a:xfrm>
            <a:off x="685800" y="3776472"/>
            <a:ext cx="365760" cy="365760"/>
          </a:xfrm>
          <a:prstGeom prst="ellipse">
            <a:avLst/>
          </a:prstGeom>
          <a:solidFill>
            <a:schemeClr val="accent1"/>
          </a:solidFill>
          <a:ln/>
        </p:spPr>
      </p:sp>
      <p:sp>
        <p:nvSpPr>
          <p:cNvPr id="16" name="numtxt-82"/>
          <p:cNvSpPr txBox="1"/>
          <p:nvPr/>
        </p:nvSpPr>
        <p:spPr>
          <a:xfrm>
            <a:off x="685800" y="377647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ext 15"/>
          <p:cNvSpPr txBox="1"/>
          <p:nvPr/>
        </p:nvSpPr>
        <p:spPr>
          <a:xfrm>
            <a:off x="1188720" y="3721608"/>
            <a:ext cx="4206240" cy="475488"/>
          </a:xfrm>
          <a:prstGeom prst="rect">
            <a:avLst/>
          </a:prstGeom>
          <a:noFill/>
          <a:ln/>
        </p:spPr>
        <p:txBody>
          <a:bodyPr wrap="square" lIns="0" tIns="0" rIns="0" bIns="0" rtlCol="0" anchor="ctr"/>
          <a:lstStyle/>
          <a:p>
            <a:pPr marL="0" indent="0">
              <a:buNone/>
            </a:pPr>
            <a:r>
              <a:rPr lang="en-US" sz="1500" dirty="0">
                <a:solidFill>
                  <a:schemeClr val="tx1"/>
                </a:solidFill>
              </a:rPr>
              <a:t>Solution: plan, pick, delivered</a:t>
            </a:r>
            <a:endParaRPr lang="en-US" sz="1500" dirty="0"/>
          </a:p>
        </p:txBody>
      </p:sp>
      <p:sp>
        <p:nvSpPr>
          <p:cNvPr id="18" name="num-83"/>
          <p:cNvSpPr/>
          <p:nvPr/>
        </p:nvSpPr>
        <p:spPr>
          <a:xfrm>
            <a:off x="685800" y="4361688"/>
            <a:ext cx="365760" cy="365760"/>
          </a:xfrm>
          <a:prstGeom prst="ellipse">
            <a:avLst/>
          </a:prstGeom>
          <a:solidFill>
            <a:schemeClr val="accent1"/>
          </a:solidFill>
          <a:ln/>
        </p:spPr>
      </p:sp>
      <p:sp>
        <p:nvSpPr>
          <p:cNvPr id="19" name="numtxt-84"/>
          <p:cNvSpPr txBox="1"/>
          <p:nvPr/>
        </p:nvSpPr>
        <p:spPr>
          <a:xfrm>
            <a:off x="685800" y="436168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ext 18"/>
          <p:cNvSpPr txBox="1"/>
          <p:nvPr/>
        </p:nvSpPr>
        <p:spPr>
          <a:xfrm>
            <a:off x="1188720" y="4306824"/>
            <a:ext cx="4206240" cy="475488"/>
          </a:xfrm>
          <a:prstGeom prst="rect">
            <a:avLst/>
          </a:prstGeom>
          <a:noFill/>
          <a:ln/>
        </p:spPr>
        <p:txBody>
          <a:bodyPr wrap="square" lIns="0" tIns="0" rIns="0" bIns="0" rtlCol="0" anchor="ctr"/>
          <a:lstStyle/>
          <a:p>
            <a:pPr marL="0" indent="0">
              <a:buNone/>
            </a:pPr>
            <a:r>
              <a:rPr lang="en-US" sz="1500" dirty="0">
                <a:solidFill>
                  <a:schemeClr val="tx1"/>
                </a:solidFill>
              </a:rPr>
              <a:t>Inside the bundle + guarantees</a:t>
            </a:r>
            <a:endParaRPr lang="en-US" sz="1500" dirty="0"/>
          </a:p>
        </p:txBody>
      </p:sp>
      <p:sp>
        <p:nvSpPr>
          <p:cNvPr id="21" name="num-85"/>
          <p:cNvSpPr/>
          <p:nvPr/>
        </p:nvSpPr>
        <p:spPr>
          <a:xfrm>
            <a:off x="685800" y="4946904"/>
            <a:ext cx="365760" cy="365760"/>
          </a:xfrm>
          <a:prstGeom prst="ellipse">
            <a:avLst/>
          </a:prstGeom>
          <a:solidFill>
            <a:schemeClr val="accent1"/>
          </a:solidFill>
          <a:ln/>
        </p:spPr>
      </p:sp>
      <p:sp>
        <p:nvSpPr>
          <p:cNvPr id="22" name="numtxt-86"/>
          <p:cNvSpPr txBox="1"/>
          <p:nvPr/>
        </p:nvSpPr>
        <p:spPr>
          <a:xfrm>
            <a:off x="685800" y="4946904"/>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3" name="Text 21"/>
          <p:cNvSpPr txBox="1"/>
          <p:nvPr/>
        </p:nvSpPr>
        <p:spPr>
          <a:xfrm>
            <a:off x="1188720" y="4892040"/>
            <a:ext cx="4206240" cy="475488"/>
          </a:xfrm>
          <a:prstGeom prst="rect">
            <a:avLst/>
          </a:prstGeom>
          <a:noFill/>
          <a:ln/>
        </p:spPr>
        <p:txBody>
          <a:bodyPr wrap="square" lIns="0" tIns="0" rIns="0" bIns="0" rtlCol="0" anchor="ctr"/>
          <a:lstStyle/>
          <a:p>
            <a:pPr marL="0" indent="0">
              <a:buNone/>
            </a:pPr>
            <a:r>
              <a:rPr lang="en-US" sz="1500" dirty="0">
                <a:solidFill>
                  <a:schemeClr val="tx1"/>
                </a:solidFill>
              </a:rPr>
              <a:t>FAQ: delivery, COD, returns</a:t>
            </a:r>
            <a:endParaRPr lang="en-US" sz="1500" dirty="0"/>
          </a:p>
        </p:txBody>
      </p:sp>
      <p:sp>
        <p:nvSpPr>
          <p:cNvPr id="24" name="num-87"/>
          <p:cNvSpPr/>
          <p:nvPr/>
        </p:nvSpPr>
        <p:spPr>
          <a:xfrm>
            <a:off x="685800" y="5532120"/>
            <a:ext cx="365760" cy="365760"/>
          </a:xfrm>
          <a:prstGeom prst="ellipse">
            <a:avLst/>
          </a:prstGeom>
          <a:solidFill>
            <a:schemeClr val="accent1"/>
          </a:solidFill>
          <a:ln/>
        </p:spPr>
      </p:sp>
      <p:sp>
        <p:nvSpPr>
          <p:cNvPr id="25" name="numtxt-88"/>
          <p:cNvSpPr txBox="1"/>
          <p:nvPr/>
        </p:nvSpPr>
        <p:spPr>
          <a:xfrm>
            <a:off x="685800" y="553212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26" name="Text 24"/>
          <p:cNvSpPr txBox="1"/>
          <p:nvPr/>
        </p:nvSpPr>
        <p:spPr>
          <a:xfrm>
            <a:off x="1188720" y="5477256"/>
            <a:ext cx="4206240" cy="475488"/>
          </a:xfrm>
          <a:prstGeom prst="rect">
            <a:avLst/>
          </a:prstGeom>
          <a:noFill/>
          <a:ln/>
        </p:spPr>
        <p:txBody>
          <a:bodyPr wrap="square" lIns="0" tIns="0" rIns="0" bIns="0" rtlCol="0" anchor="ctr"/>
          <a:lstStyle/>
          <a:p>
            <a:pPr marL="0" indent="0">
              <a:buNone/>
            </a:pPr>
            <a:r>
              <a:rPr lang="en-US" sz="1500" dirty="0">
                <a:solidFill>
                  <a:schemeClr val="tx1"/>
                </a:solidFill>
              </a:rPr>
              <a:t>Closing CTA + planning-session form</a:t>
            </a:r>
            <a:endParaRPr lang="en-US" sz="1500" dirty="0"/>
          </a:p>
        </p:txBody>
      </p:sp>
      <p:sp>
        <p:nvSpPr>
          <p:cNvPr id="27" name="card-89"/>
          <p:cNvSpPr/>
          <p:nvPr/>
        </p:nvSpPr>
        <p:spPr>
          <a:xfrm>
            <a:off x="5852160" y="1325880"/>
            <a:ext cx="5879592" cy="1371600"/>
          </a:xfrm>
          <a:prstGeom prst="roundRect">
            <a:avLst>
              <a:gd name="adj" fmla="val 5333"/>
            </a:avLst>
          </a:prstGeom>
          <a:solidFill>
            <a:schemeClr val="accent1"/>
          </a:solidFill>
          <a:ln/>
        </p:spPr>
      </p:sp>
      <p:sp>
        <p:nvSpPr>
          <p:cNvPr id="28" name="Text 26"/>
          <p:cNvSpPr txBox="1"/>
          <p:nvPr/>
        </p:nvSpPr>
        <p:spPr>
          <a:xfrm>
            <a:off x="6080760" y="1444752"/>
            <a:ext cx="5486400" cy="274320"/>
          </a:xfrm>
          <a:prstGeom prst="rect">
            <a:avLst/>
          </a:prstGeom>
          <a:noFill/>
          <a:ln/>
        </p:spPr>
        <p:txBody>
          <a:bodyPr wrap="square" lIns="0" tIns="0" rIns="0" bIns="0" rtlCol="0" anchor="ctr"/>
          <a:lstStyle/>
          <a:p>
            <a:pPr marL="0" indent="0">
              <a:buNone/>
            </a:pPr>
            <a:r>
              <a:rPr lang="en-US" sz="1200" b="1" dirty="0">
                <a:solidFill>
                  <a:schemeClr val="accent2"/>
                </a:solidFill>
              </a:rPr>
              <a:t>LIVE URL</a:t>
            </a:r>
            <a:endParaRPr lang="en-US" sz="1200" dirty="0"/>
          </a:p>
        </p:txBody>
      </p:sp>
      <p:sp>
        <p:nvSpPr>
          <p:cNvPr id="29" name="Text 27">
            <a:hlinkClick r:id="rId3"/>
          </p:cNvPr>
          <p:cNvSpPr txBox="1"/>
          <p:nvPr/>
        </p:nvSpPr>
        <p:spPr>
          <a:xfrm>
            <a:off x="6080760" y="1755648"/>
            <a:ext cx="5486400" cy="502920"/>
          </a:xfrm>
          <a:prstGeom prst="rect">
            <a:avLst/>
          </a:prstGeom>
          <a:noFill/>
          <a:ln/>
        </p:spPr>
        <p:txBody>
          <a:bodyPr wrap="square" lIns="0" tIns="0" rIns="0" bIns="0" rtlCol="0" anchor="ctr"/>
          <a:lstStyle/>
          <a:p>
            <a:pPr marL="0" indent="0">
              <a:buNone/>
            </a:pPr>
            <a:r>
              <a:rPr lang="en-US" sz="2200" b="1" u="sng" dirty="0">
                <a:solidFill>
                  <a:schemeClr val="bg1"/>
                </a:solidFill>
                <a:hlinkClick r:id="rId3">
                  <a:extLst>
                    <a:ext uri="{A12FA001-AC4F-418D-AE19-62706E023703}">
                      <ahyp:hlinkClr xmlns:ahyp="http://schemas.microsoft.com/office/drawing/2018/hyperlinkcolor" val="tx"/>
                    </a:ext>
                  </a:extLst>
                </a:hlinkClick>
              </a:rPr>
              <a:t>new-home-starter-bundle.lovable.app</a:t>
            </a:r>
            <a:endParaRPr lang="en-US" sz="2200" dirty="0"/>
          </a:p>
        </p:txBody>
      </p:sp>
      <p:sp>
        <p:nvSpPr>
          <p:cNvPr id="30" name="Text 28"/>
          <p:cNvSpPr txBox="1"/>
          <p:nvPr/>
        </p:nvSpPr>
        <p:spPr>
          <a:xfrm>
            <a:off x="6080760" y="2258568"/>
            <a:ext cx="5486400" cy="365760"/>
          </a:xfrm>
          <a:prstGeom prst="rect">
            <a:avLst/>
          </a:prstGeom>
          <a:noFill/>
          <a:ln/>
        </p:spPr>
        <p:txBody>
          <a:bodyPr wrap="square" lIns="0" tIns="0" rIns="0" bIns="0" rtlCol="0" anchor="ctr"/>
          <a:lstStyle/>
          <a:p>
            <a:pPr marL="0" indent="0">
              <a:buNone/>
            </a:pPr>
            <a:r>
              <a:rPr lang="en-US" sz="1300" dirty="0">
                <a:solidFill>
                  <a:schemeClr val="bg1"/>
                </a:solidFill>
              </a:rPr>
              <a:t>Built in one prompt. Clearly labelled as a student concept, not an IKEA site.</a:t>
            </a:r>
            <a:endParaRPr lang="en-US" sz="1300" dirty="0"/>
          </a:p>
        </p:txBody>
      </p:sp>
      <p:sp>
        <p:nvSpPr>
          <p:cNvPr id="31" name="card-90"/>
          <p:cNvSpPr/>
          <p:nvPr/>
        </p:nvSpPr>
        <p:spPr>
          <a:xfrm>
            <a:off x="5852160" y="2880360"/>
            <a:ext cx="5879592" cy="1005840"/>
          </a:xfrm>
          <a:prstGeom prst="roundRect">
            <a:avLst>
              <a:gd name="adj" fmla="val 7273"/>
            </a:avLst>
          </a:prstGeom>
          <a:solidFill>
            <a:schemeClr val="bg2"/>
          </a:solidFill>
          <a:ln/>
        </p:spPr>
      </p:sp>
      <p:sp>
        <p:nvSpPr>
          <p:cNvPr id="32" name="tick-91"/>
          <p:cNvSpPr/>
          <p:nvPr/>
        </p:nvSpPr>
        <p:spPr>
          <a:xfrm>
            <a:off x="6035040" y="3236976"/>
            <a:ext cx="292608" cy="292608"/>
          </a:xfrm>
          <a:prstGeom prst="ellipse">
            <a:avLst/>
          </a:prstGeom>
          <a:solidFill>
            <a:schemeClr val="accent3"/>
          </a:solidFill>
          <a:ln/>
        </p:spPr>
      </p:sp>
      <p:sp>
        <p:nvSpPr>
          <p:cNvPr id="33" name="Text 31"/>
          <p:cNvSpPr txBox="1"/>
          <p:nvPr/>
        </p:nvSpPr>
        <p:spPr>
          <a:xfrm>
            <a:off x="6492240" y="2926080"/>
            <a:ext cx="5074920" cy="914400"/>
          </a:xfrm>
          <a:prstGeom prst="rect">
            <a:avLst/>
          </a:prstGeom>
          <a:noFill/>
          <a:ln/>
        </p:spPr>
        <p:txBody>
          <a:bodyPr wrap="square" lIns="0" tIns="0" rIns="0" bIns="0" rtlCol="0" anchor="ctr"/>
          <a:lstStyle/>
          <a:p>
            <a:pPr marL="0" indent="0">
              <a:buNone/>
            </a:pPr>
            <a:r>
              <a:rPr lang="en-US" sz="1500" b="1" dirty="0">
                <a:solidFill>
                  <a:schemeClr val="tx1"/>
                </a:solidFill>
              </a:rPr>
              <a:t>Reads the 5 UTMs</a:t>
            </a:r>
            <a:endParaRPr lang="en-US" sz="1500" dirty="0"/>
          </a:p>
          <a:p>
            <a:pPr marL="0" indent="0">
              <a:buNone/>
            </a:pPr>
            <a:r>
              <a:rPr lang="en-US" sz="1300" dirty="0">
                <a:solidFill>
                  <a:schemeClr val="accent5"/>
                </a:solidFill>
              </a:rPr>
              <a:t>Shows them in a tracking debug card and keeps the first touch for the session</a:t>
            </a:r>
            <a:endParaRPr lang="en-US" sz="1500" dirty="0"/>
          </a:p>
        </p:txBody>
      </p:sp>
      <p:sp>
        <p:nvSpPr>
          <p:cNvPr id="34" name="card-92"/>
          <p:cNvSpPr/>
          <p:nvPr/>
        </p:nvSpPr>
        <p:spPr>
          <a:xfrm>
            <a:off x="5852160" y="4005072"/>
            <a:ext cx="5879592" cy="1005840"/>
          </a:xfrm>
          <a:prstGeom prst="roundRect">
            <a:avLst>
              <a:gd name="adj" fmla="val 7273"/>
            </a:avLst>
          </a:prstGeom>
          <a:solidFill>
            <a:schemeClr val="bg2"/>
          </a:solidFill>
          <a:ln/>
        </p:spPr>
      </p:sp>
      <p:sp>
        <p:nvSpPr>
          <p:cNvPr id="35" name="tick-93"/>
          <p:cNvSpPr/>
          <p:nvPr/>
        </p:nvSpPr>
        <p:spPr>
          <a:xfrm>
            <a:off x="6035040" y="4361688"/>
            <a:ext cx="292608" cy="292608"/>
          </a:xfrm>
          <a:prstGeom prst="ellipse">
            <a:avLst/>
          </a:prstGeom>
          <a:solidFill>
            <a:schemeClr val="accent3"/>
          </a:solidFill>
          <a:ln/>
        </p:spPr>
      </p:sp>
      <p:sp>
        <p:nvSpPr>
          <p:cNvPr id="36" name="Text 34"/>
          <p:cNvSpPr txBox="1"/>
          <p:nvPr/>
        </p:nvSpPr>
        <p:spPr>
          <a:xfrm>
            <a:off x="6492240" y="4050792"/>
            <a:ext cx="5074920" cy="914400"/>
          </a:xfrm>
          <a:prstGeom prst="rect">
            <a:avLst/>
          </a:prstGeom>
          <a:noFill/>
          <a:ln/>
        </p:spPr>
        <p:txBody>
          <a:bodyPr wrap="square" lIns="0" tIns="0" rIns="0" bIns="0" rtlCol="0" anchor="ctr"/>
          <a:lstStyle/>
          <a:p>
            <a:pPr marL="0" indent="0">
              <a:buNone/>
            </a:pPr>
            <a:r>
              <a:rPr lang="en-US" sz="1500" b="1" dirty="0">
                <a:solidFill>
                  <a:schemeClr val="tx1"/>
                </a:solidFill>
              </a:rPr>
              <a:t>Maps the GA4 channel</a:t>
            </a:r>
            <a:endParaRPr lang="en-US" sz="1500" dirty="0"/>
          </a:p>
          <a:p>
            <a:pPr marL="0" indent="0">
              <a:buNone/>
            </a:pPr>
            <a:r>
              <a:rPr lang="en-US" sz="1300" dirty="0">
                <a:solidFill>
                  <a:schemeClr val="accent5"/>
                </a:solidFill>
              </a:rPr>
              <a:t>cpc + meta → Paid Social, cpc + google → Paid Search, whatsapp → custom group</a:t>
            </a:r>
            <a:endParaRPr lang="en-US" sz="1500" dirty="0"/>
          </a:p>
        </p:txBody>
      </p:sp>
      <p:sp>
        <p:nvSpPr>
          <p:cNvPr id="37" name="card-94"/>
          <p:cNvSpPr/>
          <p:nvPr/>
        </p:nvSpPr>
        <p:spPr>
          <a:xfrm>
            <a:off x="5852160" y="5129784"/>
            <a:ext cx="5879592" cy="1005840"/>
          </a:xfrm>
          <a:prstGeom prst="roundRect">
            <a:avLst>
              <a:gd name="adj" fmla="val 7273"/>
            </a:avLst>
          </a:prstGeom>
          <a:solidFill>
            <a:schemeClr val="bg2"/>
          </a:solidFill>
          <a:ln/>
        </p:spPr>
      </p:sp>
      <p:sp>
        <p:nvSpPr>
          <p:cNvPr id="38" name="tick-95"/>
          <p:cNvSpPr/>
          <p:nvPr/>
        </p:nvSpPr>
        <p:spPr>
          <a:xfrm>
            <a:off x="6035040" y="5486400"/>
            <a:ext cx="292608" cy="292608"/>
          </a:xfrm>
          <a:prstGeom prst="ellipse">
            <a:avLst/>
          </a:prstGeom>
          <a:solidFill>
            <a:schemeClr val="accent3"/>
          </a:solidFill>
          <a:ln/>
        </p:spPr>
      </p:sp>
      <p:sp>
        <p:nvSpPr>
          <p:cNvPr id="39" name="Text 37"/>
          <p:cNvSpPr txBox="1"/>
          <p:nvPr/>
        </p:nvSpPr>
        <p:spPr>
          <a:xfrm>
            <a:off x="6492240" y="5175504"/>
            <a:ext cx="5074920" cy="914400"/>
          </a:xfrm>
          <a:prstGeom prst="rect">
            <a:avLst/>
          </a:prstGeom>
          <a:noFill/>
          <a:ln/>
        </p:spPr>
        <p:txBody>
          <a:bodyPr wrap="square" lIns="0" tIns="0" rIns="0" bIns="0" rtlCol="0" anchor="ctr"/>
          <a:lstStyle/>
          <a:p>
            <a:pPr marL="0" indent="0">
              <a:buNone/>
            </a:pPr>
            <a:r>
              <a:rPr lang="en-US" sz="1500" b="1" dirty="0">
                <a:solidFill>
                  <a:schemeClr val="tx1"/>
                </a:solidFill>
              </a:rPr>
              <a:t>Fires the tracking plan</a:t>
            </a:r>
            <a:endParaRPr lang="en-US" sz="1500" dirty="0"/>
          </a:p>
          <a:p>
            <a:pPr marL="0" indent="0">
              <a:buNone/>
            </a:pPr>
            <a:r>
              <a:rPr lang="en-US" sz="1300" dirty="0">
                <a:solidFill>
                  <a:schemeClr val="accent5"/>
                </a:solidFill>
              </a:rPr>
              <a:t>page_view, select_promotion, view_item and generate_lead pushed to dataLayer with UTMs attached</a:t>
            </a:r>
            <a:endParaRPr lang="en-US" sz="1500" dirty="0"/>
          </a:p>
        </p:txBody>
      </p:sp>
      <p:sp>
        <p:nvSpPr>
          <p:cNvPr id="40"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TRACKING PLAN</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One event map, read by GA4 and every pixel</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2633472"/>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2496312">
                  <a:extLst>
                    <a:ext uri="{9D8B030D-6E8A-4147-A177-3AD203B41FA5}">
                      <a16:colId xmlns:a16="http://schemas.microsoft.com/office/drawing/2014/main" val="20005"/>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GA4 event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Meta (Pixel + CAPI)</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TikTok</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Google Ads</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Used for</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Product interest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ourier New" pitchFamily="34" charset="0"/>
                          <a:ea typeface="Courier New" pitchFamily="34" charset="-122"/>
                          <a:cs typeface="Courier New" pitchFamily="34" charset="-120"/>
                        </a:rPr>
                        <a:t>view_item</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ViewContent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ViewContent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Retargeting pool, viewers 30d</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Planner intent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ourier New" pitchFamily="34" charset="0"/>
                          <a:ea typeface="Courier New" pitchFamily="34" charset="-122"/>
                          <a:cs typeface="Courier New" pitchFamily="34" charset="-120"/>
                        </a:rPr>
                        <a:t>generate_lead</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Lead</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SubmitForm</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Secondary</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MOFU success, Entry offer</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Cart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ourier New" pitchFamily="34" charset="0"/>
                          <a:ea typeface="Courier New" pitchFamily="34" charset="-122"/>
                          <a:cs typeface="Courier New" pitchFamily="34" charset="-120"/>
                        </a:rPr>
                        <a:t>add_to_cart</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AddToCart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AddToCart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Retargeting pool, carts 14d</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3"/>
                  </a:ext>
                </a:extLst>
              </a:tr>
              <a:tr h="438912">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Checkout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ourier New" pitchFamily="34" charset="0"/>
                          <a:ea typeface="Courier New" pitchFamily="34" charset="-122"/>
                          <a:cs typeface="Courier New" pitchFamily="34" charset="-120"/>
                        </a:rPr>
                        <a:t>begin_checkout</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InitiateCheckout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InitiateCheckout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WhatsApp recovery flow</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Purchase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1F2937"/>
                          </a:solidFill>
                          <a:latin typeface="Courier New" pitchFamily="34" charset="0"/>
                          <a:ea typeface="Courier New" pitchFamily="34" charset="-122"/>
                          <a:cs typeface="Courier New" pitchFamily="34" charset="-120"/>
                        </a:rPr>
                        <a:t>purchase</a:t>
                      </a:r>
                      <a:endParaRPr lang="en-US" sz="1300" dirty="0">
                        <a:latin typeface="Courier New" charset="0"/>
                        <a:ea typeface="Courier New" charset="0"/>
                        <a:cs typeface="Courier New"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Purchase (event_id)</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CompletePayment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Primary (value)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1F2937"/>
                          </a:solidFill>
                          <a:latin typeface="Calibri" pitchFamily="34" charset="0"/>
                          <a:ea typeface="Calibri" pitchFamily="34" charset="-122"/>
                          <a:cs typeface="Calibri" pitchFamily="34" charset="-120"/>
                        </a:rPr>
                        <a:t>ROAS, CPA, attribution</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457200" y="4160520"/>
            <a:ext cx="5486400" cy="365760"/>
          </a:xfrm>
          <a:prstGeom prst="rect">
            <a:avLst/>
          </a:prstGeom>
          <a:noFill/>
          <a:ln/>
        </p:spPr>
        <p:txBody>
          <a:bodyPr wrap="square" lIns="0" tIns="0" rIns="0" bIns="0" rtlCol="0" anchor="ctr"/>
          <a:lstStyle/>
          <a:p>
            <a:pPr marL="0" indent="0">
              <a:buNone/>
            </a:pPr>
            <a:r>
              <a:rPr lang="en-US" sz="1600" b="1" dirty="0">
                <a:solidFill>
                  <a:schemeClr val="tx1"/>
                </a:solidFill>
              </a:rPr>
              <a:t>Launch QA</a:t>
            </a:r>
            <a:endParaRPr lang="en-US" sz="1600" dirty="0"/>
          </a:p>
        </p:txBody>
      </p:sp>
      <p:sp>
        <p:nvSpPr>
          <p:cNvPr id="6" name="card-96"/>
          <p:cNvSpPr/>
          <p:nvPr/>
        </p:nvSpPr>
        <p:spPr>
          <a:xfrm>
            <a:off x="457200" y="4617720"/>
            <a:ext cx="5541264" cy="658368"/>
          </a:xfrm>
          <a:prstGeom prst="roundRect">
            <a:avLst>
              <a:gd name="adj" fmla="val 11111"/>
            </a:avLst>
          </a:prstGeom>
          <a:solidFill>
            <a:schemeClr val="bg2"/>
          </a:solidFill>
          <a:ln/>
        </p:spPr>
      </p:sp>
      <p:sp>
        <p:nvSpPr>
          <p:cNvPr id="7" name="tick-97"/>
          <p:cNvSpPr/>
          <p:nvPr/>
        </p:nvSpPr>
        <p:spPr>
          <a:xfrm>
            <a:off x="640080" y="4809744"/>
            <a:ext cx="274320" cy="274320"/>
          </a:xfrm>
          <a:prstGeom prst="ellipse">
            <a:avLst/>
          </a:prstGeom>
          <a:solidFill>
            <a:schemeClr val="accent3"/>
          </a:solidFill>
          <a:ln/>
        </p:spPr>
      </p:sp>
      <p:sp>
        <p:nvSpPr>
          <p:cNvPr id="8" name="Text 5"/>
          <p:cNvSpPr txBox="1"/>
          <p:nvPr/>
        </p:nvSpPr>
        <p:spPr>
          <a:xfrm>
            <a:off x="1051560" y="4654296"/>
            <a:ext cx="4846320" cy="585216"/>
          </a:xfrm>
          <a:prstGeom prst="rect">
            <a:avLst/>
          </a:prstGeom>
          <a:noFill/>
          <a:ln/>
        </p:spPr>
        <p:txBody>
          <a:bodyPr wrap="square" lIns="0" tIns="0" rIns="0" bIns="0" rtlCol="0" anchor="ctr"/>
          <a:lstStyle/>
          <a:p>
            <a:pPr marL="0" indent="0">
              <a:buNone/>
            </a:pPr>
            <a:r>
              <a:rPr lang="en-US" sz="1400" dirty="0">
                <a:solidFill>
                  <a:schemeClr val="tx1"/>
                </a:solidFill>
              </a:rPr>
              <a:t>Test order shows purchase with transaction_id and EGP value in GA4 DebugView</a:t>
            </a:r>
            <a:endParaRPr lang="en-US" sz="1400" dirty="0"/>
          </a:p>
        </p:txBody>
      </p:sp>
      <p:sp>
        <p:nvSpPr>
          <p:cNvPr id="9" name="card-98"/>
          <p:cNvSpPr/>
          <p:nvPr/>
        </p:nvSpPr>
        <p:spPr>
          <a:xfrm>
            <a:off x="6190488" y="4617720"/>
            <a:ext cx="5541264" cy="658368"/>
          </a:xfrm>
          <a:prstGeom prst="roundRect">
            <a:avLst>
              <a:gd name="adj" fmla="val 11111"/>
            </a:avLst>
          </a:prstGeom>
          <a:solidFill>
            <a:schemeClr val="bg2"/>
          </a:solidFill>
          <a:ln/>
        </p:spPr>
      </p:sp>
      <p:sp>
        <p:nvSpPr>
          <p:cNvPr id="10" name="tick-99"/>
          <p:cNvSpPr/>
          <p:nvPr/>
        </p:nvSpPr>
        <p:spPr>
          <a:xfrm>
            <a:off x="6373368" y="4809744"/>
            <a:ext cx="274320" cy="274320"/>
          </a:xfrm>
          <a:prstGeom prst="ellipse">
            <a:avLst/>
          </a:prstGeom>
          <a:solidFill>
            <a:schemeClr val="accent3"/>
          </a:solidFill>
          <a:ln/>
        </p:spPr>
      </p:sp>
      <p:sp>
        <p:nvSpPr>
          <p:cNvPr id="11" name="Text 8"/>
          <p:cNvSpPr txBox="1"/>
          <p:nvPr/>
        </p:nvSpPr>
        <p:spPr>
          <a:xfrm>
            <a:off x="6784848" y="4654296"/>
            <a:ext cx="4846320" cy="585216"/>
          </a:xfrm>
          <a:prstGeom prst="rect">
            <a:avLst/>
          </a:prstGeom>
          <a:noFill/>
          <a:ln/>
        </p:spPr>
        <p:txBody>
          <a:bodyPr wrap="square" lIns="0" tIns="0" rIns="0" bIns="0" rtlCol="0" anchor="ctr"/>
          <a:lstStyle/>
          <a:p>
            <a:pPr marL="0" indent="0">
              <a:buNone/>
            </a:pPr>
            <a:r>
              <a:rPr lang="en-US" sz="1400" dirty="0">
                <a:solidFill>
                  <a:schemeClr val="tx1"/>
                </a:solidFill>
              </a:rPr>
              <a:t>Meta Pixel and CAPI share one event_id, so purchases are not double-counted</a:t>
            </a:r>
            <a:endParaRPr lang="en-US" sz="1400" dirty="0"/>
          </a:p>
        </p:txBody>
      </p:sp>
      <p:sp>
        <p:nvSpPr>
          <p:cNvPr id="4" name="card-100"/>
          <p:cNvSpPr/>
          <p:nvPr/>
        </p:nvSpPr>
        <p:spPr>
          <a:xfrm>
            <a:off x="457200" y="5394960"/>
            <a:ext cx="5541264" cy="658368"/>
          </a:xfrm>
          <a:prstGeom prst="roundRect">
            <a:avLst>
              <a:gd name="adj" fmla="val 11111"/>
            </a:avLst>
          </a:prstGeom>
          <a:solidFill>
            <a:schemeClr val="bg2"/>
          </a:solidFill>
          <a:ln/>
        </p:spPr>
      </p:sp>
      <p:sp>
        <p:nvSpPr>
          <p:cNvPr id="13" name="tick-101"/>
          <p:cNvSpPr/>
          <p:nvPr/>
        </p:nvSpPr>
        <p:spPr>
          <a:xfrm>
            <a:off x="640080" y="5586984"/>
            <a:ext cx="274320" cy="274320"/>
          </a:xfrm>
          <a:prstGeom prst="ellipse">
            <a:avLst/>
          </a:prstGeom>
          <a:solidFill>
            <a:schemeClr val="accent3"/>
          </a:solidFill>
          <a:ln/>
        </p:spPr>
      </p:sp>
      <p:sp>
        <p:nvSpPr>
          <p:cNvPr id="14" name="Text 11"/>
          <p:cNvSpPr txBox="1"/>
          <p:nvPr/>
        </p:nvSpPr>
        <p:spPr>
          <a:xfrm>
            <a:off x="1051560" y="5431536"/>
            <a:ext cx="4846320" cy="585216"/>
          </a:xfrm>
          <a:prstGeom prst="rect">
            <a:avLst/>
          </a:prstGeom>
          <a:noFill/>
          <a:ln/>
        </p:spPr>
        <p:txBody>
          <a:bodyPr wrap="square" lIns="0" tIns="0" rIns="0" bIns="0" rtlCol="0" anchor="ctr"/>
          <a:lstStyle/>
          <a:p>
            <a:pPr marL="0" indent="0">
              <a:buNone/>
            </a:pPr>
            <a:r>
              <a:rPr lang="en-US" sz="1400" dirty="0">
                <a:solidFill>
                  <a:schemeClr val="tx1"/>
                </a:solidFill>
              </a:rPr>
              <a:t>Google Ads auto-tagging on, UTMs in the Final URL suffix</a:t>
            </a:r>
            <a:endParaRPr lang="en-US" sz="1400" dirty="0"/>
          </a:p>
        </p:txBody>
      </p:sp>
      <p:sp>
        <p:nvSpPr>
          <p:cNvPr id="15" name="card-102"/>
          <p:cNvSpPr/>
          <p:nvPr/>
        </p:nvSpPr>
        <p:spPr>
          <a:xfrm>
            <a:off x="6190488" y="5394960"/>
            <a:ext cx="5541264" cy="658368"/>
          </a:xfrm>
          <a:prstGeom prst="roundRect">
            <a:avLst>
              <a:gd name="adj" fmla="val 11111"/>
            </a:avLst>
          </a:prstGeom>
          <a:solidFill>
            <a:schemeClr val="bg2"/>
          </a:solidFill>
          <a:ln/>
        </p:spPr>
      </p:sp>
      <p:sp>
        <p:nvSpPr>
          <p:cNvPr id="16" name="tick-103"/>
          <p:cNvSpPr/>
          <p:nvPr/>
        </p:nvSpPr>
        <p:spPr>
          <a:xfrm>
            <a:off x="6373368" y="5586984"/>
            <a:ext cx="274320" cy="274320"/>
          </a:xfrm>
          <a:prstGeom prst="ellipse">
            <a:avLst/>
          </a:prstGeom>
          <a:solidFill>
            <a:schemeClr val="accent3"/>
          </a:solidFill>
          <a:ln/>
        </p:spPr>
      </p:sp>
      <p:sp>
        <p:nvSpPr>
          <p:cNvPr id="17" name="Text 14"/>
          <p:cNvSpPr txBox="1"/>
          <p:nvPr/>
        </p:nvSpPr>
        <p:spPr>
          <a:xfrm>
            <a:off x="6784848" y="5431536"/>
            <a:ext cx="4846320" cy="585216"/>
          </a:xfrm>
          <a:prstGeom prst="rect">
            <a:avLst/>
          </a:prstGeom>
          <a:noFill/>
          <a:ln/>
        </p:spPr>
        <p:txBody>
          <a:bodyPr wrap="square" lIns="0" tIns="0" rIns="0" bIns="0" rtlCol="0" anchor="ctr"/>
          <a:lstStyle/>
          <a:p>
            <a:pPr marL="0" indent="0">
              <a:buNone/>
            </a:pPr>
            <a:r>
              <a:rPr lang="en-US" sz="1400" dirty="0">
                <a:solidFill>
                  <a:schemeClr val="tx1"/>
                </a:solidFill>
              </a:rPr>
              <a:t>Payment gateway domains added to the GA4 referral exclusion list</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ATTRIBUTION</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Last click hides who starts the journey</a:t>
            </a:r>
            <a:endParaRPr lang="en-US" sz="2800" dirty="0"/>
          </a:p>
        </p:txBody>
      </p:sp>
      <p:graphicFrame>
        <p:nvGraphicFramePr>
          <p:cNvPr id="4" name="Chart 0"/>
          <p:cNvGraphicFramePr/>
          <p:nvPr/>
        </p:nvGraphicFramePr>
        <p:xfrm>
          <a:off x="457200" y="1325880"/>
          <a:ext cx="676656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104"/>
          <p:cNvSpPr/>
          <p:nvPr/>
        </p:nvSpPr>
        <p:spPr>
          <a:xfrm>
            <a:off x="7498080" y="1325880"/>
            <a:ext cx="4233672" cy="1143000"/>
          </a:xfrm>
          <a:prstGeom prst="roundRect">
            <a:avLst>
              <a:gd name="adj" fmla="val 6400"/>
            </a:avLst>
          </a:prstGeom>
          <a:solidFill>
            <a:schemeClr val="bg2"/>
          </a:solidFill>
          <a:ln/>
        </p:spPr>
      </p:sp>
      <p:sp>
        <p:nvSpPr>
          <p:cNvPr id="6" name="Text 3"/>
          <p:cNvSpPr txBox="1"/>
          <p:nvPr/>
        </p:nvSpPr>
        <p:spPr>
          <a:xfrm>
            <a:off x="7680960" y="1399032"/>
            <a:ext cx="3886200" cy="1005840"/>
          </a:xfrm>
          <a:prstGeom prst="rect">
            <a:avLst/>
          </a:prstGeom>
          <a:noFill/>
          <a:ln/>
        </p:spPr>
        <p:txBody>
          <a:bodyPr wrap="square" lIns="0" tIns="0" rIns="0" bIns="0" rtlCol="0" anchor="ctr"/>
          <a:lstStyle/>
          <a:p>
            <a:pPr marL="0" indent="0">
              <a:buNone/>
            </a:pPr>
            <a:r>
              <a:rPr lang="en-US" sz="1600" b="1" dirty="0">
                <a:solidFill>
                  <a:schemeClr val="accent1"/>
                </a:solidFill>
              </a:rPr>
              <a:t>TikTok: 0 → 10,780 EGP</a:t>
            </a:r>
            <a:endParaRPr lang="en-US" sz="1600" dirty="0"/>
          </a:p>
          <a:p>
            <a:pPr marL="0" indent="0">
              <a:buNone/>
            </a:pPr>
            <a:r>
              <a:rPr lang="en-US" sz="1400" dirty="0">
                <a:solidFill>
                  <a:schemeClr val="tx1"/>
                </a:solidFill>
              </a:rPr>
              <a:t>Never the last click, yet first in 5 of 12 journeys: 20% of credit.</a:t>
            </a:r>
            <a:endParaRPr lang="en-US" sz="1600" dirty="0"/>
          </a:p>
        </p:txBody>
      </p:sp>
      <p:sp>
        <p:nvSpPr>
          <p:cNvPr id="7" name="card-105"/>
          <p:cNvSpPr/>
          <p:nvPr/>
        </p:nvSpPr>
        <p:spPr>
          <a:xfrm>
            <a:off x="7498080" y="2606040"/>
            <a:ext cx="4233672" cy="1143000"/>
          </a:xfrm>
          <a:prstGeom prst="roundRect">
            <a:avLst>
              <a:gd name="adj" fmla="val 6400"/>
            </a:avLst>
          </a:prstGeom>
          <a:solidFill>
            <a:schemeClr val="bg2"/>
          </a:solidFill>
          <a:ln/>
        </p:spPr>
      </p:sp>
      <p:sp>
        <p:nvSpPr>
          <p:cNvPr id="8" name="Text 5"/>
          <p:cNvSpPr txBox="1"/>
          <p:nvPr/>
        </p:nvSpPr>
        <p:spPr>
          <a:xfrm>
            <a:off x="7680960" y="2679192"/>
            <a:ext cx="3886200" cy="1005840"/>
          </a:xfrm>
          <a:prstGeom prst="rect">
            <a:avLst/>
          </a:prstGeom>
          <a:noFill/>
          <a:ln/>
        </p:spPr>
        <p:txBody>
          <a:bodyPr wrap="square" lIns="0" tIns="0" rIns="0" bIns="0" rtlCol="0" anchor="ctr"/>
          <a:lstStyle/>
          <a:p>
            <a:pPr marL="0" indent="0">
              <a:buNone/>
            </a:pPr>
            <a:r>
              <a:rPr lang="en-US" sz="1600" b="1" dirty="0">
                <a:solidFill>
                  <a:schemeClr val="accent1"/>
                </a:solidFill>
              </a:rPr>
              <a:t>Google Search: 23,400 → 13,220</a:t>
            </a:r>
            <a:endParaRPr lang="en-US" sz="1600" dirty="0"/>
          </a:p>
          <a:p>
            <a:pPr marL="0" indent="0">
              <a:buNone/>
            </a:pPr>
            <a:r>
              <a:rPr lang="en-US" sz="1400" dirty="0">
                <a:solidFill>
                  <a:schemeClr val="tx1"/>
                </a:solidFill>
              </a:rPr>
              <a:t>The closer. Last click over-credits demand other channels created.</a:t>
            </a:r>
            <a:endParaRPr lang="en-US" sz="1600" dirty="0"/>
          </a:p>
        </p:txBody>
      </p:sp>
      <p:sp>
        <p:nvSpPr>
          <p:cNvPr id="9" name="card-106"/>
          <p:cNvSpPr/>
          <p:nvPr/>
        </p:nvSpPr>
        <p:spPr>
          <a:xfrm>
            <a:off x="7498080" y="3886200"/>
            <a:ext cx="4233672" cy="1143000"/>
          </a:xfrm>
          <a:prstGeom prst="roundRect">
            <a:avLst>
              <a:gd name="adj" fmla="val 6400"/>
            </a:avLst>
          </a:prstGeom>
          <a:solidFill>
            <a:schemeClr val="bg2"/>
          </a:solidFill>
          <a:ln/>
        </p:spPr>
      </p:sp>
      <p:sp>
        <p:nvSpPr>
          <p:cNvPr id="10" name="Text 7"/>
          <p:cNvSpPr txBox="1"/>
          <p:nvPr/>
        </p:nvSpPr>
        <p:spPr>
          <a:xfrm>
            <a:off x="7680960" y="3959352"/>
            <a:ext cx="3886200" cy="1005840"/>
          </a:xfrm>
          <a:prstGeom prst="rect">
            <a:avLst/>
          </a:prstGeom>
          <a:noFill/>
          <a:ln/>
        </p:spPr>
        <p:txBody>
          <a:bodyPr wrap="square" lIns="0" tIns="0" rIns="0" bIns="0" rtlCol="0" anchor="ctr"/>
          <a:lstStyle/>
          <a:p>
            <a:pPr marL="0" indent="0">
              <a:buNone/>
            </a:pPr>
            <a:r>
              <a:rPr lang="en-US" sz="1600" b="1" dirty="0">
                <a:solidFill>
                  <a:schemeClr val="accent1"/>
                </a:solidFill>
              </a:rPr>
              <a:t>YouTube + Snapchat: 7.1%</a:t>
            </a:r>
            <a:endParaRPr lang="en-US" sz="1600" dirty="0"/>
          </a:p>
          <a:p>
            <a:pPr marL="0" indent="0">
              <a:buNone/>
            </a:pPr>
            <a:r>
              <a:rPr lang="en-US" sz="1400" dirty="0">
                <a:solidFill>
                  <a:schemeClr val="tx1"/>
                </a:solidFill>
              </a:rPr>
              <a:t>Weak as openers and closers. That is what justifies the cut.</a:t>
            </a:r>
            <a:endParaRPr lang="en-US" sz="1600" dirty="0"/>
          </a:p>
        </p:txBody>
      </p:sp>
      <p:sp>
        <p:nvSpPr>
          <p:cNvPr id="11" name="card-107"/>
          <p:cNvSpPr/>
          <p:nvPr/>
        </p:nvSpPr>
        <p:spPr>
          <a:xfrm>
            <a:off x="7498080" y="5212080"/>
            <a:ext cx="4233672" cy="1005840"/>
          </a:xfrm>
          <a:prstGeom prst="roundRect">
            <a:avLst>
              <a:gd name="adj" fmla="val 7273"/>
            </a:avLst>
          </a:prstGeom>
          <a:solidFill>
            <a:schemeClr val="accent1"/>
          </a:solidFill>
          <a:ln/>
        </p:spPr>
      </p:sp>
      <p:sp>
        <p:nvSpPr>
          <p:cNvPr id="12" name="Text 9"/>
          <p:cNvSpPr txBox="1"/>
          <p:nvPr/>
        </p:nvSpPr>
        <p:spPr>
          <a:xfrm>
            <a:off x="7680960" y="5257800"/>
            <a:ext cx="3886200" cy="914400"/>
          </a:xfrm>
          <a:prstGeom prst="rect">
            <a:avLst/>
          </a:prstGeom>
          <a:noFill/>
          <a:ln/>
        </p:spPr>
        <p:txBody>
          <a:bodyPr wrap="square" lIns="0" tIns="0" rIns="0" bIns="0" rtlCol="0" anchor="ctr"/>
          <a:lstStyle/>
          <a:p>
            <a:pPr marL="0" indent="0">
              <a:buNone/>
            </a:pPr>
            <a:r>
              <a:rPr lang="en-US" sz="1400" dirty="0">
                <a:solidFill>
                  <a:schemeClr val="bg1"/>
                </a:solidFill>
              </a:rPr>
              <a:t>Why not GA4 data-driven? It needs about 600 conversions a month. The test month closed 219.</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AUTOMATION + AI · LIVE</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Every lead keeps its source and gets a next action in seconds</a:t>
            </a:r>
            <a:endParaRPr lang="en-US" sz="2800" dirty="0"/>
          </a:p>
        </p:txBody>
      </p:sp>
      <p:sp>
        <p:nvSpPr>
          <p:cNvPr id="4" name="card-108"/>
          <p:cNvSpPr/>
          <p:nvPr/>
        </p:nvSpPr>
        <p:spPr>
          <a:xfrm>
            <a:off x="457200" y="1325880"/>
            <a:ext cx="1755648" cy="1371600"/>
          </a:xfrm>
          <a:prstGeom prst="roundRect">
            <a:avLst>
              <a:gd name="adj" fmla="val 5333"/>
            </a:avLst>
          </a:prstGeom>
          <a:solidFill>
            <a:schemeClr val="bg2"/>
          </a:solidFill>
          <a:ln/>
        </p:spPr>
      </p:sp>
      <p:sp>
        <p:nvSpPr>
          <p:cNvPr id="5" name="num-109"/>
          <p:cNvSpPr/>
          <p:nvPr/>
        </p:nvSpPr>
        <p:spPr>
          <a:xfrm>
            <a:off x="594360" y="1444752"/>
            <a:ext cx="347472" cy="347472"/>
          </a:xfrm>
          <a:prstGeom prst="ellipse">
            <a:avLst/>
          </a:prstGeom>
          <a:solidFill>
            <a:schemeClr val="accent1"/>
          </a:solidFill>
          <a:ln/>
        </p:spPr>
      </p:sp>
      <p:sp>
        <p:nvSpPr>
          <p:cNvPr id="6" name="numtxt-110"/>
          <p:cNvSpPr txBox="1"/>
          <p:nvPr/>
        </p:nvSpPr>
        <p:spPr>
          <a:xfrm>
            <a:off x="594360" y="144475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594360" y="1847088"/>
            <a:ext cx="1481328" cy="777240"/>
          </a:xfrm>
          <a:prstGeom prst="rect">
            <a:avLst/>
          </a:prstGeom>
          <a:noFill/>
          <a:ln/>
        </p:spPr>
        <p:txBody>
          <a:bodyPr wrap="square" lIns="0" tIns="0" rIns="0" bIns="0" rtlCol="0" anchor="t"/>
          <a:lstStyle/>
          <a:p>
            <a:pPr marL="0" indent="0">
              <a:buNone/>
            </a:pPr>
            <a:r>
              <a:rPr lang="en-US" sz="1500" b="1" dirty="0">
                <a:solidFill>
                  <a:schemeClr val="tx1"/>
                </a:solidFill>
              </a:rPr>
              <a:t>Form</a:t>
            </a:r>
            <a:endParaRPr lang="en-US" sz="1500" dirty="0"/>
          </a:p>
          <a:p>
            <a:pPr marL="0" indent="0">
              <a:buNone/>
            </a:pPr>
            <a:r>
              <a:rPr lang="en-US" sz="1200" dirty="0">
                <a:solidFill>
                  <a:schemeClr val="tx1"/>
                </a:solidFill>
              </a:rPr>
              <a:t>Planning-session request</a:t>
            </a:r>
            <a:endParaRPr lang="en-US" sz="1500" dirty="0"/>
          </a:p>
        </p:txBody>
      </p:sp>
      <p:sp>
        <p:nvSpPr>
          <p:cNvPr id="8" name="card-111"/>
          <p:cNvSpPr/>
          <p:nvPr/>
        </p:nvSpPr>
        <p:spPr>
          <a:xfrm>
            <a:off x="2360981" y="1325880"/>
            <a:ext cx="1755648" cy="1371600"/>
          </a:xfrm>
          <a:prstGeom prst="roundRect">
            <a:avLst>
              <a:gd name="adj" fmla="val 5333"/>
            </a:avLst>
          </a:prstGeom>
          <a:solidFill>
            <a:schemeClr val="bg2"/>
          </a:solidFill>
          <a:ln/>
        </p:spPr>
      </p:sp>
      <p:sp>
        <p:nvSpPr>
          <p:cNvPr id="9" name="num-112"/>
          <p:cNvSpPr/>
          <p:nvPr/>
        </p:nvSpPr>
        <p:spPr>
          <a:xfrm>
            <a:off x="2498141" y="1444752"/>
            <a:ext cx="347472" cy="347472"/>
          </a:xfrm>
          <a:prstGeom prst="ellipse">
            <a:avLst/>
          </a:prstGeom>
          <a:solidFill>
            <a:schemeClr val="accent1"/>
          </a:solidFill>
          <a:ln/>
        </p:spPr>
      </p:sp>
      <p:sp>
        <p:nvSpPr>
          <p:cNvPr id="10" name="numtxt-113"/>
          <p:cNvSpPr txBox="1"/>
          <p:nvPr/>
        </p:nvSpPr>
        <p:spPr>
          <a:xfrm>
            <a:off x="2498141" y="144475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9"/>
          <p:cNvSpPr txBox="1"/>
          <p:nvPr/>
        </p:nvSpPr>
        <p:spPr>
          <a:xfrm>
            <a:off x="2498141" y="1847088"/>
            <a:ext cx="1481328" cy="777240"/>
          </a:xfrm>
          <a:prstGeom prst="rect">
            <a:avLst/>
          </a:prstGeom>
          <a:noFill/>
          <a:ln/>
        </p:spPr>
        <p:txBody>
          <a:bodyPr wrap="square" lIns="0" tIns="0" rIns="0" bIns="0" rtlCol="0" anchor="t"/>
          <a:lstStyle/>
          <a:p>
            <a:pPr marL="0" indent="0">
              <a:buNone/>
            </a:pPr>
            <a:r>
              <a:rPr lang="en-US" sz="1500" b="1" dirty="0">
                <a:solidFill>
                  <a:schemeClr val="tx1"/>
                </a:solidFill>
              </a:rPr>
              <a:t>Validate</a:t>
            </a:r>
            <a:endParaRPr lang="en-US" sz="1500" dirty="0"/>
          </a:p>
          <a:p>
            <a:pPr marL="0" indent="0">
              <a:buNone/>
            </a:pPr>
            <a:r>
              <a:rPr lang="en-US" sz="1200" dirty="0">
                <a:solidFill>
                  <a:schemeClr val="tx1"/>
                </a:solidFill>
              </a:rPr>
              <a:t>Name, 01 + 9 digits, area</a:t>
            </a:r>
            <a:endParaRPr lang="en-US" sz="1500" dirty="0"/>
          </a:p>
        </p:txBody>
      </p:sp>
      <p:sp>
        <p:nvSpPr>
          <p:cNvPr id="12" name="card-114"/>
          <p:cNvSpPr/>
          <p:nvPr/>
        </p:nvSpPr>
        <p:spPr>
          <a:xfrm>
            <a:off x="4264762" y="1325880"/>
            <a:ext cx="1755648" cy="1371600"/>
          </a:xfrm>
          <a:prstGeom prst="roundRect">
            <a:avLst>
              <a:gd name="adj" fmla="val 5333"/>
            </a:avLst>
          </a:prstGeom>
          <a:solidFill>
            <a:schemeClr val="bg2"/>
          </a:solidFill>
          <a:ln/>
        </p:spPr>
      </p:sp>
      <p:sp>
        <p:nvSpPr>
          <p:cNvPr id="13" name="num-115"/>
          <p:cNvSpPr/>
          <p:nvPr/>
        </p:nvSpPr>
        <p:spPr>
          <a:xfrm>
            <a:off x="4401922" y="1444752"/>
            <a:ext cx="347472" cy="347472"/>
          </a:xfrm>
          <a:prstGeom prst="ellipse">
            <a:avLst/>
          </a:prstGeom>
          <a:solidFill>
            <a:schemeClr val="accent1"/>
          </a:solidFill>
          <a:ln/>
        </p:spPr>
      </p:sp>
      <p:sp>
        <p:nvSpPr>
          <p:cNvPr id="14" name="numtxt-116"/>
          <p:cNvSpPr txBox="1"/>
          <p:nvPr/>
        </p:nvSpPr>
        <p:spPr>
          <a:xfrm>
            <a:off x="4401922" y="144475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3"/>
          <p:cNvSpPr txBox="1"/>
          <p:nvPr/>
        </p:nvSpPr>
        <p:spPr>
          <a:xfrm>
            <a:off x="4401922" y="1847088"/>
            <a:ext cx="1481328" cy="777240"/>
          </a:xfrm>
          <a:prstGeom prst="rect">
            <a:avLst/>
          </a:prstGeom>
          <a:noFill/>
          <a:ln/>
        </p:spPr>
        <p:txBody>
          <a:bodyPr wrap="square" lIns="0" tIns="0" rIns="0" bIns="0" rtlCol="0" anchor="t"/>
          <a:lstStyle/>
          <a:p>
            <a:pPr marL="0" indent="0">
              <a:buNone/>
            </a:pPr>
            <a:r>
              <a:rPr lang="en-US" sz="1500" b="1" dirty="0">
                <a:solidFill>
                  <a:schemeClr val="tx1"/>
                </a:solidFill>
              </a:rPr>
              <a:t>Attribute</a:t>
            </a:r>
            <a:endParaRPr lang="en-US" sz="1500" dirty="0"/>
          </a:p>
          <a:p>
            <a:pPr marL="0" indent="0">
              <a:buNone/>
            </a:pPr>
            <a:r>
              <a:rPr lang="en-US" sz="1200" dirty="0">
                <a:solidFill>
                  <a:schemeClr val="tx1"/>
                </a:solidFill>
              </a:rPr>
              <a:t>First-touch UTMs + GA4 channel</a:t>
            </a:r>
            <a:endParaRPr lang="en-US" sz="1500" dirty="0"/>
          </a:p>
        </p:txBody>
      </p:sp>
      <p:sp>
        <p:nvSpPr>
          <p:cNvPr id="16" name="card-117"/>
          <p:cNvSpPr/>
          <p:nvPr/>
        </p:nvSpPr>
        <p:spPr>
          <a:xfrm>
            <a:off x="6168542" y="1325880"/>
            <a:ext cx="1755648" cy="1371600"/>
          </a:xfrm>
          <a:prstGeom prst="roundRect">
            <a:avLst>
              <a:gd name="adj" fmla="val 5333"/>
            </a:avLst>
          </a:prstGeom>
          <a:solidFill>
            <a:schemeClr val="bg2"/>
          </a:solidFill>
          <a:ln/>
        </p:spPr>
      </p:sp>
      <p:sp>
        <p:nvSpPr>
          <p:cNvPr id="17" name="num-118"/>
          <p:cNvSpPr/>
          <p:nvPr/>
        </p:nvSpPr>
        <p:spPr>
          <a:xfrm>
            <a:off x="6305702" y="1444752"/>
            <a:ext cx="347472" cy="347472"/>
          </a:xfrm>
          <a:prstGeom prst="ellipse">
            <a:avLst/>
          </a:prstGeom>
          <a:solidFill>
            <a:schemeClr val="accent1"/>
          </a:solidFill>
          <a:ln/>
        </p:spPr>
      </p:sp>
      <p:sp>
        <p:nvSpPr>
          <p:cNvPr id="18" name="numtxt-119"/>
          <p:cNvSpPr txBox="1"/>
          <p:nvPr/>
        </p:nvSpPr>
        <p:spPr>
          <a:xfrm>
            <a:off x="6305702" y="144475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7"/>
          <p:cNvSpPr txBox="1"/>
          <p:nvPr/>
        </p:nvSpPr>
        <p:spPr>
          <a:xfrm>
            <a:off x="6305702" y="1847088"/>
            <a:ext cx="1481328" cy="777240"/>
          </a:xfrm>
          <a:prstGeom prst="rect">
            <a:avLst/>
          </a:prstGeom>
          <a:noFill/>
          <a:ln/>
        </p:spPr>
        <p:txBody>
          <a:bodyPr wrap="square" lIns="0" tIns="0" rIns="0" bIns="0" rtlCol="0" anchor="t"/>
          <a:lstStyle/>
          <a:p>
            <a:pPr marL="0" indent="0">
              <a:buNone/>
            </a:pPr>
            <a:r>
              <a:rPr lang="en-US" sz="1500" b="1" dirty="0">
                <a:solidFill>
                  <a:schemeClr val="tx1"/>
                </a:solidFill>
              </a:rPr>
              <a:t>Score</a:t>
            </a:r>
            <a:endParaRPr lang="en-US" sz="1500" dirty="0"/>
          </a:p>
          <a:p>
            <a:pPr marL="0" indent="0">
              <a:buNone/>
            </a:pPr>
            <a:r>
              <a:rPr lang="en-US" sz="1200" dirty="0">
                <a:solidFill>
                  <a:schemeClr val="tx1"/>
                </a:solidFill>
              </a:rPr>
              <a:t>Area, date, campaign goal</a:t>
            </a:r>
            <a:endParaRPr lang="en-US" sz="1500" dirty="0"/>
          </a:p>
        </p:txBody>
      </p:sp>
      <p:sp>
        <p:nvSpPr>
          <p:cNvPr id="20" name="card-120"/>
          <p:cNvSpPr/>
          <p:nvPr/>
        </p:nvSpPr>
        <p:spPr>
          <a:xfrm>
            <a:off x="8072323" y="1325880"/>
            <a:ext cx="1755648" cy="1371600"/>
          </a:xfrm>
          <a:prstGeom prst="roundRect">
            <a:avLst>
              <a:gd name="adj" fmla="val 5333"/>
            </a:avLst>
          </a:prstGeom>
          <a:solidFill>
            <a:schemeClr val="accent3"/>
          </a:solidFill>
          <a:ln/>
        </p:spPr>
      </p:sp>
      <p:sp>
        <p:nvSpPr>
          <p:cNvPr id="21" name="num-121"/>
          <p:cNvSpPr/>
          <p:nvPr/>
        </p:nvSpPr>
        <p:spPr>
          <a:xfrm>
            <a:off x="8209483" y="1444752"/>
            <a:ext cx="347472" cy="347472"/>
          </a:xfrm>
          <a:prstGeom prst="ellipse">
            <a:avLst/>
          </a:prstGeom>
          <a:solidFill>
            <a:schemeClr val="bg1"/>
          </a:solidFill>
          <a:ln/>
        </p:spPr>
      </p:sp>
      <p:sp>
        <p:nvSpPr>
          <p:cNvPr id="22" name="numtxt-122"/>
          <p:cNvSpPr txBox="1"/>
          <p:nvPr/>
        </p:nvSpPr>
        <p:spPr>
          <a:xfrm>
            <a:off x="8209483" y="1444752"/>
            <a:ext cx="347472" cy="347472"/>
          </a:xfrm>
          <a:prstGeom prst="rect">
            <a:avLst/>
          </a:prstGeom>
          <a:no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23" name="Text 21"/>
          <p:cNvSpPr txBox="1"/>
          <p:nvPr/>
        </p:nvSpPr>
        <p:spPr>
          <a:xfrm>
            <a:off x="8209483" y="1847088"/>
            <a:ext cx="1481328" cy="777240"/>
          </a:xfrm>
          <a:prstGeom prst="rect">
            <a:avLst/>
          </a:prstGeom>
          <a:noFill/>
          <a:ln/>
        </p:spPr>
        <p:txBody>
          <a:bodyPr wrap="square" lIns="0" tIns="0" rIns="0" bIns="0" rtlCol="0" anchor="t"/>
          <a:lstStyle/>
          <a:p>
            <a:pPr marL="0" indent="0">
              <a:buNone/>
            </a:pPr>
            <a:r>
              <a:rPr lang="en-US" sz="1500" b="1" dirty="0">
                <a:solidFill>
                  <a:schemeClr val="bg1"/>
                </a:solidFill>
              </a:rPr>
              <a:t>AI draft</a:t>
            </a:r>
            <a:endParaRPr lang="en-US" sz="1500" dirty="0"/>
          </a:p>
          <a:p>
            <a:pPr marL="0" indent="0">
              <a:buNone/>
            </a:pPr>
            <a:r>
              <a:rPr lang="en-US" sz="1200" dirty="0">
                <a:solidFill>
                  <a:schemeClr val="bg1"/>
                </a:solidFill>
              </a:rPr>
              <a:t>WhatsApp follow-up, 60 words</a:t>
            </a:r>
            <a:endParaRPr lang="en-US" sz="1500" dirty="0"/>
          </a:p>
        </p:txBody>
      </p:sp>
      <p:sp>
        <p:nvSpPr>
          <p:cNvPr id="24" name="card-123"/>
          <p:cNvSpPr/>
          <p:nvPr/>
        </p:nvSpPr>
        <p:spPr>
          <a:xfrm>
            <a:off x="9976104" y="1325880"/>
            <a:ext cx="1755648" cy="1371600"/>
          </a:xfrm>
          <a:prstGeom prst="roundRect">
            <a:avLst>
              <a:gd name="adj" fmla="val 5333"/>
            </a:avLst>
          </a:prstGeom>
          <a:solidFill>
            <a:schemeClr val="accent1"/>
          </a:solidFill>
          <a:ln/>
        </p:spPr>
      </p:sp>
      <p:sp>
        <p:nvSpPr>
          <p:cNvPr id="25" name="num-124"/>
          <p:cNvSpPr/>
          <p:nvPr/>
        </p:nvSpPr>
        <p:spPr>
          <a:xfrm>
            <a:off x="10113264" y="1444752"/>
            <a:ext cx="347472" cy="347472"/>
          </a:xfrm>
          <a:prstGeom prst="ellipse">
            <a:avLst/>
          </a:prstGeom>
          <a:solidFill>
            <a:schemeClr val="bg1"/>
          </a:solidFill>
          <a:ln/>
        </p:spPr>
      </p:sp>
      <p:sp>
        <p:nvSpPr>
          <p:cNvPr id="26" name="numtxt-125"/>
          <p:cNvSpPr txBox="1"/>
          <p:nvPr/>
        </p:nvSpPr>
        <p:spPr>
          <a:xfrm>
            <a:off x="10113264" y="1444752"/>
            <a:ext cx="347472" cy="347472"/>
          </a:xfrm>
          <a:prstGeom prst="rect">
            <a:avLst/>
          </a:prstGeom>
          <a:noFill/>
          <a:ln/>
        </p:spPr>
        <p:txBody>
          <a:bodyPr wrap="square" lIns="0" tIns="0" rIns="0" bIns="0" rtlCol="0" anchor="ctr"/>
          <a:lstStyle/>
          <a:p>
            <a:pPr marL="0" indent="0" algn="ctr">
              <a:buNone/>
            </a:pPr>
            <a:r>
              <a:rPr lang="en-US" sz="1400" b="1" dirty="0">
                <a:solidFill>
                  <a:schemeClr val="tx1"/>
                </a:solidFill>
              </a:rPr>
              <a:t>6</a:t>
            </a:r>
            <a:endParaRPr lang="en-US" sz="1400" dirty="0"/>
          </a:p>
        </p:txBody>
      </p:sp>
      <p:sp>
        <p:nvSpPr>
          <p:cNvPr id="27" name="Text 25"/>
          <p:cNvSpPr txBox="1"/>
          <p:nvPr/>
        </p:nvSpPr>
        <p:spPr>
          <a:xfrm>
            <a:off x="10113264" y="1847088"/>
            <a:ext cx="1481328" cy="777240"/>
          </a:xfrm>
          <a:prstGeom prst="rect">
            <a:avLst/>
          </a:prstGeom>
          <a:noFill/>
          <a:ln/>
        </p:spPr>
        <p:txBody>
          <a:bodyPr wrap="square" lIns="0" tIns="0" rIns="0" bIns="0" rtlCol="0" anchor="t"/>
          <a:lstStyle/>
          <a:p>
            <a:pPr marL="0" indent="0">
              <a:buNone/>
            </a:pPr>
            <a:r>
              <a:rPr lang="en-US" sz="1500" b="1" dirty="0">
                <a:solidFill>
                  <a:schemeClr val="bg1"/>
                </a:solidFill>
              </a:rPr>
              <a:t>CRM row</a:t>
            </a:r>
            <a:endParaRPr lang="en-US" sz="1500" dirty="0"/>
          </a:p>
          <a:p>
            <a:pPr marL="0" indent="0">
              <a:buNone/>
            </a:pPr>
            <a:r>
              <a:rPr lang="en-US" sz="1200" dirty="0">
                <a:solidFill>
                  <a:schemeClr val="bg1"/>
                </a:solidFill>
              </a:rPr>
              <a:t>Priority + next action</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5120640" cy="1645920"/>
        </p:xfrm>
        <a:graphic>
          <a:graphicData uri="http://schemas.openxmlformats.org/drawingml/2006/table">
            <a:tbl>
              <a:tblPr/>
              <a:tblGrid>
                <a:gridCol w="1097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Score</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Priority</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Next action</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70-90</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400" b="1" dirty="0">
                          <a:solidFill>
                            <a:srgbClr val="C0392B"/>
                          </a:solidFill>
                          <a:latin typeface="Calibri" pitchFamily="34" charset="0"/>
                          <a:ea typeface="Calibri" pitchFamily="34" charset="-122"/>
                          <a:cs typeface="Calibri" pitchFamily="34" charset="-120"/>
                        </a:rPr>
                        <a:t>HOT</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Call within 1 hour</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40-69</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WARM</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WhatsApp within 24 hours</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0-39</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400" b="1" dirty="0">
                          <a:solidFill>
                            <a:srgbClr val="0058A3"/>
                          </a:solidFill>
                          <a:latin typeface="Calibri" pitchFamily="34" charset="0"/>
                          <a:ea typeface="Calibri" pitchFamily="34" charset="-122"/>
                          <a:cs typeface="Calibri" pitchFamily="34" charset="-120"/>
                        </a:rPr>
                        <a:t>COLD</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Add to email nurture</a:t>
                      </a:r>
                      <a:endParaRPr lang="en-US" sz="14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3"/>
                  </a:ext>
                </a:extLst>
              </a:tr>
            </a:tbl>
          </a:graphicData>
        </a:graphic>
      </p:graphicFrame>
      <p:sp>
        <p:nvSpPr>
          <p:cNvPr id="29" name="Text 26"/>
          <p:cNvSpPr txBox="1"/>
          <p:nvPr/>
        </p:nvSpPr>
        <p:spPr>
          <a:xfrm>
            <a:off x="457200" y="4663440"/>
            <a:ext cx="5120640" cy="548640"/>
          </a:xfrm>
          <a:prstGeom prst="rect">
            <a:avLst/>
          </a:prstGeom>
          <a:noFill/>
          <a:ln/>
        </p:spPr>
        <p:txBody>
          <a:bodyPr wrap="square" lIns="0" tIns="0" rIns="0" bIns="0" rtlCol="0" anchor="t"/>
          <a:lstStyle/>
          <a:p>
            <a:pPr marL="0" indent="0">
              <a:buNone/>
            </a:pPr>
            <a:r>
              <a:rPr lang="en-US" sz="1300" dirty="0">
                <a:solidFill>
                  <a:schemeClr val="accent5"/>
                </a:solidFill>
              </a:rPr>
              <a:t>Area +40 / +20 / +10 · date within 7 days +30 · purchase campaign +20, consideration +10</a:t>
            </a:r>
            <a:endParaRPr lang="en-US" sz="1300" dirty="0"/>
          </a:p>
        </p:txBody>
      </p:sp>
      <p:sp>
        <p:nvSpPr>
          <p:cNvPr id="30" name="card-126"/>
          <p:cNvSpPr/>
          <p:nvPr/>
        </p:nvSpPr>
        <p:spPr>
          <a:xfrm>
            <a:off x="5852160" y="2926080"/>
            <a:ext cx="5879592" cy="3291840"/>
          </a:xfrm>
          <a:prstGeom prst="roundRect">
            <a:avLst>
              <a:gd name="adj" fmla="val 2222"/>
            </a:avLst>
          </a:prstGeom>
          <a:solidFill>
            <a:schemeClr val="bg2"/>
          </a:solidFill>
          <a:ln/>
        </p:spPr>
      </p:sp>
      <p:sp>
        <p:nvSpPr>
          <p:cNvPr id="31" name="Text 28"/>
          <p:cNvSpPr txBox="1"/>
          <p:nvPr/>
        </p:nvSpPr>
        <p:spPr>
          <a:xfrm>
            <a:off x="6080760" y="3063240"/>
            <a:ext cx="5486400" cy="365760"/>
          </a:xfrm>
          <a:prstGeom prst="rect">
            <a:avLst/>
          </a:prstGeom>
          <a:noFill/>
          <a:ln/>
        </p:spPr>
        <p:txBody>
          <a:bodyPr wrap="square" lIns="0" tIns="0" rIns="0" bIns="0" rtlCol="0" anchor="ctr"/>
          <a:lstStyle/>
          <a:p>
            <a:pPr marL="0" indent="0">
              <a:buNone/>
            </a:pPr>
            <a:r>
              <a:rPr lang="en-US" sz="1600" b="1" dirty="0">
                <a:solidFill>
                  <a:schemeClr val="tx1"/>
                </a:solidFill>
              </a:rPr>
              <a:t>Safeguards</a:t>
            </a:r>
            <a:endParaRPr lang="en-US" sz="1600" dirty="0"/>
          </a:p>
        </p:txBody>
      </p:sp>
      <p:sp>
        <p:nvSpPr>
          <p:cNvPr id="32" name="Text 29"/>
          <p:cNvSpPr txBox="1"/>
          <p:nvPr/>
        </p:nvSpPr>
        <p:spPr>
          <a:xfrm>
            <a:off x="6080760" y="3520440"/>
            <a:ext cx="548640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AI fails → lead still saved with a template note</a:t>
            </a:r>
            <a:endParaRPr lang="en-US" sz="1500" dirty="0"/>
          </a:p>
          <a:p>
            <a:pPr marL="342900" indent="-342900">
              <a:spcAft>
                <a:spcPts val="800"/>
              </a:spcAft>
              <a:buSzPct val="100000"/>
              <a:buChar char="•"/>
            </a:pPr>
            <a:r>
              <a:rPr lang="en-US" sz="1500" dirty="0">
                <a:solidFill>
                  <a:schemeClr val="tx1"/>
                </a:solidFill>
              </a:rPr>
              <a:t>Public visitors can only insert; reading needs a code</a:t>
            </a:r>
            <a:endParaRPr lang="en-US" sz="1500" dirty="0"/>
          </a:p>
          <a:p>
            <a:pPr marL="342900" indent="-342900">
              <a:spcAft>
                <a:spcPts val="800"/>
              </a:spcAft>
              <a:buSzPct val="100000"/>
              <a:buChar char="•"/>
            </a:pPr>
            <a:r>
              <a:rPr lang="en-US" sz="1500" dirty="0">
                <a:solidFill>
                  <a:schemeClr val="tx1"/>
                </a:solidFill>
              </a:rPr>
              <a:t>No name or phone in analytics events</a:t>
            </a:r>
            <a:endParaRPr lang="en-US" sz="1500" dirty="0"/>
          </a:p>
          <a:p>
            <a:pPr marL="342900" indent="-342900">
              <a:spcAft>
                <a:spcPts val="800"/>
              </a:spcAft>
              <a:buSzPct val="100000"/>
              <a:buChar char="•"/>
            </a:pPr>
            <a:r>
              <a:rPr lang="en-US" sz="1500" dirty="0">
                <a:solidFill>
                  <a:schemeClr val="tx1"/>
                </a:solidFill>
              </a:rPr>
              <a:t>AI writes a draft; a person sends it</a:t>
            </a:r>
            <a:endParaRPr lang="en-US" sz="1500" dirty="0"/>
          </a:p>
          <a:p>
            <a:pPr marL="342900" indent="-342900">
              <a:spcAft>
                <a:spcPts val="800"/>
              </a:spcAft>
              <a:buSzPct val="100000"/>
              <a:buChar char="•"/>
            </a:pPr>
            <a:r>
              <a:rPr lang="en-US" sz="1500" dirty="0">
                <a:solidFill>
                  <a:schemeClr val="tx1"/>
                </a:solidFill>
              </a:rPr>
              <a:t>CRM (demo): new-home-starter-bundle.lovable.app/leads</a:t>
            </a:r>
            <a:endParaRPr lang="en-US" sz="1500" dirty="0"/>
          </a:p>
        </p:txBody>
      </p:sp>
      <p:sp>
        <p:nvSpPr>
          <p:cNvPr id="33"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TEST MONTH · SIMULATED</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The plan beat its target, but not evenly</a:t>
            </a:r>
            <a:endParaRPr lang="en-US" sz="2800" dirty="0"/>
          </a:p>
        </p:txBody>
      </p:sp>
      <p:sp>
        <p:nvSpPr>
          <p:cNvPr id="4" name="card-127"/>
          <p:cNvSpPr/>
          <p:nvPr/>
        </p:nvSpPr>
        <p:spPr>
          <a:xfrm>
            <a:off x="457200" y="1325880"/>
            <a:ext cx="2103120" cy="1097280"/>
          </a:xfrm>
          <a:prstGeom prst="roundRect">
            <a:avLst>
              <a:gd name="adj" fmla="val 6667"/>
            </a:avLst>
          </a:prstGeom>
          <a:solidFill>
            <a:schemeClr val="bg2"/>
          </a:solidFill>
          <a:ln/>
        </p:spPr>
      </p:sp>
      <p:sp>
        <p:nvSpPr>
          <p:cNvPr id="5" name="Text 3"/>
          <p:cNvSpPr txBox="1"/>
          <p:nvPr/>
        </p:nvSpPr>
        <p:spPr>
          <a:xfrm>
            <a:off x="594360" y="1371600"/>
            <a:ext cx="1828800" cy="594360"/>
          </a:xfrm>
          <a:prstGeom prst="rect">
            <a:avLst/>
          </a:prstGeom>
          <a:noFill/>
          <a:ln/>
        </p:spPr>
        <p:txBody>
          <a:bodyPr wrap="square" lIns="0" tIns="0" rIns="0" bIns="0" rtlCol="0" anchor="b"/>
          <a:lstStyle/>
          <a:p>
            <a:pPr marL="0" indent="0">
              <a:buNone/>
            </a:pPr>
            <a:r>
              <a:rPr lang="en-US" sz="2600" b="1" dirty="0">
                <a:solidFill>
                  <a:schemeClr val="accent1"/>
                </a:solidFill>
              </a:rPr>
              <a:t>250K EGP</a:t>
            </a:r>
            <a:endParaRPr lang="en-US" sz="2600" dirty="0"/>
          </a:p>
        </p:txBody>
      </p:sp>
      <p:sp>
        <p:nvSpPr>
          <p:cNvPr id="6" name="Text 4"/>
          <p:cNvSpPr txBox="1"/>
          <p:nvPr/>
        </p:nvSpPr>
        <p:spPr>
          <a:xfrm>
            <a:off x="594360" y="1993392"/>
            <a:ext cx="1828800" cy="320040"/>
          </a:xfrm>
          <a:prstGeom prst="rect">
            <a:avLst/>
          </a:prstGeom>
          <a:noFill/>
          <a:ln/>
        </p:spPr>
        <p:txBody>
          <a:bodyPr wrap="square" lIns="0" tIns="0" rIns="0" bIns="0" rtlCol="0" anchor="ctr"/>
          <a:lstStyle/>
          <a:p>
            <a:pPr marL="0" indent="0">
              <a:buNone/>
            </a:pPr>
            <a:r>
              <a:rPr lang="en-US" sz="1400" dirty="0">
                <a:solidFill>
                  <a:schemeClr val="tx1"/>
                </a:solidFill>
              </a:rPr>
              <a:t>Spend</a:t>
            </a:r>
            <a:endParaRPr lang="en-US" sz="1400" dirty="0"/>
          </a:p>
        </p:txBody>
      </p:sp>
      <p:sp>
        <p:nvSpPr>
          <p:cNvPr id="7" name="card-128"/>
          <p:cNvSpPr/>
          <p:nvPr/>
        </p:nvSpPr>
        <p:spPr>
          <a:xfrm>
            <a:off x="2749601" y="1325880"/>
            <a:ext cx="2103120" cy="1097280"/>
          </a:xfrm>
          <a:prstGeom prst="roundRect">
            <a:avLst>
              <a:gd name="adj" fmla="val 6667"/>
            </a:avLst>
          </a:prstGeom>
          <a:solidFill>
            <a:schemeClr val="bg2"/>
          </a:solidFill>
          <a:ln/>
        </p:spPr>
      </p:sp>
      <p:sp>
        <p:nvSpPr>
          <p:cNvPr id="8" name="Text 6"/>
          <p:cNvSpPr txBox="1"/>
          <p:nvPr/>
        </p:nvSpPr>
        <p:spPr>
          <a:xfrm>
            <a:off x="2886761" y="1371600"/>
            <a:ext cx="1828800" cy="594360"/>
          </a:xfrm>
          <a:prstGeom prst="rect">
            <a:avLst/>
          </a:prstGeom>
          <a:noFill/>
          <a:ln/>
        </p:spPr>
        <p:txBody>
          <a:bodyPr wrap="square" lIns="0" tIns="0" rIns="0" bIns="0" rtlCol="0" anchor="b"/>
          <a:lstStyle/>
          <a:p>
            <a:pPr marL="0" indent="0">
              <a:buNone/>
            </a:pPr>
            <a:r>
              <a:rPr lang="en-US" sz="2600" b="1" dirty="0">
                <a:solidFill>
                  <a:schemeClr val="accent1"/>
                </a:solidFill>
              </a:rPr>
              <a:t>1.03M EGP</a:t>
            </a:r>
            <a:endParaRPr lang="en-US" sz="2600" dirty="0"/>
          </a:p>
        </p:txBody>
      </p:sp>
      <p:sp>
        <p:nvSpPr>
          <p:cNvPr id="9" name="Text 7"/>
          <p:cNvSpPr txBox="1"/>
          <p:nvPr/>
        </p:nvSpPr>
        <p:spPr>
          <a:xfrm>
            <a:off x="2886761" y="1993392"/>
            <a:ext cx="1828800" cy="320040"/>
          </a:xfrm>
          <a:prstGeom prst="rect">
            <a:avLst/>
          </a:prstGeom>
          <a:noFill/>
          <a:ln/>
        </p:spPr>
        <p:txBody>
          <a:bodyPr wrap="square" lIns="0" tIns="0" rIns="0" bIns="0" rtlCol="0" anchor="ctr"/>
          <a:lstStyle/>
          <a:p>
            <a:pPr marL="0" indent="0">
              <a:buNone/>
            </a:pPr>
            <a:r>
              <a:rPr lang="en-US" sz="1400" dirty="0">
                <a:solidFill>
                  <a:schemeClr val="tx1"/>
                </a:solidFill>
              </a:rPr>
              <a:t>Revenue</a:t>
            </a:r>
            <a:endParaRPr lang="en-US" sz="1400" dirty="0"/>
          </a:p>
        </p:txBody>
      </p:sp>
      <p:sp>
        <p:nvSpPr>
          <p:cNvPr id="10" name="card-129"/>
          <p:cNvSpPr/>
          <p:nvPr/>
        </p:nvSpPr>
        <p:spPr>
          <a:xfrm>
            <a:off x="5042002" y="1325880"/>
            <a:ext cx="2103120" cy="1097280"/>
          </a:xfrm>
          <a:prstGeom prst="roundRect">
            <a:avLst>
              <a:gd name="adj" fmla="val 6667"/>
            </a:avLst>
          </a:prstGeom>
          <a:solidFill>
            <a:schemeClr val="bg2"/>
          </a:solidFill>
          <a:ln/>
        </p:spPr>
      </p:sp>
      <p:sp>
        <p:nvSpPr>
          <p:cNvPr id="11" name="Text 9"/>
          <p:cNvSpPr txBox="1"/>
          <p:nvPr/>
        </p:nvSpPr>
        <p:spPr>
          <a:xfrm>
            <a:off x="5179162" y="1371600"/>
            <a:ext cx="1828800" cy="594360"/>
          </a:xfrm>
          <a:prstGeom prst="rect">
            <a:avLst/>
          </a:prstGeom>
          <a:noFill/>
          <a:ln/>
        </p:spPr>
        <p:txBody>
          <a:bodyPr wrap="square" lIns="0" tIns="0" rIns="0" bIns="0" rtlCol="0" anchor="b"/>
          <a:lstStyle/>
          <a:p>
            <a:pPr marL="0" indent="0">
              <a:buNone/>
            </a:pPr>
            <a:r>
              <a:rPr lang="en-US" sz="2600" b="1" dirty="0">
                <a:solidFill>
                  <a:schemeClr val="accent1"/>
                </a:solidFill>
              </a:rPr>
              <a:t>219</a:t>
            </a:r>
            <a:endParaRPr lang="en-US" sz="2600" dirty="0"/>
          </a:p>
        </p:txBody>
      </p:sp>
      <p:sp>
        <p:nvSpPr>
          <p:cNvPr id="12" name="Text 10"/>
          <p:cNvSpPr txBox="1"/>
          <p:nvPr/>
        </p:nvSpPr>
        <p:spPr>
          <a:xfrm>
            <a:off x="5179162" y="1993392"/>
            <a:ext cx="1828800" cy="320040"/>
          </a:xfrm>
          <a:prstGeom prst="rect">
            <a:avLst/>
          </a:prstGeom>
          <a:noFill/>
          <a:ln/>
        </p:spPr>
        <p:txBody>
          <a:bodyPr wrap="square" lIns="0" tIns="0" rIns="0" bIns="0" rtlCol="0" anchor="ctr"/>
          <a:lstStyle/>
          <a:p>
            <a:pPr marL="0" indent="0">
              <a:buNone/>
            </a:pPr>
            <a:r>
              <a:rPr lang="en-US" sz="1400" dirty="0">
                <a:solidFill>
                  <a:schemeClr val="tx1"/>
                </a:solidFill>
              </a:rPr>
              <a:t>Purchases</a:t>
            </a:r>
            <a:endParaRPr lang="en-US" sz="1400" dirty="0"/>
          </a:p>
        </p:txBody>
      </p:sp>
      <p:sp>
        <p:nvSpPr>
          <p:cNvPr id="13" name="card-130"/>
          <p:cNvSpPr/>
          <p:nvPr/>
        </p:nvSpPr>
        <p:spPr>
          <a:xfrm>
            <a:off x="7334402" y="1325880"/>
            <a:ext cx="2103120" cy="1097280"/>
          </a:xfrm>
          <a:prstGeom prst="roundRect">
            <a:avLst>
              <a:gd name="adj" fmla="val 6667"/>
            </a:avLst>
          </a:prstGeom>
          <a:solidFill>
            <a:schemeClr val="accent1"/>
          </a:solidFill>
          <a:ln/>
        </p:spPr>
      </p:sp>
      <p:sp>
        <p:nvSpPr>
          <p:cNvPr id="14" name="Text 12"/>
          <p:cNvSpPr txBox="1"/>
          <p:nvPr/>
        </p:nvSpPr>
        <p:spPr>
          <a:xfrm>
            <a:off x="7471562" y="1371600"/>
            <a:ext cx="1828800" cy="594360"/>
          </a:xfrm>
          <a:prstGeom prst="rect">
            <a:avLst/>
          </a:prstGeom>
          <a:noFill/>
          <a:ln/>
        </p:spPr>
        <p:txBody>
          <a:bodyPr wrap="square" lIns="0" tIns="0" rIns="0" bIns="0" rtlCol="0" anchor="b"/>
          <a:lstStyle/>
          <a:p>
            <a:pPr marL="0" indent="0">
              <a:buNone/>
            </a:pPr>
            <a:r>
              <a:rPr lang="en-US" sz="2600" b="1" dirty="0">
                <a:solidFill>
                  <a:schemeClr val="accent2"/>
                </a:solidFill>
              </a:rPr>
              <a:t>4.11x</a:t>
            </a:r>
            <a:endParaRPr lang="en-US" sz="2600" dirty="0"/>
          </a:p>
        </p:txBody>
      </p:sp>
      <p:sp>
        <p:nvSpPr>
          <p:cNvPr id="15" name="Text 13"/>
          <p:cNvSpPr txBox="1"/>
          <p:nvPr/>
        </p:nvSpPr>
        <p:spPr>
          <a:xfrm>
            <a:off x="7471562" y="1993392"/>
            <a:ext cx="1828800" cy="320040"/>
          </a:xfrm>
          <a:prstGeom prst="rect">
            <a:avLst/>
          </a:prstGeom>
          <a:noFill/>
          <a:ln/>
        </p:spPr>
        <p:txBody>
          <a:bodyPr wrap="square" lIns="0" tIns="0" rIns="0" bIns="0" rtlCol="0" anchor="ctr"/>
          <a:lstStyle/>
          <a:p>
            <a:pPr marL="0" indent="0">
              <a:buNone/>
            </a:pPr>
            <a:r>
              <a:rPr lang="en-US" sz="1400" dirty="0">
                <a:solidFill>
                  <a:schemeClr val="bg1"/>
                </a:solidFill>
              </a:rPr>
              <a:t>Blended ROAS</a:t>
            </a:r>
            <a:endParaRPr lang="en-US" sz="1400" dirty="0"/>
          </a:p>
        </p:txBody>
      </p:sp>
      <p:sp>
        <p:nvSpPr>
          <p:cNvPr id="16" name="card-131"/>
          <p:cNvSpPr/>
          <p:nvPr/>
        </p:nvSpPr>
        <p:spPr>
          <a:xfrm>
            <a:off x="9626803" y="1325880"/>
            <a:ext cx="2103120" cy="1097280"/>
          </a:xfrm>
          <a:prstGeom prst="roundRect">
            <a:avLst>
              <a:gd name="adj" fmla="val 6667"/>
            </a:avLst>
          </a:prstGeom>
          <a:solidFill>
            <a:schemeClr val="bg2"/>
          </a:solidFill>
          <a:ln/>
        </p:spPr>
      </p:sp>
      <p:sp>
        <p:nvSpPr>
          <p:cNvPr id="17" name="Text 15"/>
          <p:cNvSpPr txBox="1"/>
          <p:nvPr/>
        </p:nvSpPr>
        <p:spPr>
          <a:xfrm>
            <a:off x="9763963" y="1371600"/>
            <a:ext cx="1828800" cy="594360"/>
          </a:xfrm>
          <a:prstGeom prst="rect">
            <a:avLst/>
          </a:prstGeom>
          <a:noFill/>
          <a:ln/>
        </p:spPr>
        <p:txBody>
          <a:bodyPr wrap="square" lIns="0" tIns="0" rIns="0" bIns="0" rtlCol="0" anchor="b"/>
          <a:lstStyle/>
          <a:p>
            <a:pPr marL="0" indent="0">
              <a:buNone/>
            </a:pPr>
            <a:r>
              <a:rPr lang="en-US" sz="2600" b="1" dirty="0">
                <a:solidFill>
                  <a:schemeClr val="accent1"/>
                </a:solidFill>
              </a:rPr>
              <a:t>1,142 EGP</a:t>
            </a:r>
            <a:endParaRPr lang="en-US" sz="2600" dirty="0"/>
          </a:p>
        </p:txBody>
      </p:sp>
      <p:sp>
        <p:nvSpPr>
          <p:cNvPr id="18" name="Text 16"/>
          <p:cNvSpPr txBox="1"/>
          <p:nvPr/>
        </p:nvSpPr>
        <p:spPr>
          <a:xfrm>
            <a:off x="9763963" y="1993392"/>
            <a:ext cx="1828800" cy="320040"/>
          </a:xfrm>
          <a:prstGeom prst="rect">
            <a:avLst/>
          </a:prstGeom>
          <a:noFill/>
          <a:ln/>
        </p:spPr>
        <p:txBody>
          <a:bodyPr wrap="square" lIns="0" tIns="0" rIns="0" bIns="0" rtlCol="0" anchor="ctr"/>
          <a:lstStyle/>
          <a:p>
            <a:pPr marL="0" indent="0">
              <a:buNone/>
            </a:pPr>
            <a:r>
              <a:rPr lang="en-US" sz="1400" dirty="0">
                <a:solidFill>
                  <a:schemeClr val="tx1"/>
                </a:solidFill>
              </a:rPr>
              <a:t>CPA</a:t>
            </a:r>
            <a:endParaRPr lang="en-US" sz="1400" dirty="0"/>
          </a:p>
        </p:txBody>
      </p:sp>
      <p:graphicFrame>
        <p:nvGraphicFramePr>
          <p:cNvPr id="19" name="Chart 0"/>
          <p:cNvGraphicFramePr/>
          <p:nvPr/>
        </p:nvGraphicFramePr>
        <p:xfrm>
          <a:off x="457200" y="2606040"/>
          <a:ext cx="694944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20" name="card-132"/>
          <p:cNvSpPr/>
          <p:nvPr/>
        </p:nvSpPr>
        <p:spPr>
          <a:xfrm>
            <a:off x="7680960" y="2606040"/>
            <a:ext cx="4050792" cy="1078992"/>
          </a:xfrm>
          <a:prstGeom prst="roundRect">
            <a:avLst>
              <a:gd name="adj" fmla="val 6780"/>
            </a:avLst>
          </a:prstGeom>
          <a:solidFill>
            <a:schemeClr val="bg2"/>
          </a:solidFill>
          <a:ln/>
        </p:spPr>
      </p:sp>
      <p:sp>
        <p:nvSpPr>
          <p:cNvPr id="21" name="Text 18"/>
          <p:cNvSpPr txBox="1"/>
          <p:nvPr/>
        </p:nvSpPr>
        <p:spPr>
          <a:xfrm>
            <a:off x="7863840" y="2660904"/>
            <a:ext cx="3703320" cy="969264"/>
          </a:xfrm>
          <a:prstGeom prst="rect">
            <a:avLst/>
          </a:prstGeom>
          <a:noFill/>
          <a:ln/>
        </p:spPr>
        <p:txBody>
          <a:bodyPr wrap="square" lIns="0" tIns="0" rIns="0" bIns="0" rtlCol="0" anchor="ctr"/>
          <a:lstStyle/>
          <a:p>
            <a:pPr marL="0" indent="0">
              <a:buNone/>
            </a:pPr>
            <a:r>
              <a:rPr lang="en-US" sz="1600" b="1" dirty="0">
                <a:solidFill>
                  <a:schemeClr val="accent1"/>
                </a:solidFill>
              </a:rPr>
              <a:t>Closers carry the month</a:t>
            </a:r>
            <a:endParaRPr lang="en-US" sz="1600" dirty="0"/>
          </a:p>
          <a:p>
            <a:pPr marL="0" indent="0">
              <a:buNone/>
            </a:pPr>
            <a:r>
              <a:rPr lang="en-US" sz="1400" dirty="0">
                <a:solidFill>
                  <a:schemeClr val="tx1"/>
                </a:solidFill>
              </a:rPr>
              <a:t>Search 7.3x, CRM 9.2x, retargeting 5.3x.</a:t>
            </a:r>
            <a:endParaRPr lang="en-US" sz="1600" dirty="0"/>
          </a:p>
        </p:txBody>
      </p:sp>
      <p:sp>
        <p:nvSpPr>
          <p:cNvPr id="22" name="card-133"/>
          <p:cNvSpPr/>
          <p:nvPr/>
        </p:nvSpPr>
        <p:spPr>
          <a:xfrm>
            <a:off x="7680960" y="3822192"/>
            <a:ext cx="4050792" cy="1078992"/>
          </a:xfrm>
          <a:prstGeom prst="roundRect">
            <a:avLst>
              <a:gd name="adj" fmla="val 6780"/>
            </a:avLst>
          </a:prstGeom>
          <a:solidFill>
            <a:schemeClr val="bg2"/>
          </a:solidFill>
          <a:ln/>
        </p:spPr>
      </p:sp>
      <p:sp>
        <p:nvSpPr>
          <p:cNvPr id="23" name="Text 20"/>
          <p:cNvSpPr txBox="1"/>
          <p:nvPr/>
        </p:nvSpPr>
        <p:spPr>
          <a:xfrm>
            <a:off x="7863840" y="3877056"/>
            <a:ext cx="3703320" cy="969264"/>
          </a:xfrm>
          <a:prstGeom prst="rect">
            <a:avLst/>
          </a:prstGeom>
          <a:noFill/>
          <a:ln/>
        </p:spPr>
        <p:txBody>
          <a:bodyPr wrap="square" lIns="0" tIns="0" rIns="0" bIns="0" rtlCol="0" anchor="ctr"/>
          <a:lstStyle/>
          <a:p>
            <a:pPr marL="0" indent="0">
              <a:buNone/>
            </a:pPr>
            <a:r>
              <a:rPr lang="en-US" sz="1600" b="1" dirty="0">
                <a:solidFill>
                  <a:schemeClr val="accent1"/>
                </a:solidFill>
              </a:rPr>
              <a:t>Profit, not just ROAS</a:t>
            </a:r>
            <a:endParaRPr lang="en-US" sz="1600" dirty="0"/>
          </a:p>
          <a:p>
            <a:pPr marL="0" indent="0">
              <a:buNone/>
            </a:pPr>
            <a:r>
              <a:rPr lang="en-US" sz="1400" dirty="0">
                <a:solidFill>
                  <a:schemeClr val="tx1"/>
                </a:solidFill>
              </a:rPr>
              <a:t>110K EGP left after ads at a 35% margin.</a:t>
            </a:r>
            <a:endParaRPr lang="en-US" sz="1600" dirty="0"/>
          </a:p>
        </p:txBody>
      </p:sp>
      <p:sp>
        <p:nvSpPr>
          <p:cNvPr id="24" name="card-134"/>
          <p:cNvSpPr/>
          <p:nvPr/>
        </p:nvSpPr>
        <p:spPr>
          <a:xfrm>
            <a:off x="7680960" y="5038344"/>
            <a:ext cx="4050792" cy="1078992"/>
          </a:xfrm>
          <a:prstGeom prst="roundRect">
            <a:avLst>
              <a:gd name="adj" fmla="val 6780"/>
            </a:avLst>
          </a:prstGeom>
          <a:solidFill>
            <a:schemeClr val="bg2"/>
          </a:solidFill>
          <a:ln/>
        </p:spPr>
      </p:sp>
      <p:sp>
        <p:nvSpPr>
          <p:cNvPr id="25" name="Text 22"/>
          <p:cNvSpPr txBox="1"/>
          <p:nvPr/>
        </p:nvSpPr>
        <p:spPr>
          <a:xfrm>
            <a:off x="7863840" y="5093208"/>
            <a:ext cx="3703320" cy="969264"/>
          </a:xfrm>
          <a:prstGeom prst="rect">
            <a:avLst/>
          </a:prstGeom>
          <a:noFill/>
          <a:ln/>
        </p:spPr>
        <p:txBody>
          <a:bodyPr wrap="square" lIns="0" tIns="0" rIns="0" bIns="0" rtlCol="0" anchor="ctr"/>
          <a:lstStyle/>
          <a:p>
            <a:pPr marL="0" indent="0">
              <a:buNone/>
            </a:pPr>
            <a:r>
              <a:rPr lang="en-US" sz="1600" b="1" dirty="0">
                <a:solidFill>
                  <a:schemeClr val="accent1"/>
                </a:solidFill>
              </a:rPr>
              <a:t>Upper funnel looks weak here</a:t>
            </a:r>
            <a:endParaRPr lang="en-US" sz="1600" dirty="0"/>
          </a:p>
          <a:p>
            <a:pPr marL="0" indent="0">
              <a:buNone/>
            </a:pPr>
            <a:r>
              <a:rPr lang="en-US" sz="1400" dirty="0">
                <a:solidFill>
                  <a:schemeClr val="tx1"/>
                </a:solidFill>
              </a:rPr>
              <a:t>Last click is the wrong lens for TikTok. Attribution decides, not this chart.</a:t>
            </a:r>
            <a:endParaRPr lang="en-US" sz="1600" dirty="0"/>
          </a:p>
        </p:txBody>
      </p:sp>
      <p:sp>
        <p:nvSpPr>
          <p:cNvPr id="26"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DIAGNOSIS</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The dashboard calls the status, the rules are on the table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40664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51206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Campaign</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ROAS</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Assist share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CTR W1 → W4</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0"/>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C01 TikTok</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0.36x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19.6%</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0.59% → 0.59%</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KEEP: ASSISTS</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1"/>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C02 YouTube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TOFU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0.88x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0.29% → 0.26%</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CUT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C0392B"/>
                    </a:solidFill>
                  </a:tcPr>
                </a:tc>
                <a:extLst>
                  <a:ext uri="{0D108BD9-81ED-4DB2-BD59-A6C34878D82A}">
                    <a16:rowId xmlns:a16="http://schemas.microsoft.com/office/drawing/2014/main" val="10002"/>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C03 Snapchat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0.73x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0.53% → 0.54%</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CUT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C0392B"/>
                    </a:solidFill>
                  </a:tcPr>
                </a:tc>
                <a:extLst>
                  <a:ext uri="{0D108BD9-81ED-4DB2-BD59-A6C34878D82A}">
                    <a16:rowId xmlns:a16="http://schemas.microsoft.com/office/drawing/2014/main" val="10003"/>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C04 Meta prosp.</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MOFU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3.14x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9.8%</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b="1" dirty="0">
                          <a:solidFill>
                            <a:srgbClr val="C0392B"/>
                          </a:solidFill>
                          <a:latin typeface="Calibri" pitchFamily="34" charset="0"/>
                          <a:ea typeface="Calibri" pitchFamily="34" charset="-122"/>
                          <a:cs typeface="Calibri" pitchFamily="34" charset="-120"/>
                        </a:rPr>
                        <a:t>1.35% → 0.89%</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HOLD + REFRESH</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B45309"/>
                    </a:solidFill>
                  </a:tcPr>
                </a:tc>
                <a:extLst>
                  <a:ext uri="{0D108BD9-81ED-4DB2-BD59-A6C34878D82A}">
                    <a16:rowId xmlns:a16="http://schemas.microsoft.com/office/drawing/2014/main" val="10004"/>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C05 Google Search</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BOFU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7.26x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6.40% → 6.33%</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SCALE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F9D65"/>
                    </a:solidFill>
                  </a:tcPr>
                </a:tc>
                <a:extLst>
                  <a:ext uri="{0D108BD9-81ED-4DB2-BD59-A6C34878D82A}">
                    <a16:rowId xmlns:a16="http://schemas.microsoft.com/office/drawing/2014/main" val="10005"/>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C06 Google PMax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BOFU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4.05x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13.6%</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1.46% → 1.47%</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HOLD</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B45309"/>
                    </a:solidFill>
                  </a:tcPr>
                </a:tc>
                <a:extLst>
                  <a:ext uri="{0D108BD9-81ED-4DB2-BD59-A6C34878D82A}">
                    <a16:rowId xmlns:a16="http://schemas.microsoft.com/office/drawing/2014/main" val="10006"/>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C07 Meta retarget</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BOFU</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5.29x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1.77% → 1.53%</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SCALE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F9D65"/>
                    </a:solidFill>
                  </a:tcPr>
                </a:tc>
                <a:extLst>
                  <a:ext uri="{0D108BD9-81ED-4DB2-BD59-A6C34878D82A}">
                    <a16:rowId xmlns:a16="http://schemas.microsoft.com/office/drawing/2014/main" val="10007"/>
                  </a:ext>
                </a:extLst>
              </a:tr>
              <a:tr h="512064">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C08 Email + WhatsApp</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CARE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9.17x</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16.1%</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latin typeface="Calibri" pitchFamily="34" charset="0"/>
                          <a:ea typeface="Calibri" pitchFamily="34" charset="-122"/>
                          <a:cs typeface="Calibri" pitchFamily="34" charset="-120"/>
                        </a:rPr>
                        <a:t>8.17% → 8.11%</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SCALE</a:t>
                      </a:r>
                      <a:endParaRPr lang="en-US" sz="1300" dirty="0">
                        <a:latin typeface="Calibri" charset="0"/>
                        <a:ea typeface="Calibri" charset="0"/>
                        <a:cs typeface="Calibri" charset="0"/>
                      </a:endParaRPr>
                    </a:p>
                  </a:txBody>
                  <a:tcPr marL="73152" marR="73152" marT="36576" marB="36576"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F9D65"/>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8138160" y="1325880"/>
            <a:ext cx="3566160" cy="365760"/>
          </a:xfrm>
          <a:prstGeom prst="rect">
            <a:avLst/>
          </a:prstGeom>
          <a:noFill/>
          <a:ln/>
        </p:spPr>
        <p:txBody>
          <a:bodyPr wrap="square" lIns="0" tIns="0" rIns="0" bIns="0" rtlCol="0" anchor="ctr"/>
          <a:lstStyle/>
          <a:p>
            <a:pPr marL="0" indent="0">
              <a:buNone/>
            </a:pPr>
            <a:r>
              <a:rPr lang="en-US" sz="1600" b="1" dirty="0">
                <a:solidFill>
                  <a:schemeClr val="tx1"/>
                </a:solidFill>
              </a:rPr>
              <a:t>Decision rules (editable inputs)</a:t>
            </a:r>
            <a:endParaRPr lang="en-US" sz="1600" dirty="0"/>
          </a:p>
        </p:txBody>
      </p:sp>
      <p:sp>
        <p:nvSpPr>
          <p:cNvPr id="6" name="chip-135"/>
          <p:cNvSpPr/>
          <p:nvPr/>
        </p:nvSpPr>
        <p:spPr>
          <a:xfrm>
            <a:off x="8138160" y="1874520"/>
            <a:ext cx="1051560" cy="411480"/>
          </a:xfrm>
          <a:prstGeom prst="roundRect">
            <a:avLst>
              <a:gd name="adj" fmla="val 13333"/>
            </a:avLst>
          </a:prstGeom>
          <a:solidFill>
            <a:srgbClr val="1F9D65"/>
          </a:solidFill>
          <a:ln/>
        </p:spPr>
      </p:sp>
      <p:sp>
        <p:nvSpPr>
          <p:cNvPr id="7" name="Text 4"/>
          <p:cNvSpPr txBox="1"/>
          <p:nvPr/>
        </p:nvSpPr>
        <p:spPr>
          <a:xfrm>
            <a:off x="8138160" y="1874520"/>
            <a:ext cx="1051560" cy="411480"/>
          </a:xfrm>
          <a:prstGeom prst="rect">
            <a:avLst/>
          </a:prstGeom>
          <a:noFill/>
          <a:ln/>
        </p:spPr>
        <p:txBody>
          <a:bodyPr wrap="square" lIns="0" tIns="0" rIns="0" bIns="0" rtlCol="0" anchor="ctr"/>
          <a:lstStyle/>
          <a:p>
            <a:pPr marL="0" indent="0" algn="ctr">
              <a:buNone/>
            </a:pPr>
            <a:r>
              <a:rPr lang="en-US" sz="1200" b="1" dirty="0">
                <a:solidFill>
                  <a:srgbClr val="FFFFFF"/>
                </a:solidFill>
              </a:rPr>
              <a:t>SCALE</a:t>
            </a:r>
            <a:endParaRPr lang="en-US" sz="1200" dirty="0"/>
          </a:p>
        </p:txBody>
      </p:sp>
      <p:sp>
        <p:nvSpPr>
          <p:cNvPr id="8" name="Text 5"/>
          <p:cNvSpPr txBox="1"/>
          <p:nvPr/>
        </p:nvSpPr>
        <p:spPr>
          <a:xfrm>
            <a:off x="9326880" y="1783080"/>
            <a:ext cx="2404872" cy="621792"/>
          </a:xfrm>
          <a:prstGeom prst="rect">
            <a:avLst/>
          </a:prstGeom>
          <a:noFill/>
          <a:ln/>
        </p:spPr>
        <p:txBody>
          <a:bodyPr wrap="square" lIns="0" tIns="0" rIns="0" bIns="0" rtlCol="0" anchor="ctr"/>
          <a:lstStyle/>
          <a:p>
            <a:pPr marL="0" indent="0">
              <a:buNone/>
            </a:pPr>
            <a:r>
              <a:rPr lang="en-US" sz="1400" dirty="0">
                <a:solidFill>
                  <a:schemeClr val="tx1"/>
                </a:solidFill>
              </a:rPr>
              <a:t>ROAS ≥ target x 1.2 (4.2x)</a:t>
            </a:r>
            <a:endParaRPr lang="en-US" sz="1400" dirty="0"/>
          </a:p>
        </p:txBody>
      </p:sp>
      <p:sp>
        <p:nvSpPr>
          <p:cNvPr id="9" name="chip-136"/>
          <p:cNvSpPr/>
          <p:nvPr/>
        </p:nvSpPr>
        <p:spPr>
          <a:xfrm>
            <a:off x="8138160" y="2761488"/>
            <a:ext cx="1051560" cy="411480"/>
          </a:xfrm>
          <a:prstGeom prst="roundRect">
            <a:avLst>
              <a:gd name="adj" fmla="val 13333"/>
            </a:avLst>
          </a:prstGeom>
          <a:solidFill>
            <a:srgbClr val="B45309"/>
          </a:solidFill>
          <a:ln/>
        </p:spPr>
      </p:sp>
      <p:sp>
        <p:nvSpPr>
          <p:cNvPr id="10" name="Text 7"/>
          <p:cNvSpPr txBox="1"/>
          <p:nvPr/>
        </p:nvSpPr>
        <p:spPr>
          <a:xfrm>
            <a:off x="8138160" y="2761488"/>
            <a:ext cx="1051560" cy="411480"/>
          </a:xfrm>
          <a:prstGeom prst="rect">
            <a:avLst/>
          </a:prstGeom>
          <a:noFill/>
          <a:ln/>
        </p:spPr>
        <p:txBody>
          <a:bodyPr wrap="square" lIns="0" tIns="0" rIns="0" bIns="0" rtlCol="0" anchor="ctr"/>
          <a:lstStyle/>
          <a:p>
            <a:pPr marL="0" indent="0" algn="ctr">
              <a:buNone/>
            </a:pPr>
            <a:r>
              <a:rPr lang="en-US" sz="1200" b="1" dirty="0">
                <a:solidFill>
                  <a:srgbClr val="FFFFFF"/>
                </a:solidFill>
              </a:rPr>
              <a:t>HOLD</a:t>
            </a:r>
            <a:endParaRPr lang="en-US" sz="1200" dirty="0"/>
          </a:p>
        </p:txBody>
      </p:sp>
      <p:sp>
        <p:nvSpPr>
          <p:cNvPr id="11" name="Text 8"/>
          <p:cNvSpPr txBox="1"/>
          <p:nvPr/>
        </p:nvSpPr>
        <p:spPr>
          <a:xfrm>
            <a:off x="9326880" y="2670048"/>
            <a:ext cx="2404872" cy="621792"/>
          </a:xfrm>
          <a:prstGeom prst="rect">
            <a:avLst/>
          </a:prstGeom>
          <a:noFill/>
          <a:ln/>
        </p:spPr>
        <p:txBody>
          <a:bodyPr wrap="square" lIns="0" tIns="0" rIns="0" bIns="0" rtlCol="0" anchor="ctr"/>
          <a:lstStyle/>
          <a:p>
            <a:pPr marL="0" indent="0">
              <a:buNone/>
            </a:pPr>
            <a:r>
              <a:rPr lang="en-US" sz="1400" dirty="0">
                <a:solidFill>
                  <a:schemeClr val="tx1"/>
                </a:solidFill>
              </a:rPr>
              <a:t>ROAS above break-even (2.9x)</a:t>
            </a:r>
            <a:endParaRPr lang="en-US" sz="1400" dirty="0"/>
          </a:p>
        </p:txBody>
      </p:sp>
      <p:sp>
        <p:nvSpPr>
          <p:cNvPr id="12" name="chip-137"/>
          <p:cNvSpPr/>
          <p:nvPr/>
        </p:nvSpPr>
        <p:spPr>
          <a:xfrm>
            <a:off x="8138160" y="3648456"/>
            <a:ext cx="1051560" cy="411480"/>
          </a:xfrm>
          <a:prstGeom prst="roundRect">
            <a:avLst>
              <a:gd name="adj" fmla="val 13333"/>
            </a:avLst>
          </a:prstGeom>
          <a:solidFill>
            <a:srgbClr val="0058A3"/>
          </a:solidFill>
          <a:ln/>
        </p:spPr>
      </p:sp>
      <p:sp>
        <p:nvSpPr>
          <p:cNvPr id="13" name="Text 10"/>
          <p:cNvSpPr txBox="1"/>
          <p:nvPr/>
        </p:nvSpPr>
        <p:spPr>
          <a:xfrm>
            <a:off x="8138160" y="3648456"/>
            <a:ext cx="1051560" cy="411480"/>
          </a:xfrm>
          <a:prstGeom prst="rect">
            <a:avLst/>
          </a:prstGeom>
          <a:noFill/>
          <a:ln/>
        </p:spPr>
        <p:txBody>
          <a:bodyPr wrap="square" lIns="0" tIns="0" rIns="0" bIns="0" rtlCol="0" anchor="ctr"/>
          <a:lstStyle/>
          <a:p>
            <a:pPr marL="0" indent="0" algn="ctr">
              <a:buNone/>
            </a:pPr>
            <a:r>
              <a:rPr lang="en-US" sz="1200" b="1" dirty="0">
                <a:solidFill>
                  <a:srgbClr val="FFFFFF"/>
                </a:solidFill>
              </a:rPr>
              <a:t>KEEP</a:t>
            </a:r>
            <a:endParaRPr lang="en-US" sz="1200" dirty="0"/>
          </a:p>
        </p:txBody>
      </p:sp>
      <p:sp>
        <p:nvSpPr>
          <p:cNvPr id="14" name="Text 11"/>
          <p:cNvSpPr txBox="1"/>
          <p:nvPr/>
        </p:nvSpPr>
        <p:spPr>
          <a:xfrm>
            <a:off x="9326880" y="3557016"/>
            <a:ext cx="2404872" cy="621792"/>
          </a:xfrm>
          <a:prstGeom prst="rect">
            <a:avLst/>
          </a:prstGeom>
          <a:noFill/>
          <a:ln/>
        </p:spPr>
        <p:txBody>
          <a:bodyPr wrap="square" lIns="0" tIns="0" rIns="0" bIns="0" rtlCol="0" anchor="ctr"/>
          <a:lstStyle/>
          <a:p>
            <a:pPr marL="0" indent="0">
              <a:buNone/>
            </a:pPr>
            <a:r>
              <a:rPr lang="en-US" sz="1400" dirty="0">
                <a:solidFill>
                  <a:schemeClr val="tx1"/>
                </a:solidFill>
              </a:rPr>
              <a:t>Below break-even, but assist share ≥ 8%</a:t>
            </a:r>
            <a:endParaRPr lang="en-US" sz="1400" dirty="0"/>
          </a:p>
        </p:txBody>
      </p:sp>
      <p:sp>
        <p:nvSpPr>
          <p:cNvPr id="15" name="chip-138"/>
          <p:cNvSpPr/>
          <p:nvPr/>
        </p:nvSpPr>
        <p:spPr>
          <a:xfrm>
            <a:off x="8138160" y="4535424"/>
            <a:ext cx="1051560" cy="411480"/>
          </a:xfrm>
          <a:prstGeom prst="roundRect">
            <a:avLst>
              <a:gd name="adj" fmla="val 13333"/>
            </a:avLst>
          </a:prstGeom>
          <a:solidFill>
            <a:srgbClr val="C0392B"/>
          </a:solidFill>
          <a:ln/>
        </p:spPr>
      </p:sp>
      <p:sp>
        <p:nvSpPr>
          <p:cNvPr id="4" name="Text 13"/>
          <p:cNvSpPr txBox="1"/>
          <p:nvPr/>
        </p:nvSpPr>
        <p:spPr>
          <a:xfrm>
            <a:off x="8138160" y="4535424"/>
            <a:ext cx="1051560" cy="411480"/>
          </a:xfrm>
          <a:prstGeom prst="rect">
            <a:avLst/>
          </a:prstGeom>
          <a:noFill/>
          <a:ln/>
        </p:spPr>
        <p:txBody>
          <a:bodyPr wrap="square" lIns="0" tIns="0" rIns="0" bIns="0" rtlCol="0" anchor="ctr"/>
          <a:lstStyle/>
          <a:p>
            <a:pPr marL="0" indent="0" algn="ctr">
              <a:buNone/>
            </a:pPr>
            <a:r>
              <a:rPr lang="en-US" sz="1200" b="1" dirty="0">
                <a:solidFill>
                  <a:srgbClr val="FFFFFF"/>
                </a:solidFill>
              </a:rPr>
              <a:t>CUT</a:t>
            </a:r>
            <a:endParaRPr lang="en-US" sz="1200" dirty="0"/>
          </a:p>
        </p:txBody>
      </p:sp>
      <p:sp>
        <p:nvSpPr>
          <p:cNvPr id="17" name="Text 14"/>
          <p:cNvSpPr txBox="1"/>
          <p:nvPr/>
        </p:nvSpPr>
        <p:spPr>
          <a:xfrm>
            <a:off x="9326880" y="4443984"/>
            <a:ext cx="2404872" cy="621792"/>
          </a:xfrm>
          <a:prstGeom prst="rect">
            <a:avLst/>
          </a:prstGeom>
          <a:noFill/>
          <a:ln/>
        </p:spPr>
        <p:txBody>
          <a:bodyPr wrap="square" lIns="0" tIns="0" rIns="0" bIns="0" rtlCol="0" anchor="ctr"/>
          <a:lstStyle/>
          <a:p>
            <a:pPr marL="0" indent="0">
              <a:buNone/>
            </a:pPr>
            <a:r>
              <a:rPr lang="en-US" sz="1400" dirty="0">
                <a:solidFill>
                  <a:schemeClr val="tx1"/>
                </a:solidFill>
              </a:rPr>
              <a:t>Below break-even and assist share &lt; 8%</a:t>
            </a:r>
            <a:endParaRPr lang="en-US" sz="1400" dirty="0"/>
          </a:p>
        </p:txBody>
      </p:sp>
      <p:sp>
        <p:nvSpPr>
          <p:cNvPr id="18" name="chip-139"/>
          <p:cNvSpPr/>
          <p:nvPr/>
        </p:nvSpPr>
        <p:spPr>
          <a:xfrm>
            <a:off x="8138160" y="5422392"/>
            <a:ext cx="1051560" cy="411480"/>
          </a:xfrm>
          <a:prstGeom prst="roundRect">
            <a:avLst>
              <a:gd name="adj" fmla="val 13333"/>
            </a:avLst>
          </a:prstGeom>
          <a:solidFill>
            <a:srgbClr val="1F2937"/>
          </a:solidFill>
          <a:ln/>
        </p:spPr>
      </p:sp>
      <p:sp>
        <p:nvSpPr>
          <p:cNvPr id="19" name="Text 16"/>
          <p:cNvSpPr txBox="1"/>
          <p:nvPr/>
        </p:nvSpPr>
        <p:spPr>
          <a:xfrm>
            <a:off x="8138160" y="5422392"/>
            <a:ext cx="1051560" cy="411480"/>
          </a:xfrm>
          <a:prstGeom prst="rect">
            <a:avLst/>
          </a:prstGeom>
          <a:noFill/>
          <a:ln/>
        </p:spPr>
        <p:txBody>
          <a:bodyPr wrap="square" lIns="0" tIns="0" rIns="0" bIns="0" rtlCol="0" anchor="ctr"/>
          <a:lstStyle/>
          <a:p>
            <a:pPr marL="0" indent="0" algn="ctr">
              <a:buNone/>
            </a:pPr>
            <a:r>
              <a:rPr lang="en-US" sz="1200" b="1" dirty="0">
                <a:solidFill>
                  <a:srgbClr val="FFFFFF"/>
                </a:solidFill>
              </a:rPr>
              <a:t>REFRESH</a:t>
            </a:r>
            <a:endParaRPr lang="en-US" sz="1200" dirty="0"/>
          </a:p>
        </p:txBody>
      </p:sp>
      <p:sp>
        <p:nvSpPr>
          <p:cNvPr id="20" name="Text 17"/>
          <p:cNvSpPr txBox="1"/>
          <p:nvPr/>
        </p:nvSpPr>
        <p:spPr>
          <a:xfrm>
            <a:off x="9326880" y="5330952"/>
            <a:ext cx="2404872" cy="621792"/>
          </a:xfrm>
          <a:prstGeom prst="rect">
            <a:avLst/>
          </a:prstGeom>
          <a:noFill/>
          <a:ln/>
        </p:spPr>
        <p:txBody>
          <a:bodyPr wrap="square" lIns="0" tIns="0" rIns="0" bIns="0" rtlCol="0" anchor="ctr"/>
          <a:lstStyle/>
          <a:p>
            <a:pPr marL="0" indent="0">
              <a:buNone/>
            </a:pPr>
            <a:r>
              <a:rPr lang="en-US" sz="1400" dirty="0">
                <a:solidFill>
                  <a:schemeClr val="tx1"/>
                </a:solidFill>
              </a:rPr>
              <a:t>CTR down 25%+ from week 1 to week 4</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TESTING REPORT</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25 of 25 scenarios pass, 1 defect caught and fixed</a:t>
            </a:r>
            <a:endParaRPr lang="en-US" sz="2800" dirty="0"/>
          </a:p>
        </p:txBody>
      </p:sp>
      <p:sp>
        <p:nvSpPr>
          <p:cNvPr id="4" name="card-140"/>
          <p:cNvSpPr/>
          <p:nvPr/>
        </p:nvSpPr>
        <p:spPr>
          <a:xfrm>
            <a:off x="457200" y="1325880"/>
            <a:ext cx="2697480" cy="1463040"/>
          </a:xfrm>
          <a:prstGeom prst="roundRect">
            <a:avLst>
              <a:gd name="adj" fmla="val 5000"/>
            </a:avLst>
          </a:prstGeom>
          <a:solidFill>
            <a:schemeClr val="bg2"/>
          </a:solidFill>
          <a:ln/>
        </p:spPr>
      </p:sp>
      <p:sp>
        <p:nvSpPr>
          <p:cNvPr id="5" name="Text 3"/>
          <p:cNvSpPr txBox="1"/>
          <p:nvPr/>
        </p:nvSpPr>
        <p:spPr>
          <a:xfrm>
            <a:off x="640080" y="1417320"/>
            <a:ext cx="2286000" cy="731520"/>
          </a:xfrm>
          <a:prstGeom prst="rect">
            <a:avLst/>
          </a:prstGeom>
          <a:noFill/>
          <a:ln/>
        </p:spPr>
        <p:txBody>
          <a:bodyPr wrap="square" lIns="0" tIns="0" rIns="0" bIns="0" rtlCol="0" anchor="b"/>
          <a:lstStyle/>
          <a:p>
            <a:pPr marL="0" indent="0">
              <a:buNone/>
            </a:pPr>
            <a:r>
              <a:rPr lang="en-US" sz="3600" b="1" dirty="0">
                <a:solidFill>
                  <a:schemeClr val="accent3"/>
                </a:solidFill>
              </a:rPr>
              <a:t>8/8</a:t>
            </a:r>
            <a:endParaRPr lang="en-US" sz="3600" dirty="0"/>
          </a:p>
        </p:txBody>
      </p:sp>
      <p:sp>
        <p:nvSpPr>
          <p:cNvPr id="6" name="Text 4"/>
          <p:cNvSpPr txBox="1"/>
          <p:nvPr/>
        </p:nvSpPr>
        <p:spPr>
          <a:xfrm>
            <a:off x="640080" y="2194560"/>
            <a:ext cx="2286000" cy="411480"/>
          </a:xfrm>
          <a:prstGeom prst="rect">
            <a:avLst/>
          </a:prstGeom>
          <a:noFill/>
          <a:ln/>
        </p:spPr>
        <p:txBody>
          <a:bodyPr wrap="square" lIns="0" tIns="0" rIns="0" bIns="0" rtlCol="0" anchor="ctr"/>
          <a:lstStyle/>
          <a:p>
            <a:pPr marL="0" indent="0">
              <a:buNone/>
            </a:pPr>
            <a:r>
              <a:rPr lang="en-US" sz="1500" b="1" dirty="0">
                <a:solidFill>
                  <a:schemeClr val="tx1"/>
                </a:solidFill>
              </a:rPr>
              <a:t>Workbook</a:t>
            </a:r>
            <a:endParaRPr lang="en-US" sz="1500" dirty="0"/>
          </a:p>
        </p:txBody>
      </p:sp>
      <p:sp>
        <p:nvSpPr>
          <p:cNvPr id="7" name="card-141"/>
          <p:cNvSpPr/>
          <p:nvPr/>
        </p:nvSpPr>
        <p:spPr>
          <a:xfrm>
            <a:off x="3319272" y="1325880"/>
            <a:ext cx="2697480" cy="1463040"/>
          </a:xfrm>
          <a:prstGeom prst="roundRect">
            <a:avLst>
              <a:gd name="adj" fmla="val 5000"/>
            </a:avLst>
          </a:prstGeom>
          <a:solidFill>
            <a:schemeClr val="bg2"/>
          </a:solidFill>
          <a:ln/>
        </p:spPr>
      </p:sp>
      <p:sp>
        <p:nvSpPr>
          <p:cNvPr id="8" name="Text 6"/>
          <p:cNvSpPr txBox="1"/>
          <p:nvPr/>
        </p:nvSpPr>
        <p:spPr>
          <a:xfrm>
            <a:off x="3502152" y="1417320"/>
            <a:ext cx="2286000" cy="731520"/>
          </a:xfrm>
          <a:prstGeom prst="rect">
            <a:avLst/>
          </a:prstGeom>
          <a:noFill/>
          <a:ln/>
        </p:spPr>
        <p:txBody>
          <a:bodyPr wrap="square" lIns="0" tIns="0" rIns="0" bIns="0" rtlCol="0" anchor="b"/>
          <a:lstStyle/>
          <a:p>
            <a:pPr marL="0" indent="0">
              <a:buNone/>
            </a:pPr>
            <a:r>
              <a:rPr lang="en-US" sz="3600" b="1" dirty="0">
                <a:solidFill>
                  <a:schemeClr val="accent3"/>
                </a:solidFill>
              </a:rPr>
              <a:t>8/8</a:t>
            </a:r>
            <a:endParaRPr lang="en-US" sz="3600" dirty="0"/>
          </a:p>
        </p:txBody>
      </p:sp>
      <p:sp>
        <p:nvSpPr>
          <p:cNvPr id="9" name="Text 7"/>
          <p:cNvSpPr txBox="1"/>
          <p:nvPr/>
        </p:nvSpPr>
        <p:spPr>
          <a:xfrm>
            <a:off x="3502152" y="2194560"/>
            <a:ext cx="2286000" cy="411480"/>
          </a:xfrm>
          <a:prstGeom prst="rect">
            <a:avLst/>
          </a:prstGeom>
          <a:noFill/>
          <a:ln/>
        </p:spPr>
        <p:txBody>
          <a:bodyPr wrap="square" lIns="0" tIns="0" rIns="0" bIns="0" rtlCol="0" anchor="ctr"/>
          <a:lstStyle/>
          <a:p>
            <a:pPr marL="0" indent="0">
              <a:buNone/>
            </a:pPr>
            <a:r>
              <a:rPr lang="en-US" sz="1500" b="1" dirty="0">
                <a:solidFill>
                  <a:schemeClr val="tx1"/>
                </a:solidFill>
              </a:rPr>
              <a:t>UTMs + tracking</a:t>
            </a:r>
            <a:endParaRPr lang="en-US" sz="1500" dirty="0"/>
          </a:p>
        </p:txBody>
      </p:sp>
      <p:sp>
        <p:nvSpPr>
          <p:cNvPr id="10" name="card-142"/>
          <p:cNvSpPr/>
          <p:nvPr/>
        </p:nvSpPr>
        <p:spPr>
          <a:xfrm>
            <a:off x="6181344" y="1325880"/>
            <a:ext cx="2697480" cy="1463040"/>
          </a:xfrm>
          <a:prstGeom prst="roundRect">
            <a:avLst>
              <a:gd name="adj" fmla="val 5000"/>
            </a:avLst>
          </a:prstGeom>
          <a:solidFill>
            <a:schemeClr val="bg2"/>
          </a:solidFill>
          <a:ln/>
        </p:spPr>
      </p:sp>
      <p:sp>
        <p:nvSpPr>
          <p:cNvPr id="11" name="Text 9"/>
          <p:cNvSpPr txBox="1"/>
          <p:nvPr/>
        </p:nvSpPr>
        <p:spPr>
          <a:xfrm>
            <a:off x="6364224" y="1417320"/>
            <a:ext cx="2286000" cy="731520"/>
          </a:xfrm>
          <a:prstGeom prst="rect">
            <a:avLst/>
          </a:prstGeom>
          <a:noFill/>
          <a:ln/>
        </p:spPr>
        <p:txBody>
          <a:bodyPr wrap="square" lIns="0" tIns="0" rIns="0" bIns="0" rtlCol="0" anchor="b"/>
          <a:lstStyle/>
          <a:p>
            <a:pPr marL="0" indent="0">
              <a:buNone/>
            </a:pPr>
            <a:r>
              <a:rPr lang="en-US" sz="3600" b="1" dirty="0">
                <a:solidFill>
                  <a:schemeClr val="accent3"/>
                </a:solidFill>
              </a:rPr>
              <a:t>5/5</a:t>
            </a:r>
            <a:endParaRPr lang="en-US" sz="3600" dirty="0"/>
          </a:p>
        </p:txBody>
      </p:sp>
      <p:sp>
        <p:nvSpPr>
          <p:cNvPr id="12" name="Text 10"/>
          <p:cNvSpPr txBox="1"/>
          <p:nvPr/>
        </p:nvSpPr>
        <p:spPr>
          <a:xfrm>
            <a:off x="6364224" y="2194560"/>
            <a:ext cx="2286000" cy="411480"/>
          </a:xfrm>
          <a:prstGeom prst="rect">
            <a:avLst/>
          </a:prstGeom>
          <a:noFill/>
          <a:ln/>
        </p:spPr>
        <p:txBody>
          <a:bodyPr wrap="square" lIns="0" tIns="0" rIns="0" bIns="0" rtlCol="0" anchor="ctr"/>
          <a:lstStyle/>
          <a:p>
            <a:pPr marL="0" indent="0">
              <a:buNone/>
            </a:pPr>
            <a:r>
              <a:rPr lang="en-US" sz="1500" b="1" dirty="0">
                <a:solidFill>
                  <a:schemeClr val="tx1"/>
                </a:solidFill>
              </a:rPr>
              <a:t>Lead workflow + AI</a:t>
            </a:r>
            <a:endParaRPr lang="en-US" sz="1500" dirty="0"/>
          </a:p>
        </p:txBody>
      </p:sp>
      <p:sp>
        <p:nvSpPr>
          <p:cNvPr id="13" name="card-143"/>
          <p:cNvSpPr/>
          <p:nvPr/>
        </p:nvSpPr>
        <p:spPr>
          <a:xfrm>
            <a:off x="9043416" y="1325880"/>
            <a:ext cx="2697480" cy="1463040"/>
          </a:xfrm>
          <a:prstGeom prst="roundRect">
            <a:avLst>
              <a:gd name="adj" fmla="val 5000"/>
            </a:avLst>
          </a:prstGeom>
          <a:solidFill>
            <a:schemeClr val="bg2"/>
          </a:solidFill>
          <a:ln/>
        </p:spPr>
      </p:sp>
      <p:sp>
        <p:nvSpPr>
          <p:cNvPr id="14" name="Text 12"/>
          <p:cNvSpPr txBox="1"/>
          <p:nvPr/>
        </p:nvSpPr>
        <p:spPr>
          <a:xfrm>
            <a:off x="9226296" y="1417320"/>
            <a:ext cx="2286000" cy="731520"/>
          </a:xfrm>
          <a:prstGeom prst="rect">
            <a:avLst/>
          </a:prstGeom>
          <a:noFill/>
          <a:ln/>
        </p:spPr>
        <p:txBody>
          <a:bodyPr wrap="square" lIns="0" tIns="0" rIns="0" bIns="0" rtlCol="0" anchor="b"/>
          <a:lstStyle/>
          <a:p>
            <a:pPr marL="0" indent="0">
              <a:buNone/>
            </a:pPr>
            <a:r>
              <a:rPr lang="en-US" sz="3600" b="1" dirty="0">
                <a:solidFill>
                  <a:schemeClr val="accent3"/>
                </a:solidFill>
              </a:rPr>
              <a:t>4/4</a:t>
            </a:r>
            <a:endParaRPr lang="en-US" sz="3600" dirty="0"/>
          </a:p>
        </p:txBody>
      </p:sp>
      <p:sp>
        <p:nvSpPr>
          <p:cNvPr id="15" name="Text 13"/>
          <p:cNvSpPr txBox="1"/>
          <p:nvPr/>
        </p:nvSpPr>
        <p:spPr>
          <a:xfrm>
            <a:off x="9226296" y="2194560"/>
            <a:ext cx="2286000" cy="411480"/>
          </a:xfrm>
          <a:prstGeom prst="rect">
            <a:avLst/>
          </a:prstGeom>
          <a:noFill/>
          <a:ln/>
        </p:spPr>
        <p:txBody>
          <a:bodyPr wrap="square" lIns="0" tIns="0" rIns="0" bIns="0" rtlCol="0" anchor="ctr"/>
          <a:lstStyle/>
          <a:p>
            <a:pPr marL="0" indent="0">
              <a:buNone/>
            </a:pPr>
            <a:r>
              <a:rPr lang="en-US" sz="1500" b="1" dirty="0">
                <a:solidFill>
                  <a:schemeClr val="tx1"/>
                </a:solidFill>
              </a:rPr>
              <a:t>CRM + security</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11274552" cy="3316224"/>
        </p:xfrm>
        <a:graphic>
          <a:graphicData uri="http://schemas.openxmlformats.org/drawingml/2006/table">
            <a:tbl>
              <a:tblPr/>
              <a:tblGrid>
                <a:gridCol w="822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33095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Actual</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058A3"/>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TC03</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Google Search UTM link with utm_term</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Paid Search, furniture_new_cairo shown</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TC07</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TikTok link, then plain page in the same session</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TikTok values and Paid Social kept</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TC10</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Google link, New Cairo, tomorrow</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90, hot, call within 1 hour, draft written, no name/phone in event</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TC11</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No UTMs, area Other, 20 days ahead</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10, cold, email nurture, Direct</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TC13</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CRM with wrong code '1234'</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'That access code did not work.', no tables shown</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TC16</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Read the leads table with the public key</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Empty list returned</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TC17</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Force the AI step to fail (invalid model)</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Saved with 'AI draft unavailable, use template'</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1F5FA"/>
                    </a:solidFill>
                  </a:tcPr>
                </a:tc>
                <a:extLst>
                  <a:ext uri="{0D108BD9-81ED-4DB2-BD59-A6C34878D82A}">
                    <a16:rowId xmlns:a16="http://schemas.microsoft.com/office/drawing/2014/main" val="10007"/>
                  </a:ext>
                </a:extLst>
              </a:tr>
              <a:tr h="365760">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TC-W2</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UTM row with capitals and a space in the audience code ('Meta', 'test aud')</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First run: campaign became 'purchase_test aud_nhsb_202611' and the check said OK. After fix: 'purchase_test_aud_nhsb_202611', source 'meta', check OK</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b="1" dirty="0">
                          <a:solidFill>
                            <a:srgbClr val="1F9D65"/>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3152" marR="7315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BUDGET REALLOCATION</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Move 32,500 EGP from weak lines to proven closers</a:t>
            </a:r>
            <a:endParaRPr lang="en-US" sz="2800" dirty="0"/>
          </a:p>
        </p:txBody>
      </p:sp>
      <p:graphicFrame>
        <p:nvGraphicFramePr>
          <p:cNvPr id="4" name="Chart 0"/>
          <p:cNvGraphicFramePr/>
          <p:nvPr/>
        </p:nvGraphicFramePr>
        <p:xfrm>
          <a:off x="457200" y="1325880"/>
          <a:ext cx="713232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144"/>
          <p:cNvSpPr/>
          <p:nvPr/>
        </p:nvSpPr>
        <p:spPr>
          <a:xfrm>
            <a:off x="7863840" y="1325880"/>
            <a:ext cx="3867912" cy="2103120"/>
          </a:xfrm>
          <a:prstGeom prst="roundRect">
            <a:avLst>
              <a:gd name="adj" fmla="val 3478"/>
            </a:avLst>
          </a:prstGeom>
          <a:solidFill>
            <a:schemeClr val="accent1"/>
          </a:solidFill>
          <a:ln/>
        </p:spPr>
      </p:sp>
      <p:sp>
        <p:nvSpPr>
          <p:cNvPr id="6" name="Text 3"/>
          <p:cNvSpPr txBox="1"/>
          <p:nvPr/>
        </p:nvSpPr>
        <p:spPr>
          <a:xfrm>
            <a:off x="8046720" y="1463040"/>
            <a:ext cx="3566160" cy="822960"/>
          </a:xfrm>
          <a:prstGeom prst="rect">
            <a:avLst/>
          </a:prstGeom>
          <a:noFill/>
          <a:ln/>
        </p:spPr>
        <p:txBody>
          <a:bodyPr wrap="square" lIns="0" tIns="0" rIns="0" bIns="0" rtlCol="0" anchor="ctr"/>
          <a:lstStyle/>
          <a:p>
            <a:pPr marL="0" indent="0">
              <a:buNone/>
            </a:pPr>
            <a:r>
              <a:rPr lang="en-US" sz="4000" b="1" dirty="0">
                <a:solidFill>
                  <a:schemeClr val="accent2"/>
                </a:solidFill>
              </a:rPr>
              <a:t>4.1x → 4.8x</a:t>
            </a:r>
            <a:endParaRPr lang="en-US" sz="4000" dirty="0"/>
          </a:p>
        </p:txBody>
      </p:sp>
      <p:sp>
        <p:nvSpPr>
          <p:cNvPr id="7" name="Text 4"/>
          <p:cNvSpPr txBox="1"/>
          <p:nvPr/>
        </p:nvSpPr>
        <p:spPr>
          <a:xfrm>
            <a:off x="8046720" y="2331720"/>
            <a:ext cx="3566160" cy="914400"/>
          </a:xfrm>
          <a:prstGeom prst="rect">
            <a:avLst/>
          </a:prstGeom>
          <a:noFill/>
          <a:ln/>
        </p:spPr>
        <p:txBody>
          <a:bodyPr wrap="square" lIns="0" tIns="0" rIns="0" bIns="0" rtlCol="0" anchor="t"/>
          <a:lstStyle/>
          <a:p>
            <a:pPr marL="0" indent="0">
              <a:buNone/>
            </a:pPr>
            <a:r>
              <a:rPr lang="en-US" sz="1500" dirty="0">
                <a:solidFill>
                  <a:schemeClr val="bg1"/>
                </a:solidFill>
              </a:rPr>
              <a:t>Projected blended ROAS, +164K EGP revenue on the same 250K</a:t>
            </a:r>
            <a:endParaRPr lang="en-US" sz="1500" dirty="0"/>
          </a:p>
        </p:txBody>
      </p:sp>
      <p:sp>
        <p:nvSpPr>
          <p:cNvPr id="8" name="Text 5"/>
          <p:cNvSpPr txBox="1"/>
          <p:nvPr/>
        </p:nvSpPr>
        <p:spPr>
          <a:xfrm>
            <a:off x="7863840" y="3611880"/>
            <a:ext cx="1234440" cy="548640"/>
          </a:xfrm>
          <a:prstGeom prst="rect">
            <a:avLst/>
          </a:prstGeom>
          <a:noFill/>
          <a:ln/>
        </p:spPr>
        <p:txBody>
          <a:bodyPr wrap="square" lIns="0" tIns="0" rIns="0" bIns="0" rtlCol="0" anchor="ctr"/>
          <a:lstStyle/>
          <a:p>
            <a:pPr marL="0" indent="0">
              <a:buNone/>
            </a:pPr>
            <a:r>
              <a:rPr lang="en-US" sz="1800" b="1" dirty="0">
                <a:solidFill>
                  <a:srgbClr val="1F9D65"/>
                </a:solidFill>
              </a:rPr>
              <a:t>+15,000</a:t>
            </a:r>
            <a:endParaRPr lang="en-US" sz="1800" dirty="0"/>
          </a:p>
        </p:txBody>
      </p:sp>
      <p:sp>
        <p:nvSpPr>
          <p:cNvPr id="9" name="Text 6"/>
          <p:cNvSpPr txBox="1"/>
          <p:nvPr/>
        </p:nvSpPr>
        <p:spPr>
          <a:xfrm>
            <a:off x="9144000" y="3611880"/>
            <a:ext cx="2587752" cy="548640"/>
          </a:xfrm>
          <a:prstGeom prst="rect">
            <a:avLst/>
          </a:prstGeom>
          <a:noFill/>
          <a:ln/>
        </p:spPr>
        <p:txBody>
          <a:bodyPr wrap="square" lIns="0" tIns="0" rIns="0" bIns="0" rtlCol="0" anchor="ctr"/>
          <a:lstStyle/>
          <a:p>
            <a:pPr marL="0" indent="0">
              <a:buNone/>
            </a:pPr>
            <a:r>
              <a:rPr lang="en-US" sz="1400" dirty="0">
                <a:solidFill>
                  <a:schemeClr val="tx1"/>
                </a:solidFill>
              </a:rPr>
              <a:t>Google Search 22 → 28%</a:t>
            </a:r>
            <a:endParaRPr lang="en-US" sz="1400" dirty="0"/>
          </a:p>
        </p:txBody>
      </p:sp>
      <p:sp>
        <p:nvSpPr>
          <p:cNvPr id="10" name="Text 7"/>
          <p:cNvSpPr txBox="1"/>
          <p:nvPr/>
        </p:nvSpPr>
        <p:spPr>
          <a:xfrm>
            <a:off x="7863840" y="4270248"/>
            <a:ext cx="1234440" cy="548640"/>
          </a:xfrm>
          <a:prstGeom prst="rect">
            <a:avLst/>
          </a:prstGeom>
          <a:noFill/>
          <a:ln/>
        </p:spPr>
        <p:txBody>
          <a:bodyPr wrap="square" lIns="0" tIns="0" rIns="0" bIns="0" rtlCol="0" anchor="ctr"/>
          <a:lstStyle/>
          <a:p>
            <a:pPr marL="0" indent="0">
              <a:buNone/>
            </a:pPr>
            <a:r>
              <a:rPr lang="en-US" sz="1800" b="1" dirty="0">
                <a:solidFill>
                  <a:srgbClr val="1F9D65"/>
                </a:solidFill>
              </a:rPr>
              <a:t>+12,500</a:t>
            </a:r>
            <a:endParaRPr lang="en-US" sz="1800" dirty="0"/>
          </a:p>
        </p:txBody>
      </p:sp>
      <p:sp>
        <p:nvSpPr>
          <p:cNvPr id="11" name="Text 8"/>
          <p:cNvSpPr txBox="1"/>
          <p:nvPr/>
        </p:nvSpPr>
        <p:spPr>
          <a:xfrm>
            <a:off x="9144000" y="4270248"/>
            <a:ext cx="2587752" cy="548640"/>
          </a:xfrm>
          <a:prstGeom prst="rect">
            <a:avLst/>
          </a:prstGeom>
          <a:noFill/>
          <a:ln/>
        </p:spPr>
        <p:txBody>
          <a:bodyPr wrap="square" lIns="0" tIns="0" rIns="0" bIns="0" rtlCol="0" anchor="ctr"/>
          <a:lstStyle/>
          <a:p>
            <a:pPr marL="0" indent="0">
              <a:buNone/>
            </a:pPr>
            <a:r>
              <a:rPr lang="en-US" sz="1400" dirty="0">
                <a:solidFill>
                  <a:schemeClr val="tx1"/>
                </a:solidFill>
              </a:rPr>
              <a:t>Email + WhatsApp 5 → 10%</a:t>
            </a:r>
            <a:endParaRPr lang="en-US" sz="1400" dirty="0"/>
          </a:p>
        </p:txBody>
      </p:sp>
      <p:sp>
        <p:nvSpPr>
          <p:cNvPr id="12" name="Text 9"/>
          <p:cNvSpPr txBox="1"/>
          <p:nvPr/>
        </p:nvSpPr>
        <p:spPr>
          <a:xfrm>
            <a:off x="7863840" y="4928616"/>
            <a:ext cx="1234440" cy="548640"/>
          </a:xfrm>
          <a:prstGeom prst="rect">
            <a:avLst/>
          </a:prstGeom>
          <a:noFill/>
          <a:ln/>
        </p:spPr>
        <p:txBody>
          <a:bodyPr wrap="square" lIns="0" tIns="0" rIns="0" bIns="0" rtlCol="0" anchor="ctr"/>
          <a:lstStyle/>
          <a:p>
            <a:pPr marL="0" indent="0">
              <a:buNone/>
            </a:pPr>
            <a:r>
              <a:rPr lang="en-US" sz="1800" b="1" dirty="0">
                <a:solidFill>
                  <a:srgbClr val="1F9D65"/>
                </a:solidFill>
              </a:rPr>
              <a:t>+5,000</a:t>
            </a:r>
            <a:endParaRPr lang="en-US" sz="1800" dirty="0"/>
          </a:p>
        </p:txBody>
      </p:sp>
      <p:sp>
        <p:nvSpPr>
          <p:cNvPr id="13" name="Text 10"/>
          <p:cNvSpPr txBox="1"/>
          <p:nvPr/>
        </p:nvSpPr>
        <p:spPr>
          <a:xfrm>
            <a:off x="9144000" y="4928616"/>
            <a:ext cx="2587752" cy="548640"/>
          </a:xfrm>
          <a:prstGeom prst="rect">
            <a:avLst/>
          </a:prstGeom>
          <a:noFill/>
          <a:ln/>
        </p:spPr>
        <p:txBody>
          <a:bodyPr wrap="square" lIns="0" tIns="0" rIns="0" bIns="0" rtlCol="0" anchor="ctr"/>
          <a:lstStyle/>
          <a:p>
            <a:pPr marL="0" indent="0">
              <a:buNone/>
            </a:pPr>
            <a:r>
              <a:rPr lang="en-US" sz="1400" dirty="0">
                <a:solidFill>
                  <a:schemeClr val="tx1"/>
                </a:solidFill>
              </a:rPr>
              <a:t>Google PMax 13 → 15%</a:t>
            </a:r>
            <a:endParaRPr lang="en-US" sz="1400" dirty="0"/>
          </a:p>
        </p:txBody>
      </p:sp>
      <p:sp>
        <p:nvSpPr>
          <p:cNvPr id="14" name="Text 11"/>
          <p:cNvSpPr txBox="1"/>
          <p:nvPr/>
        </p:nvSpPr>
        <p:spPr>
          <a:xfrm>
            <a:off x="7863840" y="5586984"/>
            <a:ext cx="1234440" cy="548640"/>
          </a:xfrm>
          <a:prstGeom prst="rect">
            <a:avLst/>
          </a:prstGeom>
          <a:noFill/>
          <a:ln/>
        </p:spPr>
        <p:txBody>
          <a:bodyPr wrap="square" lIns="0" tIns="0" rIns="0" bIns="0" rtlCol="0" anchor="ctr"/>
          <a:lstStyle/>
          <a:p>
            <a:pPr marL="0" indent="0">
              <a:buNone/>
            </a:pPr>
            <a:r>
              <a:rPr lang="en-US" sz="1800" b="1" dirty="0">
                <a:solidFill>
                  <a:srgbClr val="C0392B"/>
                </a:solidFill>
              </a:rPr>
              <a:t>−32,500</a:t>
            </a:r>
            <a:endParaRPr lang="en-US" sz="1800" dirty="0"/>
          </a:p>
        </p:txBody>
      </p:sp>
      <p:sp>
        <p:nvSpPr>
          <p:cNvPr id="15" name="Text 12"/>
          <p:cNvSpPr txBox="1"/>
          <p:nvPr/>
        </p:nvSpPr>
        <p:spPr>
          <a:xfrm>
            <a:off x="9144000" y="5586984"/>
            <a:ext cx="2587752" cy="548640"/>
          </a:xfrm>
          <a:prstGeom prst="rect">
            <a:avLst/>
          </a:prstGeom>
          <a:noFill/>
          <a:ln/>
        </p:spPr>
        <p:txBody>
          <a:bodyPr wrap="square" lIns="0" tIns="0" rIns="0" bIns="0" rtlCol="0" anchor="ctr"/>
          <a:lstStyle/>
          <a:p>
            <a:pPr marL="0" indent="0">
              <a:buNone/>
            </a:pPr>
            <a:r>
              <a:rPr lang="en-US" sz="1400" dirty="0">
                <a:solidFill>
                  <a:schemeClr val="tx1"/>
                </a:solidFill>
              </a:rPr>
              <a:t>YouTube and Snapchat paused, Meta prospecting 20 → 17%</a:t>
            </a:r>
            <a:endParaRPr lang="en-US" sz="14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NEXT 30 DAYS</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Four tests and a weekly report that ends in a decision</a:t>
            </a:r>
            <a:endParaRPr lang="en-US" sz="2800" dirty="0"/>
          </a:p>
        </p:txBody>
      </p:sp>
      <p:sp>
        <p:nvSpPr>
          <p:cNvPr id="4" name="card-145"/>
          <p:cNvSpPr/>
          <p:nvPr/>
        </p:nvSpPr>
        <p:spPr>
          <a:xfrm>
            <a:off x="457200" y="1325880"/>
            <a:ext cx="3429000" cy="2286000"/>
          </a:xfrm>
          <a:prstGeom prst="roundRect">
            <a:avLst>
              <a:gd name="adj" fmla="val 3200"/>
            </a:avLst>
          </a:prstGeom>
          <a:solidFill>
            <a:schemeClr val="bg2"/>
          </a:solidFill>
          <a:ln/>
        </p:spPr>
      </p:sp>
      <p:sp>
        <p:nvSpPr>
          <p:cNvPr id="5" name="num-146"/>
          <p:cNvSpPr/>
          <p:nvPr/>
        </p:nvSpPr>
        <p:spPr>
          <a:xfrm>
            <a:off x="658368" y="1527048"/>
            <a:ext cx="384048" cy="384048"/>
          </a:xfrm>
          <a:prstGeom prst="ellipse">
            <a:avLst/>
          </a:prstGeom>
          <a:solidFill>
            <a:schemeClr val="accent1"/>
          </a:solidFill>
          <a:ln/>
        </p:spPr>
      </p:sp>
      <p:sp>
        <p:nvSpPr>
          <p:cNvPr id="6" name="numtxt-147"/>
          <p:cNvSpPr txBox="1"/>
          <p:nvPr/>
        </p:nvSpPr>
        <p:spPr>
          <a:xfrm>
            <a:off x="658368" y="152704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1188720" y="1490472"/>
            <a:ext cx="2560320" cy="457200"/>
          </a:xfrm>
          <a:prstGeom prst="rect">
            <a:avLst/>
          </a:prstGeom>
          <a:noFill/>
          <a:ln/>
        </p:spPr>
        <p:txBody>
          <a:bodyPr wrap="square" lIns="0" tIns="0" rIns="0" bIns="0" rtlCol="0" anchor="ctr"/>
          <a:lstStyle/>
          <a:p>
            <a:pPr marL="0" indent="0">
              <a:buNone/>
            </a:pPr>
            <a:r>
              <a:rPr lang="en-US" sz="1700" b="1" dirty="0">
                <a:solidFill>
                  <a:schemeClr val="tx1"/>
                </a:solidFill>
              </a:rPr>
              <a:t>Creative rotation</a:t>
            </a:r>
            <a:endParaRPr lang="en-US" sz="1700" dirty="0"/>
          </a:p>
        </p:txBody>
      </p:sp>
      <p:sp>
        <p:nvSpPr>
          <p:cNvPr id="8" name="Text 6"/>
          <p:cNvSpPr txBox="1"/>
          <p:nvPr/>
        </p:nvSpPr>
        <p:spPr>
          <a:xfrm>
            <a:off x="658368" y="2103120"/>
            <a:ext cx="3017520" cy="914400"/>
          </a:xfrm>
          <a:prstGeom prst="rect">
            <a:avLst/>
          </a:prstGeom>
          <a:noFill/>
          <a:ln/>
        </p:spPr>
        <p:txBody>
          <a:bodyPr wrap="square" lIns="0" tIns="0" rIns="0" bIns="0" rtlCol="0" anchor="t"/>
          <a:lstStyle/>
          <a:p>
            <a:pPr marL="0" indent="0">
              <a:buNone/>
            </a:pPr>
            <a:r>
              <a:rPr lang="en-US" sz="1400" dirty="0">
                <a:solidFill>
                  <a:schemeClr val="tx1"/>
                </a:solidFill>
              </a:rPr>
              <a:t>Meta prospecting: 3 static Reels vs 6 assets rotated every 10 days</a:t>
            </a:r>
            <a:endParaRPr lang="en-US" sz="1400" dirty="0"/>
          </a:p>
        </p:txBody>
      </p:sp>
      <p:sp>
        <p:nvSpPr>
          <p:cNvPr id="9" name="Text 7"/>
          <p:cNvSpPr txBox="1"/>
          <p:nvPr/>
        </p:nvSpPr>
        <p:spPr>
          <a:xfrm>
            <a:off x="658368" y="3063240"/>
            <a:ext cx="3017520" cy="411480"/>
          </a:xfrm>
          <a:prstGeom prst="rect">
            <a:avLst/>
          </a:prstGeom>
          <a:noFill/>
          <a:ln/>
        </p:spPr>
        <p:txBody>
          <a:bodyPr wrap="square" lIns="0" tIns="0" rIns="0" bIns="0" rtlCol="0" anchor="ctr"/>
          <a:lstStyle/>
          <a:p>
            <a:pPr marL="0" indent="0">
              <a:buNone/>
            </a:pPr>
            <a:r>
              <a:rPr lang="en-US" sz="1300" b="1" dirty="0">
                <a:solidFill>
                  <a:schemeClr val="accent1"/>
                </a:solidFill>
              </a:rPr>
              <a:t>CTR, CPM · 14 days</a:t>
            </a:r>
            <a:endParaRPr lang="en-US" sz="1300" dirty="0"/>
          </a:p>
        </p:txBody>
      </p:sp>
      <p:sp>
        <p:nvSpPr>
          <p:cNvPr id="10" name="card-148"/>
          <p:cNvSpPr/>
          <p:nvPr/>
        </p:nvSpPr>
        <p:spPr>
          <a:xfrm>
            <a:off x="4069080" y="1325880"/>
            <a:ext cx="3429000" cy="2286000"/>
          </a:xfrm>
          <a:prstGeom prst="roundRect">
            <a:avLst>
              <a:gd name="adj" fmla="val 3200"/>
            </a:avLst>
          </a:prstGeom>
          <a:solidFill>
            <a:schemeClr val="bg2"/>
          </a:solidFill>
          <a:ln/>
        </p:spPr>
      </p:sp>
      <p:sp>
        <p:nvSpPr>
          <p:cNvPr id="11" name="num-149"/>
          <p:cNvSpPr/>
          <p:nvPr/>
        </p:nvSpPr>
        <p:spPr>
          <a:xfrm>
            <a:off x="4270248" y="1527048"/>
            <a:ext cx="384048" cy="384048"/>
          </a:xfrm>
          <a:prstGeom prst="ellipse">
            <a:avLst/>
          </a:prstGeom>
          <a:solidFill>
            <a:schemeClr val="accent1"/>
          </a:solidFill>
          <a:ln/>
        </p:spPr>
      </p:sp>
      <p:sp>
        <p:nvSpPr>
          <p:cNvPr id="12" name="numtxt-150"/>
          <p:cNvSpPr txBox="1"/>
          <p:nvPr/>
        </p:nvSpPr>
        <p:spPr>
          <a:xfrm>
            <a:off x="4270248" y="152704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1"/>
          <p:cNvSpPr txBox="1"/>
          <p:nvPr/>
        </p:nvSpPr>
        <p:spPr>
          <a:xfrm>
            <a:off x="4800600" y="1490472"/>
            <a:ext cx="2560320" cy="457200"/>
          </a:xfrm>
          <a:prstGeom prst="rect">
            <a:avLst/>
          </a:prstGeom>
          <a:noFill/>
          <a:ln/>
        </p:spPr>
        <p:txBody>
          <a:bodyPr wrap="square" lIns="0" tIns="0" rIns="0" bIns="0" rtlCol="0" anchor="ctr"/>
          <a:lstStyle/>
          <a:p>
            <a:pPr marL="0" indent="0">
              <a:buNone/>
            </a:pPr>
            <a:r>
              <a:rPr lang="en-US" sz="1700" b="1" dirty="0">
                <a:solidFill>
                  <a:schemeClr val="tx1"/>
                </a:solidFill>
              </a:rPr>
              <a:t>tROAS bidding</a:t>
            </a:r>
            <a:endParaRPr lang="en-US" sz="1700" dirty="0"/>
          </a:p>
        </p:txBody>
      </p:sp>
      <p:sp>
        <p:nvSpPr>
          <p:cNvPr id="14" name="Text 12"/>
          <p:cNvSpPr txBox="1"/>
          <p:nvPr/>
        </p:nvSpPr>
        <p:spPr>
          <a:xfrm>
            <a:off x="4270248" y="2103120"/>
            <a:ext cx="3017520" cy="914400"/>
          </a:xfrm>
          <a:prstGeom prst="rect">
            <a:avLst/>
          </a:prstGeom>
          <a:noFill/>
          <a:ln/>
        </p:spPr>
        <p:txBody>
          <a:bodyPr wrap="square" lIns="0" tIns="0" rIns="0" bIns="0" rtlCol="0" anchor="t"/>
          <a:lstStyle/>
          <a:p>
            <a:pPr marL="0" indent="0">
              <a:buNone/>
            </a:pPr>
            <a:r>
              <a:rPr lang="en-US" sz="1400" dirty="0">
                <a:solidFill>
                  <a:schemeClr val="tx1"/>
                </a:solidFill>
              </a:rPr>
              <a:t>Google Search: max conversion value vs tROAS 450%</a:t>
            </a:r>
            <a:endParaRPr lang="en-US" sz="1400" dirty="0"/>
          </a:p>
        </p:txBody>
      </p:sp>
      <p:sp>
        <p:nvSpPr>
          <p:cNvPr id="15" name="Text 13"/>
          <p:cNvSpPr txBox="1"/>
          <p:nvPr/>
        </p:nvSpPr>
        <p:spPr>
          <a:xfrm>
            <a:off x="4270248" y="3063240"/>
            <a:ext cx="3017520" cy="411480"/>
          </a:xfrm>
          <a:prstGeom prst="rect">
            <a:avLst/>
          </a:prstGeom>
          <a:noFill/>
          <a:ln/>
        </p:spPr>
        <p:txBody>
          <a:bodyPr wrap="square" lIns="0" tIns="0" rIns="0" bIns="0" rtlCol="0" anchor="ctr"/>
          <a:lstStyle/>
          <a:p>
            <a:pPr marL="0" indent="0">
              <a:buNone/>
            </a:pPr>
            <a:r>
              <a:rPr lang="en-US" sz="1300" b="1" dirty="0">
                <a:solidFill>
                  <a:schemeClr val="accent1"/>
                </a:solidFill>
              </a:rPr>
              <a:t>ROAS, conversions · 21 days</a:t>
            </a:r>
            <a:endParaRPr lang="en-US" sz="1300" dirty="0"/>
          </a:p>
        </p:txBody>
      </p:sp>
      <p:sp>
        <p:nvSpPr>
          <p:cNvPr id="16" name="card-151"/>
          <p:cNvSpPr/>
          <p:nvPr/>
        </p:nvSpPr>
        <p:spPr>
          <a:xfrm>
            <a:off x="457200" y="3794760"/>
            <a:ext cx="3429000" cy="2286000"/>
          </a:xfrm>
          <a:prstGeom prst="roundRect">
            <a:avLst>
              <a:gd name="adj" fmla="val 3200"/>
            </a:avLst>
          </a:prstGeom>
          <a:solidFill>
            <a:schemeClr val="bg2"/>
          </a:solidFill>
          <a:ln/>
        </p:spPr>
      </p:sp>
      <p:sp>
        <p:nvSpPr>
          <p:cNvPr id="17" name="num-152"/>
          <p:cNvSpPr/>
          <p:nvPr/>
        </p:nvSpPr>
        <p:spPr>
          <a:xfrm>
            <a:off x="658368" y="3995928"/>
            <a:ext cx="384048" cy="384048"/>
          </a:xfrm>
          <a:prstGeom prst="ellipse">
            <a:avLst/>
          </a:prstGeom>
          <a:solidFill>
            <a:schemeClr val="accent1"/>
          </a:solidFill>
          <a:ln/>
        </p:spPr>
      </p:sp>
      <p:sp>
        <p:nvSpPr>
          <p:cNvPr id="18" name="numtxt-153"/>
          <p:cNvSpPr txBox="1"/>
          <p:nvPr/>
        </p:nvSpPr>
        <p:spPr>
          <a:xfrm>
            <a:off x="658368" y="399592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7"/>
          <p:cNvSpPr txBox="1"/>
          <p:nvPr/>
        </p:nvSpPr>
        <p:spPr>
          <a:xfrm>
            <a:off x="1188720" y="3959352"/>
            <a:ext cx="2560320" cy="457200"/>
          </a:xfrm>
          <a:prstGeom prst="rect">
            <a:avLst/>
          </a:prstGeom>
          <a:noFill/>
          <a:ln/>
        </p:spPr>
        <p:txBody>
          <a:bodyPr wrap="square" lIns="0" tIns="0" rIns="0" bIns="0" rtlCol="0" anchor="ctr"/>
          <a:lstStyle/>
          <a:p>
            <a:pPr marL="0" indent="0">
              <a:buNone/>
            </a:pPr>
            <a:r>
              <a:rPr lang="en-US" sz="1700" b="1" dirty="0">
                <a:solidFill>
                  <a:schemeClr val="tx1"/>
                </a:solidFill>
              </a:rPr>
              <a:t>Headline test</a:t>
            </a:r>
            <a:endParaRPr lang="en-US" sz="1700" dirty="0"/>
          </a:p>
        </p:txBody>
      </p:sp>
      <p:sp>
        <p:nvSpPr>
          <p:cNvPr id="20" name="Text 18"/>
          <p:cNvSpPr txBox="1"/>
          <p:nvPr/>
        </p:nvSpPr>
        <p:spPr>
          <a:xfrm>
            <a:off x="658368" y="4572000"/>
            <a:ext cx="3017520" cy="914400"/>
          </a:xfrm>
          <a:prstGeom prst="rect">
            <a:avLst/>
          </a:prstGeom>
          <a:noFill/>
          <a:ln/>
        </p:spPr>
        <p:txBody>
          <a:bodyPr wrap="square" lIns="0" tIns="0" rIns="0" bIns="0" rtlCol="0" anchor="t"/>
          <a:lstStyle/>
          <a:p>
            <a:pPr marL="0" indent="0">
              <a:buNone/>
            </a:pPr>
            <a:r>
              <a:rPr lang="en-US" sz="1400" dirty="0">
                <a:solidFill>
                  <a:schemeClr val="tx1"/>
                </a:solidFill>
              </a:rPr>
              <a:t>Landing page: delivery guarantee vs price-led headline</a:t>
            </a:r>
            <a:endParaRPr lang="en-US" sz="1400" dirty="0"/>
          </a:p>
        </p:txBody>
      </p:sp>
      <p:sp>
        <p:nvSpPr>
          <p:cNvPr id="21" name="Text 19"/>
          <p:cNvSpPr txBox="1"/>
          <p:nvPr/>
        </p:nvSpPr>
        <p:spPr>
          <a:xfrm>
            <a:off x="658368" y="5532120"/>
            <a:ext cx="3017520" cy="411480"/>
          </a:xfrm>
          <a:prstGeom prst="rect">
            <a:avLst/>
          </a:prstGeom>
          <a:noFill/>
          <a:ln/>
        </p:spPr>
        <p:txBody>
          <a:bodyPr wrap="square" lIns="0" tIns="0" rIns="0" bIns="0" rtlCol="0" anchor="ctr"/>
          <a:lstStyle/>
          <a:p>
            <a:pPr marL="0" indent="0">
              <a:buNone/>
            </a:pPr>
            <a:r>
              <a:rPr lang="en-US" sz="1300" b="1" dirty="0">
                <a:solidFill>
                  <a:schemeClr val="accent1"/>
                </a:solidFill>
              </a:rPr>
              <a:t>CVR · 100 conversions per arm</a:t>
            </a:r>
            <a:endParaRPr lang="en-US" sz="1300" dirty="0"/>
          </a:p>
        </p:txBody>
      </p:sp>
      <p:sp>
        <p:nvSpPr>
          <p:cNvPr id="22" name="card-154"/>
          <p:cNvSpPr/>
          <p:nvPr/>
        </p:nvSpPr>
        <p:spPr>
          <a:xfrm>
            <a:off x="4069080" y="3794760"/>
            <a:ext cx="3429000" cy="2286000"/>
          </a:xfrm>
          <a:prstGeom prst="roundRect">
            <a:avLst>
              <a:gd name="adj" fmla="val 3200"/>
            </a:avLst>
          </a:prstGeom>
          <a:solidFill>
            <a:schemeClr val="bg2"/>
          </a:solidFill>
          <a:ln/>
        </p:spPr>
      </p:sp>
      <p:sp>
        <p:nvSpPr>
          <p:cNvPr id="23" name="num-155"/>
          <p:cNvSpPr/>
          <p:nvPr/>
        </p:nvSpPr>
        <p:spPr>
          <a:xfrm>
            <a:off x="4270248" y="3995928"/>
            <a:ext cx="384048" cy="384048"/>
          </a:xfrm>
          <a:prstGeom prst="ellipse">
            <a:avLst/>
          </a:prstGeom>
          <a:solidFill>
            <a:schemeClr val="accent1"/>
          </a:solidFill>
          <a:ln/>
        </p:spPr>
      </p:sp>
      <p:sp>
        <p:nvSpPr>
          <p:cNvPr id="24" name="numtxt-156"/>
          <p:cNvSpPr txBox="1"/>
          <p:nvPr/>
        </p:nvSpPr>
        <p:spPr>
          <a:xfrm>
            <a:off x="4270248" y="399592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5" name="Text 23"/>
          <p:cNvSpPr txBox="1"/>
          <p:nvPr/>
        </p:nvSpPr>
        <p:spPr>
          <a:xfrm>
            <a:off x="4800600" y="3959352"/>
            <a:ext cx="2560320" cy="457200"/>
          </a:xfrm>
          <a:prstGeom prst="rect">
            <a:avLst/>
          </a:prstGeom>
          <a:noFill/>
          <a:ln/>
        </p:spPr>
        <p:txBody>
          <a:bodyPr wrap="square" lIns="0" tIns="0" rIns="0" bIns="0" rtlCol="0" anchor="ctr"/>
          <a:lstStyle/>
          <a:p>
            <a:pPr marL="0" indent="0">
              <a:buNone/>
            </a:pPr>
            <a:r>
              <a:rPr lang="en-US" sz="1700" b="1" dirty="0">
                <a:solidFill>
                  <a:schemeClr val="tx1"/>
                </a:solidFill>
              </a:rPr>
              <a:t>TikTok holdout</a:t>
            </a:r>
            <a:endParaRPr lang="en-US" sz="1700" dirty="0"/>
          </a:p>
        </p:txBody>
      </p:sp>
      <p:sp>
        <p:nvSpPr>
          <p:cNvPr id="26" name="Text 24"/>
          <p:cNvSpPr txBox="1"/>
          <p:nvPr/>
        </p:nvSpPr>
        <p:spPr>
          <a:xfrm>
            <a:off x="4270248" y="4572000"/>
            <a:ext cx="3017520" cy="914400"/>
          </a:xfrm>
          <a:prstGeom prst="rect">
            <a:avLst/>
          </a:prstGeom>
          <a:noFill/>
          <a:ln/>
        </p:spPr>
        <p:txBody>
          <a:bodyPr wrap="square" lIns="0" tIns="0" rIns="0" bIns="0" rtlCol="0" anchor="t"/>
          <a:lstStyle/>
          <a:p>
            <a:pPr marL="0" indent="0">
              <a:buNone/>
            </a:pPr>
            <a:r>
              <a:rPr lang="en-US" sz="1400" dirty="0">
                <a:solidFill>
                  <a:schemeClr val="tx1"/>
                </a:solidFill>
              </a:rPr>
              <a:t>Pause TikTok in 6th of October, keep New Cairo live</a:t>
            </a:r>
            <a:endParaRPr lang="en-US" sz="1400" dirty="0"/>
          </a:p>
        </p:txBody>
      </p:sp>
      <p:sp>
        <p:nvSpPr>
          <p:cNvPr id="27" name="Text 25"/>
          <p:cNvSpPr txBox="1"/>
          <p:nvPr/>
        </p:nvSpPr>
        <p:spPr>
          <a:xfrm>
            <a:off x="4270248" y="5532120"/>
            <a:ext cx="3017520" cy="411480"/>
          </a:xfrm>
          <a:prstGeom prst="rect">
            <a:avLst/>
          </a:prstGeom>
          <a:noFill/>
          <a:ln/>
        </p:spPr>
        <p:txBody>
          <a:bodyPr wrap="square" lIns="0" tIns="0" rIns="0" bIns="0" rtlCol="0" anchor="ctr"/>
          <a:lstStyle/>
          <a:p>
            <a:pPr marL="0" indent="0">
              <a:buNone/>
            </a:pPr>
            <a:r>
              <a:rPr lang="en-US" sz="1300" b="1" dirty="0">
                <a:solidFill>
                  <a:schemeClr val="accent1"/>
                </a:solidFill>
              </a:rPr>
              <a:t>Search conversions by geo · 14 days</a:t>
            </a:r>
            <a:endParaRPr lang="en-US" sz="1300" dirty="0"/>
          </a:p>
        </p:txBody>
      </p:sp>
      <p:sp>
        <p:nvSpPr>
          <p:cNvPr id="28" name="card-157"/>
          <p:cNvSpPr/>
          <p:nvPr/>
        </p:nvSpPr>
        <p:spPr>
          <a:xfrm>
            <a:off x="7863840" y="1325880"/>
            <a:ext cx="3867912" cy="4892040"/>
          </a:xfrm>
          <a:prstGeom prst="roundRect">
            <a:avLst>
              <a:gd name="adj" fmla="val 1891"/>
            </a:avLst>
          </a:prstGeom>
          <a:solidFill>
            <a:schemeClr val="accent1"/>
          </a:solidFill>
          <a:ln/>
        </p:spPr>
      </p:sp>
      <p:sp>
        <p:nvSpPr>
          <p:cNvPr id="29" name="Text 27"/>
          <p:cNvSpPr txBox="1"/>
          <p:nvPr/>
        </p:nvSpPr>
        <p:spPr>
          <a:xfrm>
            <a:off x="8092440" y="1508760"/>
            <a:ext cx="3474720" cy="320040"/>
          </a:xfrm>
          <a:prstGeom prst="rect">
            <a:avLst/>
          </a:prstGeom>
          <a:noFill/>
          <a:ln/>
        </p:spPr>
        <p:txBody>
          <a:bodyPr wrap="square" lIns="0" tIns="0" rIns="0" bIns="0" rtlCol="0" anchor="ctr"/>
          <a:lstStyle/>
          <a:p>
            <a:pPr marL="0" indent="0">
              <a:buNone/>
            </a:pPr>
            <a:r>
              <a:rPr lang="en-US" sz="1200" b="1" dirty="0">
                <a:solidFill>
                  <a:schemeClr val="accent2"/>
                </a:solidFill>
              </a:rPr>
              <a:t>WEEKLY REPORT</a:t>
            </a:r>
            <a:endParaRPr lang="en-US" sz="1200" dirty="0"/>
          </a:p>
        </p:txBody>
      </p:sp>
      <p:sp>
        <p:nvSpPr>
          <p:cNvPr id="30" name="num-158"/>
          <p:cNvSpPr/>
          <p:nvPr/>
        </p:nvSpPr>
        <p:spPr>
          <a:xfrm>
            <a:off x="8092440" y="2039112"/>
            <a:ext cx="384048" cy="384048"/>
          </a:xfrm>
          <a:prstGeom prst="ellipse">
            <a:avLst/>
          </a:prstGeom>
          <a:solidFill>
            <a:schemeClr val="accent2"/>
          </a:solidFill>
          <a:ln/>
        </p:spPr>
      </p:sp>
      <p:sp>
        <p:nvSpPr>
          <p:cNvPr id="31" name="numtxt-159"/>
          <p:cNvSpPr txBox="1"/>
          <p:nvPr/>
        </p:nvSpPr>
        <p:spPr>
          <a:xfrm>
            <a:off x="8092440" y="2039112"/>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32" name="Text 30"/>
          <p:cNvSpPr txBox="1"/>
          <p:nvPr/>
        </p:nvSpPr>
        <p:spPr>
          <a:xfrm>
            <a:off x="8641080" y="1965960"/>
            <a:ext cx="2926080" cy="530352"/>
          </a:xfrm>
          <a:prstGeom prst="rect">
            <a:avLst/>
          </a:prstGeom>
          <a:noFill/>
          <a:ln/>
        </p:spPr>
        <p:txBody>
          <a:bodyPr wrap="square" lIns="0" tIns="0" rIns="0" bIns="0" rtlCol="0" anchor="ctr"/>
          <a:lstStyle/>
          <a:p>
            <a:pPr marL="0" indent="0">
              <a:buNone/>
            </a:pPr>
            <a:r>
              <a:rPr lang="en-US" sz="1600" dirty="0">
                <a:solidFill>
                  <a:schemeClr val="bg1"/>
                </a:solidFill>
              </a:rPr>
              <a:t>What happened?</a:t>
            </a:r>
            <a:endParaRPr lang="en-US" sz="1600" dirty="0"/>
          </a:p>
        </p:txBody>
      </p:sp>
      <p:sp>
        <p:nvSpPr>
          <p:cNvPr id="33" name="num-160"/>
          <p:cNvSpPr/>
          <p:nvPr/>
        </p:nvSpPr>
        <p:spPr>
          <a:xfrm>
            <a:off x="8092440" y="2770632"/>
            <a:ext cx="384048" cy="384048"/>
          </a:xfrm>
          <a:prstGeom prst="ellipse">
            <a:avLst/>
          </a:prstGeom>
          <a:solidFill>
            <a:schemeClr val="accent2"/>
          </a:solidFill>
          <a:ln/>
        </p:spPr>
      </p:sp>
      <p:sp>
        <p:nvSpPr>
          <p:cNvPr id="34" name="numtxt-161"/>
          <p:cNvSpPr txBox="1"/>
          <p:nvPr/>
        </p:nvSpPr>
        <p:spPr>
          <a:xfrm>
            <a:off x="8092440" y="2770632"/>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35" name="Text 33"/>
          <p:cNvSpPr txBox="1"/>
          <p:nvPr/>
        </p:nvSpPr>
        <p:spPr>
          <a:xfrm>
            <a:off x="8641080" y="2697480"/>
            <a:ext cx="2926080" cy="530352"/>
          </a:xfrm>
          <a:prstGeom prst="rect">
            <a:avLst/>
          </a:prstGeom>
          <a:noFill/>
          <a:ln/>
        </p:spPr>
        <p:txBody>
          <a:bodyPr wrap="square" lIns="0" tIns="0" rIns="0" bIns="0" rtlCol="0" anchor="ctr"/>
          <a:lstStyle/>
          <a:p>
            <a:pPr marL="0" indent="0">
              <a:buNone/>
            </a:pPr>
            <a:r>
              <a:rPr lang="en-US" sz="1600" dirty="0">
                <a:solidFill>
                  <a:schemeClr val="bg1"/>
                </a:solidFill>
              </a:rPr>
              <a:t>Why did it happen?</a:t>
            </a:r>
            <a:endParaRPr lang="en-US" sz="1600" dirty="0"/>
          </a:p>
        </p:txBody>
      </p:sp>
      <p:sp>
        <p:nvSpPr>
          <p:cNvPr id="36" name="num-162"/>
          <p:cNvSpPr/>
          <p:nvPr/>
        </p:nvSpPr>
        <p:spPr>
          <a:xfrm>
            <a:off x="8092440" y="3502152"/>
            <a:ext cx="384048" cy="384048"/>
          </a:xfrm>
          <a:prstGeom prst="ellipse">
            <a:avLst/>
          </a:prstGeom>
          <a:solidFill>
            <a:schemeClr val="accent2"/>
          </a:solidFill>
          <a:ln/>
        </p:spPr>
      </p:sp>
      <p:sp>
        <p:nvSpPr>
          <p:cNvPr id="37" name="numtxt-163"/>
          <p:cNvSpPr txBox="1"/>
          <p:nvPr/>
        </p:nvSpPr>
        <p:spPr>
          <a:xfrm>
            <a:off x="8092440" y="3502152"/>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38" name="Text 36"/>
          <p:cNvSpPr txBox="1"/>
          <p:nvPr/>
        </p:nvSpPr>
        <p:spPr>
          <a:xfrm>
            <a:off x="8641080" y="3429000"/>
            <a:ext cx="2926080" cy="530352"/>
          </a:xfrm>
          <a:prstGeom prst="rect">
            <a:avLst/>
          </a:prstGeom>
          <a:noFill/>
          <a:ln/>
        </p:spPr>
        <p:txBody>
          <a:bodyPr wrap="square" lIns="0" tIns="0" rIns="0" bIns="0" rtlCol="0" anchor="ctr"/>
          <a:lstStyle/>
          <a:p>
            <a:pPr marL="0" indent="0">
              <a:buNone/>
            </a:pPr>
            <a:r>
              <a:rPr lang="en-US" sz="1600" dirty="0">
                <a:solidFill>
                  <a:schemeClr val="bg1"/>
                </a:solidFill>
              </a:rPr>
              <a:t>What does it mean?</a:t>
            </a:r>
            <a:endParaRPr lang="en-US" sz="1600" dirty="0"/>
          </a:p>
        </p:txBody>
      </p:sp>
      <p:sp>
        <p:nvSpPr>
          <p:cNvPr id="39" name="num-164"/>
          <p:cNvSpPr/>
          <p:nvPr/>
        </p:nvSpPr>
        <p:spPr>
          <a:xfrm>
            <a:off x="8092440" y="4233672"/>
            <a:ext cx="384048" cy="384048"/>
          </a:xfrm>
          <a:prstGeom prst="ellipse">
            <a:avLst/>
          </a:prstGeom>
          <a:solidFill>
            <a:schemeClr val="accent2"/>
          </a:solidFill>
          <a:ln/>
        </p:spPr>
      </p:sp>
      <p:sp>
        <p:nvSpPr>
          <p:cNvPr id="40" name="numtxt-165"/>
          <p:cNvSpPr txBox="1"/>
          <p:nvPr/>
        </p:nvSpPr>
        <p:spPr>
          <a:xfrm>
            <a:off x="8092440" y="4233672"/>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41" name="Text 39"/>
          <p:cNvSpPr txBox="1"/>
          <p:nvPr/>
        </p:nvSpPr>
        <p:spPr>
          <a:xfrm>
            <a:off x="8641080" y="4160520"/>
            <a:ext cx="2926080" cy="530352"/>
          </a:xfrm>
          <a:prstGeom prst="rect">
            <a:avLst/>
          </a:prstGeom>
          <a:noFill/>
          <a:ln/>
        </p:spPr>
        <p:txBody>
          <a:bodyPr wrap="square" lIns="0" tIns="0" rIns="0" bIns="0" rtlCol="0" anchor="ctr"/>
          <a:lstStyle/>
          <a:p>
            <a:pPr marL="0" indent="0">
              <a:buNone/>
            </a:pPr>
            <a:r>
              <a:rPr lang="en-US" sz="1600" dirty="0">
                <a:solidFill>
                  <a:schemeClr val="bg1"/>
                </a:solidFill>
              </a:rPr>
              <a:t>What will we do?</a:t>
            </a:r>
            <a:endParaRPr lang="en-US" sz="1600" dirty="0"/>
          </a:p>
        </p:txBody>
      </p:sp>
      <p:sp>
        <p:nvSpPr>
          <p:cNvPr id="42" name="num-166"/>
          <p:cNvSpPr/>
          <p:nvPr/>
        </p:nvSpPr>
        <p:spPr>
          <a:xfrm>
            <a:off x="8092440" y="4965192"/>
            <a:ext cx="384048" cy="384048"/>
          </a:xfrm>
          <a:prstGeom prst="ellipse">
            <a:avLst/>
          </a:prstGeom>
          <a:solidFill>
            <a:schemeClr val="accent2"/>
          </a:solidFill>
          <a:ln/>
        </p:spPr>
      </p:sp>
      <p:sp>
        <p:nvSpPr>
          <p:cNvPr id="43" name="numtxt-167"/>
          <p:cNvSpPr txBox="1"/>
          <p:nvPr/>
        </p:nvSpPr>
        <p:spPr>
          <a:xfrm>
            <a:off x="8092440" y="4965192"/>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44" name="Text 42"/>
          <p:cNvSpPr txBox="1"/>
          <p:nvPr/>
        </p:nvSpPr>
        <p:spPr>
          <a:xfrm>
            <a:off x="8641080" y="4892040"/>
            <a:ext cx="2926080" cy="530352"/>
          </a:xfrm>
          <a:prstGeom prst="rect">
            <a:avLst/>
          </a:prstGeom>
          <a:noFill/>
          <a:ln/>
        </p:spPr>
        <p:txBody>
          <a:bodyPr wrap="square" lIns="0" tIns="0" rIns="0" bIns="0" rtlCol="0" anchor="ctr"/>
          <a:lstStyle/>
          <a:p>
            <a:pPr marL="0" indent="0">
              <a:buNone/>
            </a:pPr>
            <a:r>
              <a:rPr lang="en-US" sz="1600" dirty="0">
                <a:solidFill>
                  <a:schemeClr val="bg1"/>
                </a:solidFill>
              </a:rPr>
              <a:t>What are we watching?</a:t>
            </a:r>
            <a:endParaRPr lang="en-US" sz="1600" dirty="0"/>
          </a:p>
        </p:txBody>
      </p:sp>
      <p:sp>
        <p:nvSpPr>
          <p:cNvPr id="45" name="Text 43"/>
          <p:cNvSpPr txBox="1"/>
          <p:nvPr/>
        </p:nvSpPr>
        <p:spPr>
          <a:xfrm>
            <a:off x="8092440" y="5623560"/>
            <a:ext cx="3474720" cy="502920"/>
          </a:xfrm>
          <a:prstGeom prst="rect">
            <a:avLst/>
          </a:prstGeom>
          <a:noFill/>
          <a:ln/>
        </p:spPr>
        <p:txBody>
          <a:bodyPr wrap="square" lIns="0" tIns="0" rIns="0" bIns="0" rtlCol="0" anchor="t"/>
          <a:lstStyle/>
          <a:p>
            <a:pPr marL="0" indent="0">
              <a:buNone/>
            </a:pPr>
            <a:r>
              <a:rPr lang="en-US" sz="1300" dirty="0">
                <a:solidFill>
                  <a:schemeClr val="bg1"/>
                </a:solidFill>
              </a:rPr>
              <a:t>One page, five numbers, one recommendation with an owner and a deadline.</a:t>
            </a:r>
            <a:endParaRPr lang="en-US" sz="1300" dirty="0"/>
          </a:p>
        </p:txBody>
      </p:sp>
      <p:sp>
        <p:nvSpPr>
          <p:cNvPr id="46"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a:spLocks noGrp="1"/>
          </p:cNvSpPr>
          <p:nvPr>
            <p:ph type="body" idx="105" hasCustomPrompt="1"/>
          </p:nvPr>
        </p:nvSpPr>
        <p:spPr>
          <a:xfrm>
            <a:off x="1325880" y="274320"/>
            <a:ext cx="8961120" cy="292608"/>
          </a:xfrm>
          <a:prstGeom prst="rect">
            <a:avLst/>
          </a:prstGeom>
          <a:noFill/>
          <a:ln/>
        </p:spPr>
        <p:txBody>
          <a:bodyPr wrap="square" lIns="0" tIns="0" rIns="0" bIns="0" rtlCol="0" anchor="ctr"/>
          <a:lstStyle/>
          <a:p>
            <a:pPr marL="0" indent="0">
              <a:buNone/>
            </a:pPr>
            <a:r>
              <a:rPr lang="en-US" sz="1100" b="1" kern="0" spc="100" dirty="0">
                <a:solidFill>
                  <a:schemeClr val="accent1"/>
                </a:solidFill>
              </a:rPr>
              <a:t>SOURCES &amp; VERIFICATION</a:t>
            </a:r>
            <a:endParaRPr lang="en-US" sz="1100" dirty="0"/>
          </a:p>
        </p:txBody>
      </p:sp>
      <p:sp>
        <p:nvSpPr>
          <p:cNvPr id="3" name="Text 3"/>
          <p:cNvSpPr>
            <a:spLocks noGrp="1"/>
          </p:cNvSpPr>
          <p:nvPr>
            <p:ph type="title" idx="106" hasCustomPrompt="1"/>
          </p:nvPr>
        </p:nvSpPr>
        <p:spPr>
          <a:xfrm>
            <a:off x="1325880" y="566928"/>
            <a:ext cx="8961120" cy="566928"/>
          </a:xfrm>
          <a:prstGeom prst="rect">
            <a:avLst/>
          </a:prstGeom>
          <a:noFill/>
          <a:ln/>
        </p:spPr>
        <p:txBody>
          <a:bodyPr wrap="square" lIns="0" tIns="0" rIns="0" bIns="0" rtlCol="0" anchor="ctr"/>
          <a:lstStyle/>
          <a:p>
            <a:pPr marL="0" indent="0" algn="l">
              <a:buNone/>
            </a:pPr>
            <a:r>
              <a:rPr lang="en-US" sz="2800" b="1" dirty="0">
                <a:solidFill>
                  <a:schemeClr val="tx1"/>
                </a:solidFill>
              </a:rPr>
              <a:t>What is verified, what is illustrative</a:t>
            </a:r>
            <a:endParaRPr lang="en-US" sz="2800" dirty="0"/>
          </a:p>
        </p:txBody>
      </p:sp>
      <p:sp>
        <p:nvSpPr>
          <p:cNvPr id="4" name="card-168"/>
          <p:cNvSpPr/>
          <p:nvPr/>
        </p:nvSpPr>
        <p:spPr>
          <a:xfrm>
            <a:off x="457200" y="1325880"/>
            <a:ext cx="5486400" cy="3611880"/>
          </a:xfrm>
          <a:prstGeom prst="roundRect">
            <a:avLst>
              <a:gd name="adj" fmla="val 2025"/>
            </a:avLst>
          </a:prstGeom>
          <a:solidFill>
            <a:schemeClr val="bg2"/>
          </a:solidFill>
          <a:ln/>
        </p:spPr>
      </p:sp>
      <p:sp>
        <p:nvSpPr>
          <p:cNvPr id="5" name="Text 3"/>
          <p:cNvSpPr txBox="1"/>
          <p:nvPr/>
        </p:nvSpPr>
        <p:spPr>
          <a:xfrm>
            <a:off x="685800" y="1463040"/>
            <a:ext cx="5029200" cy="411480"/>
          </a:xfrm>
          <a:prstGeom prst="rect">
            <a:avLst/>
          </a:prstGeom>
          <a:noFill/>
          <a:ln/>
        </p:spPr>
        <p:txBody>
          <a:bodyPr wrap="square" lIns="0" tIns="0" rIns="0" bIns="0" rtlCol="0" anchor="ctr"/>
          <a:lstStyle/>
          <a:p>
            <a:pPr marL="0" indent="0">
              <a:buNone/>
            </a:pPr>
            <a:r>
              <a:rPr lang="en-US" sz="1800" b="1" dirty="0">
                <a:solidFill>
                  <a:schemeClr val="accent3"/>
                </a:solidFill>
              </a:rPr>
              <a:t>Grounded in</a:t>
            </a:r>
            <a:endParaRPr lang="en-US" sz="1800" dirty="0"/>
          </a:p>
        </p:txBody>
      </p:sp>
      <p:sp>
        <p:nvSpPr>
          <p:cNvPr id="6" name="Text 4"/>
          <p:cNvSpPr txBox="1"/>
          <p:nvPr/>
        </p:nvSpPr>
        <p:spPr>
          <a:xfrm>
            <a:off x="685800" y="1965960"/>
            <a:ext cx="502920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KPIs, offer ladder, pixels and events, UTM rules, attribution models, 70/20/10, funnel by stage, reporting</a:t>
            </a:r>
            <a:endParaRPr lang="en-US" sz="1500" dirty="0"/>
          </a:p>
          <a:p>
            <a:pPr marL="342900" indent="-342900">
              <a:spcAft>
                <a:spcPts val="1000"/>
              </a:spcAft>
              <a:buSzPct val="100000"/>
              <a:buChar char="•"/>
            </a:pPr>
            <a:r>
              <a:rPr lang="en-US" sz="1500" dirty="0">
                <a:solidFill>
                  <a:schemeClr val="tx1"/>
                </a:solidFill>
              </a:rPr>
              <a:t>IKEA Egypt facts : Al-Futtaim franchise, 3 stores, room planner, IKEA Family</a:t>
            </a:r>
            <a:endParaRPr lang="en-US" sz="1500" dirty="0"/>
          </a:p>
          <a:p>
            <a:pPr marL="342900" indent="-342900">
              <a:spcAft>
                <a:spcPts val="1000"/>
              </a:spcAft>
              <a:buSzPct val="100000"/>
              <a:buChar char="•"/>
            </a:pPr>
            <a:r>
              <a:rPr lang="en-US" sz="1500" dirty="0">
                <a:solidFill>
                  <a:schemeClr val="tx1"/>
                </a:solidFill>
              </a:rPr>
              <a:t>GA4 default channel rules and data-driven attribution volume threshold</a:t>
            </a:r>
            <a:endParaRPr lang="en-US" sz="1500" dirty="0"/>
          </a:p>
          <a:p>
            <a:pPr marL="342900" indent="-342900">
              <a:spcAft>
                <a:spcPts val="1000"/>
              </a:spcAft>
              <a:buSzPct val="100000"/>
              <a:buChar char="•"/>
            </a:pPr>
            <a:r>
              <a:rPr lang="en-US" sz="1500" dirty="0">
                <a:solidFill>
                  <a:schemeClr val="tx1"/>
                </a:solidFill>
              </a:rPr>
              <a:t>Persona, funnel leak and offer</a:t>
            </a:r>
            <a:endParaRPr lang="en-US" sz="1500" dirty="0"/>
          </a:p>
        </p:txBody>
      </p:sp>
      <p:sp>
        <p:nvSpPr>
          <p:cNvPr id="7" name="card-169"/>
          <p:cNvSpPr/>
          <p:nvPr/>
        </p:nvSpPr>
        <p:spPr>
          <a:xfrm>
            <a:off x="6245352" y="1325880"/>
            <a:ext cx="5486400" cy="3611880"/>
          </a:xfrm>
          <a:prstGeom prst="roundRect">
            <a:avLst>
              <a:gd name="adj" fmla="val 2025"/>
            </a:avLst>
          </a:prstGeom>
          <a:solidFill>
            <a:schemeClr val="bg2"/>
          </a:solidFill>
          <a:ln/>
        </p:spPr>
      </p:sp>
      <p:sp>
        <p:nvSpPr>
          <p:cNvPr id="8" name="Text 6"/>
          <p:cNvSpPr txBox="1"/>
          <p:nvPr/>
        </p:nvSpPr>
        <p:spPr>
          <a:xfrm>
            <a:off x="6473952" y="1463040"/>
            <a:ext cx="5029200" cy="411480"/>
          </a:xfrm>
          <a:prstGeom prst="rect">
            <a:avLst/>
          </a:prstGeom>
          <a:noFill/>
          <a:ln/>
        </p:spPr>
        <p:txBody>
          <a:bodyPr wrap="square" lIns="0" tIns="0" rIns="0" bIns="0" rtlCol="0" anchor="ctr"/>
          <a:lstStyle/>
          <a:p>
            <a:pPr marL="0" indent="0">
              <a:buNone/>
            </a:pPr>
            <a:r>
              <a:rPr lang="en-US" sz="1800" b="1" dirty="0">
                <a:solidFill>
                  <a:schemeClr val="accent4"/>
                </a:solidFill>
              </a:rPr>
              <a:t>Illustrative, clearly labelled</a:t>
            </a:r>
            <a:endParaRPr lang="en-US" sz="1800" dirty="0"/>
          </a:p>
        </p:txBody>
      </p:sp>
      <p:sp>
        <p:nvSpPr>
          <p:cNvPr id="9" name="Text 7"/>
          <p:cNvSpPr txBox="1"/>
          <p:nvPr/>
        </p:nvSpPr>
        <p:spPr>
          <a:xfrm>
            <a:off x="6473952" y="1965960"/>
            <a:ext cx="502920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Budget (250K EGP), AOV (4,500 EGP) and 35% margin are planning assumptions</a:t>
            </a:r>
            <a:endParaRPr lang="en-US" sz="1500" dirty="0"/>
          </a:p>
          <a:p>
            <a:pPr marL="342900" indent="-342900">
              <a:spcAft>
                <a:spcPts val="1000"/>
              </a:spcAft>
              <a:buSzPct val="100000"/>
              <a:buChar char="•"/>
            </a:pPr>
            <a:r>
              <a:rPr lang="en-US" sz="1500" dirty="0">
                <a:solidFill>
                  <a:schemeClr val="tx1"/>
                </a:solidFill>
              </a:rPr>
              <a:t>CPM, CTR and CVR are benchmark ranges, not IKEA Egypt account data</a:t>
            </a:r>
            <a:endParaRPr lang="en-US" sz="1500" dirty="0"/>
          </a:p>
          <a:p>
            <a:pPr marL="342900" indent="-342900">
              <a:spcAft>
                <a:spcPts val="1000"/>
              </a:spcAft>
              <a:buSzPct val="100000"/>
              <a:buChar char="•"/>
            </a:pPr>
            <a:r>
              <a:rPr lang="en-US" sz="1500" dirty="0">
                <a:solidFill>
                  <a:schemeClr val="tx1"/>
                </a:solidFill>
              </a:rPr>
              <a:t>The test month (240 daily rows) and the 12 journeys are simulated</a:t>
            </a:r>
            <a:endParaRPr lang="en-US" sz="1500" dirty="0"/>
          </a:p>
          <a:p>
            <a:pPr marL="342900" indent="-342900">
              <a:spcAft>
                <a:spcPts val="1000"/>
              </a:spcAft>
              <a:buSzPct val="100000"/>
              <a:buChar char="•"/>
            </a:pPr>
            <a:r>
              <a:rPr lang="en-US" sz="1500" dirty="0">
                <a:solidFill>
                  <a:schemeClr val="tx1"/>
                </a:solidFill>
              </a:rPr>
              <a:t>All are inputs in the workbook: replace them with real exports and every chart, status and projection updates</a:t>
            </a:r>
            <a:endParaRPr lang="en-US" sz="1500" dirty="0"/>
          </a:p>
        </p:txBody>
      </p:sp>
      <p:sp>
        <p:nvSpPr>
          <p:cNvPr id="10" name="card-170"/>
          <p:cNvSpPr/>
          <p:nvPr/>
        </p:nvSpPr>
        <p:spPr>
          <a:xfrm>
            <a:off x="457200" y="5120640"/>
            <a:ext cx="11274552" cy="1097280"/>
          </a:xfrm>
          <a:prstGeom prst="roundRect">
            <a:avLst>
              <a:gd name="adj" fmla="val 6667"/>
            </a:avLst>
          </a:prstGeom>
          <a:solidFill>
            <a:schemeClr val="accent1"/>
          </a:solidFill>
          <a:ln/>
        </p:spPr>
      </p:sp>
      <p:sp>
        <p:nvSpPr>
          <p:cNvPr id="11" name="Text 9"/>
          <p:cNvSpPr txBox="1"/>
          <p:nvPr/>
        </p:nvSpPr>
        <p:spPr>
          <a:xfrm>
            <a:off x="685800" y="5166360"/>
            <a:ext cx="10835640" cy="1005840"/>
          </a:xfrm>
          <a:prstGeom prst="rect">
            <a:avLst/>
          </a:prstGeom>
          <a:noFill/>
          <a:ln/>
        </p:spPr>
        <p:txBody>
          <a:bodyPr wrap="square" lIns="0" tIns="0" rIns="0" bIns="0" rtlCol="0" anchor="ctr"/>
          <a:lstStyle/>
          <a:p>
            <a:pPr marL="0" indent="0">
              <a:buNone/>
            </a:pPr>
            <a:r>
              <a:rPr lang="en-US" sz="1500" b="1" dirty="0">
                <a:solidFill>
                  <a:schemeClr val="accent2"/>
                </a:solidFill>
              </a:rPr>
              <a:t>Deliverables: </a:t>
            </a:r>
            <a:r>
              <a:rPr lang="en-US" sz="1500" dirty="0">
                <a:solidFill>
                  <a:schemeClr val="bg1"/>
                </a:solidFill>
              </a:rPr>
              <a:t>this deck + project documentation (Word) + IKEA_Egypt_Paid_Media_UTM_Plan.xlsx (13 linked sheets) + live landing page, lead workflow and CRM at new-home-starter-bundle.lovable.app</a:t>
            </a:r>
            <a:endParaRPr lang="en-US" sz="1500" dirty="0"/>
          </a:p>
        </p:txBody>
      </p:sp>
      <p:sp>
        <p:nvSpPr>
          <p:cNvPr id="25" name="Slide Number Placeholder 0"/>
          <p:cNvSpPr>
            <a:spLocks noGrp="1"/>
          </p:cNvSpPr>
          <p:nvPr>
            <p:ph type="sldNum" sz="quarter" idx="4294967295"/>
          </p:nvPr>
        </p:nvSpPr>
        <p:spPr>
          <a:xfrm>
            <a:off x="11155680" y="6464808"/>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DEPI IKEA">
  <a:themeElements>
    <a:clrScheme name="DEPI IKEA">
      <a:dk1>
        <a:srgbClr val="1F2937"/>
      </a:dk1>
      <a:lt1>
        <a:srgbClr val="FFFFFF"/>
      </a:lt1>
      <a:dk2>
        <a:srgbClr val="0058A3"/>
      </a:dk2>
      <a:lt2>
        <a:srgbClr val="F1F5FA"/>
      </a:lt2>
      <a:accent1>
        <a:srgbClr val="0058A3"/>
      </a:accent1>
      <a:accent2>
        <a:srgbClr val="FFDB00"/>
      </a:accent2>
      <a:accent3>
        <a:srgbClr val="1F9D65"/>
      </a:accent3>
      <a:accent4>
        <a:srgbClr val="C0392B"/>
      </a:accent4>
      <a:accent5>
        <a:srgbClr val="6B7280"/>
      </a:accent5>
      <a:accent6>
        <a:srgbClr val="DCEAF7"/>
      </a:accent6>
      <a:hlink>
        <a:srgbClr val="0058A3"/>
      </a:hlink>
      <a:folHlink>
        <a:srgbClr val="954F72"/>
      </a:folHlink>
    </a:clrScheme>
    <a:fontScheme name="DEPI IKE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3902</Words>
  <Application>Microsoft Office PowerPoint</Application>
  <PresentationFormat>Widescreen</PresentationFormat>
  <Paragraphs>661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DEPI IKEA</vt:lpstr>
      <vt:lpstr>PowerPoint Presentation</vt:lpstr>
      <vt:lpstr>One budget, seven platforms, every shift backed by data</vt:lpstr>
      <vt:lpstr>Who we sell to, what we sell, how we keep score</vt:lpstr>
      <vt:lpstr>Each platform gets one job at one stage</vt:lpstr>
      <vt:lpstr>Cold fills warm, warm fills hot, hot pays for it all</vt:lpstr>
      <vt:lpstr>Eight campaigns, one forecast built from benchmarks</vt:lpstr>
      <vt:lpstr>Half the money where intent is, a tenth to learn</vt:lpstr>
      <vt:lpstr>Copy-led concepts on existing assets, one variable per test</vt:lpstr>
      <vt:lpstr>Every click labelled the same way, by everyone</vt:lpstr>
      <vt:lpstr>Every link lands on one page that reads its own UTMs</vt:lpstr>
      <vt:lpstr>One event map, read by GA4 and every pixel</vt:lpstr>
      <vt:lpstr>Last click hides who starts the journey</vt:lpstr>
      <vt:lpstr>Every lead keeps its source and gets a next action in seconds</vt:lpstr>
      <vt:lpstr>The plan beat its target, but not evenly</vt:lpstr>
      <vt:lpstr>The dashboard calls the status, the rules are on the table</vt:lpstr>
      <vt:lpstr>25 of 25 scenarios pass, 1 defect caught and fixed</vt:lpstr>
      <vt:lpstr>Move 32,500 EGP from weak lines to proven closers</vt:lpstr>
      <vt:lpstr>Four tests and a weekly report that ends in a decision</vt:lpstr>
      <vt:lpstr>What is verified, what is illustrative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IKEA Egypt Multi-Source Paid Media and UTM Planning System</dc:title>
  <dc:subject>PptxGenJS Presentation</dc:subject>
  <dc:creator>Ahmed El-Maghraby</dc:creator>
  <cp:lastModifiedBy>Nopel El-maghraby</cp:lastModifiedBy>
  <cp:revision>2</cp:revision>
  <dcterms:created xsi:type="dcterms:W3CDTF">2026-10-10T09:15:15Z</dcterms:created>
  <dcterms:modified xsi:type="dcterms:W3CDTF">2026-10-14T07:29:23Z</dcterms:modified>
</cp:coreProperties>
</file>